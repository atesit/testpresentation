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754112" y="0"/>
            <a:ext cx="4434840" cy="6858000"/>
          </a:xfrm>
          <a:prstGeom prst="rect">
            <a:avLst/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09244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859536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909828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60120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010412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060704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>
            <a:off x="11109960" y="914400"/>
            <a:ext cx="0" cy="480060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8046720" y="1005840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8046720" y="1755648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046720" y="2505456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046720" y="3255264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8046720" y="4005072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046720" y="4754879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8046720" y="5504688"/>
            <a:ext cx="3520440" cy="0"/>
          </a:xfrm>
          <a:prstGeom prst="line">
            <a:avLst/>
          </a:prstGeom>
          <a:ln w="7620">
            <a:solidFill>
              <a:srgbClr val="20304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8257031" y="4800600"/>
            <a:ext cx="338329" cy="50292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8595360" y="4343400"/>
            <a:ext cx="411480" cy="45720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006840" y="3977639"/>
            <a:ext cx="365760" cy="365761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9372600" y="3822191"/>
            <a:ext cx="338328" cy="155448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9710928" y="3255264"/>
            <a:ext cx="384048" cy="566927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10094976" y="2898648"/>
            <a:ext cx="365760" cy="356616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10460736" y="2331720"/>
            <a:ext cx="310896" cy="566928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10771632" y="1645920"/>
            <a:ext cx="548640" cy="68580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Oval 24"/>
          <p:cNvSpPr/>
          <p:nvPr/>
        </p:nvSpPr>
        <p:spPr>
          <a:xfrm>
            <a:off x="8211311" y="525780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549640" y="475488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961119" y="429768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326880" y="393192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7" y="3776472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0049255" y="3209544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415015" y="2852928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10725911" y="228600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11274552" y="1600200"/>
            <a:ext cx="91440" cy="91440"/>
          </a:xfrm>
          <a:prstGeom prst="ellipse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5800" y="576072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ML TRACK  •  CASE 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1143000"/>
            <a:ext cx="6583680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700" b="1" i="0">
                <a:solidFill>
                  <a:srgbClr val="F4F7FB"/>
                </a:solidFill>
                <a:latin typeface="Arial"/>
              </a:rPr>
              <a:t>Физика
внутри
нейросети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" y="3566160"/>
            <a:ext cx="63093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 i="0">
                <a:solidFill>
                  <a:srgbClr val="A8B6C8"/>
                </a:solidFill>
                <a:latin typeface="Arial"/>
              </a:rPr>
              <a:t>Физически-информированный суррогат
уравнения состояния алюминия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31520" y="4736592"/>
            <a:ext cx="685800" cy="45720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1520" y="5010912"/>
            <a:ext cx="626364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4F7FB"/>
                </a:solidFill>
                <a:latin typeface="Arial"/>
              </a:rPr>
              <a:t>Предсказываем P и e по плотности и температуре —
и штрафуем модель за часть нефизичных трендов.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31520" y="5961888"/>
            <a:ext cx="1554480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22960" y="6044183"/>
            <a:ext cx="13716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1,13 млн точек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423160" y="5961888"/>
            <a:ext cx="1600200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514600" y="6044183"/>
            <a:ext cx="141732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~1,4 МБ весов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412480" y="61996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ПРОЕКТ ХАКАТОНА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ОБЗОР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Коротко о проекте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Суррогат EOS: из расчётных таблиц — в компактную дифференцируемую модель.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02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" y="2304288"/>
            <a:ext cx="1993392" cy="10241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" y="2496312"/>
            <a:ext cx="1691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46D7D0"/>
                </a:solidFill>
                <a:latin typeface="Arial"/>
              </a:rPr>
              <a:t>1 130 053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" y="2907792"/>
            <a:ext cx="16916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точки в 20 файлах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34640" y="2304288"/>
            <a:ext cx="1993392" cy="10241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99232" y="2496312"/>
            <a:ext cx="1691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6F36B"/>
                </a:solidFill>
                <a:latin typeface="Arial"/>
              </a:rPr>
              <a:t>2 →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99232" y="2907792"/>
            <a:ext cx="16916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(ρ, T) → (P, e)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47488" y="2304288"/>
            <a:ext cx="1993392" cy="10241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12079" y="2496312"/>
            <a:ext cx="1691640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EA8FE"/>
                </a:solidFill>
                <a:latin typeface="Arial"/>
              </a:rPr>
              <a:t>20 эпох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12079" y="2907792"/>
            <a:ext cx="169164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обучение PINN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635240" y="2304288"/>
            <a:ext cx="3931920" cy="102412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882127" y="2487168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КЛЮЧЕВОЙ РЕЗУЛЬТАТ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82127" y="2761488"/>
            <a:ext cx="3337560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Физический штраф снижен
до 3,1 × 10⁻⁵ в логе обучения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" y="3767328"/>
            <a:ext cx="3429000" cy="149047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21792" y="3767328"/>
            <a:ext cx="50292" cy="149047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2" y="3913632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Что сделали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270248"/>
            <a:ext cx="3063240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Обучили PINN-суррогат по широкодиапазонным таблицам EOS.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0832" y="3767328"/>
            <a:ext cx="3429000" cy="149047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70832" y="3767328"/>
            <a:ext cx="50292" cy="1490472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53712" y="3913632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Что выяснили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4270248"/>
            <a:ext cx="3063240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Физическая регуляризация требует компромисса с точностью по точкам.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9872" y="3767328"/>
            <a:ext cx="3429000" cy="149047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119872" y="3767328"/>
            <a:ext cx="50292" cy="1490472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2752" y="3913632"/>
            <a:ext cx="30632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Что дальше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4270248"/>
            <a:ext cx="3063240" cy="896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Проверить перенос на невидимые регионы и размерные производные.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" y="5650992"/>
            <a:ext cx="108813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Главный тезис: небольшая сеть может аппроксимировать EOS и учитывать физические критерии, но это не заменяет независимую физическую валидацию.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ПОСТАНОВКА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Задача: быстро оценивать свойства в широком диапазоне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Исходные таблицы описывают состояние алюминия при разных плотностях и температурах.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03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240280"/>
            <a:ext cx="4709160" cy="30449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514600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ВОПРОС МОДЕЛИ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907792"/>
            <a:ext cx="3931920" cy="10241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F4F7FB"/>
                </a:solidFill>
                <a:latin typeface="Arial"/>
              </a:rPr>
              <a:t>Если известны ρ и T,
какими будут P и e?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950976" y="4251960"/>
            <a:ext cx="4041648" cy="0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41832" y="4544568"/>
            <a:ext cx="384048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B6F36B"/>
                </a:solidFill>
                <a:latin typeface="Arial"/>
              </a:rPr>
              <a:t>EOS(ρ, T) → (P, 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976" y="5020056"/>
            <a:ext cx="3840480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P — давление
e — внутренняя энергия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2240280"/>
            <a:ext cx="5440680" cy="859536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806440" y="2240280"/>
            <a:ext cx="50292" cy="859536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89320" y="2386584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Сложность 01 • огромный масштаб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9320" y="2743200"/>
            <a:ext cx="5074920" cy="265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Входные переменные меняются на многие порядки величины.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806440" y="3273552"/>
            <a:ext cx="5440680" cy="859536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806440" y="3273552"/>
            <a:ext cx="50292" cy="859536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989320" y="3419856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Сложность 02 • фазовые области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89320" y="3776472"/>
            <a:ext cx="5074920" cy="265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Пространство состояний неоднородно, локальная точность не везде одинакова.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806440" y="4306824"/>
            <a:ext cx="5440680" cy="859536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806440" y="4306824"/>
            <a:ext cx="50292" cy="859536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9320" y="4453128"/>
            <a:ext cx="5074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Сложность 03 • производные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9320" y="4809744"/>
            <a:ext cx="5074920" cy="26517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Гладкая подгонка значений ещё не гарантирует физичный градиент.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ПОСТАНОВКА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Что такое EOS в рамках этого проекта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04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240280"/>
            <a:ext cx="3017520" cy="24231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8992" y="2514600"/>
            <a:ext cx="1828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СОСТОЯНИЕ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98648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46D7D0"/>
                </a:solidFill>
                <a:latin typeface="Arial"/>
              </a:rPr>
              <a:t>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3026664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плотность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694176"/>
            <a:ext cx="731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500" b="1" i="0">
                <a:solidFill>
                  <a:srgbClr val="46D7D0"/>
                </a:solidFill>
                <a:latin typeface="Arial"/>
              </a:rPr>
              <a:t>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822191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температура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99432" y="2670048"/>
            <a:ext cx="2468880" cy="1554480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74920" y="2980944"/>
            <a:ext cx="15087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 i="0">
                <a:solidFill>
                  <a:srgbClr val="B6F36B"/>
                </a:solidFill>
                <a:latin typeface="Arial"/>
              </a:rPr>
              <a:t>EOS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575304"/>
            <a:ext cx="17373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суррогат PINN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3822191" y="3429000"/>
            <a:ext cx="640081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205472" y="3429000"/>
            <a:ext cx="612648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973568" y="2240280"/>
            <a:ext cx="3383280" cy="24231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57031" y="251460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ТЕРМОДИНАМИЧЕСКИЕ ОТВЕТЫ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75320" y="292608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6EA8FE"/>
                </a:solidFill>
                <a:latin typeface="Arial"/>
              </a:rPr>
              <a:t>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42832" y="3026664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давление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3675887"/>
            <a:ext cx="502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 i="0">
                <a:solidFill>
                  <a:srgbClr val="FFB86B"/>
                </a:solidFill>
                <a:latin typeface="Arial"/>
              </a:rPr>
              <a:t>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42832" y="3767328"/>
            <a:ext cx="2084831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внутренняя энергия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86384" y="5166360"/>
            <a:ext cx="10570464" cy="53035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340096"/>
            <a:ext cx="101498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4F7FB"/>
                </a:solidFill>
                <a:latin typeface="Arial"/>
              </a:rPr>
              <a:t>Цель — компактно аппроксимировать отображение на расчётных диапазонах данных, а не заменить все физические модели материала.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Данные: 20 областей и более миллиона состояний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05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" y="2084831"/>
            <a:ext cx="2578608" cy="111556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230428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46D7D0"/>
                </a:solidFill>
                <a:latin typeface="Arial"/>
              </a:rPr>
              <a:t>1 130 053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" y="276148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строк всего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2084831"/>
            <a:ext cx="2578608" cy="111556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39312" y="230428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B6F36B"/>
                </a:solidFill>
                <a:latin typeface="Arial"/>
              </a:rPr>
              <a:t>904 042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9312" y="276148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train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27648" y="2084831"/>
            <a:ext cx="2578608" cy="111556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30428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6EA8FE"/>
                </a:solidFill>
                <a:latin typeface="Arial"/>
              </a:rPr>
              <a:t>226 011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76148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test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80576" y="2084831"/>
            <a:ext cx="2578608" cy="111556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45167" y="2304288"/>
            <a:ext cx="224942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FB86B"/>
                </a:solidFill>
                <a:latin typeface="Arial"/>
              </a:rPr>
              <a:t>20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45167" y="2761488"/>
            <a:ext cx="22494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файлов Obl*.txt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657600"/>
            <a:ext cx="2468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ПОКРЫТИЕ ДАННЫХ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F36B"/>
                </a:solidFill>
                <a:latin typeface="Arial"/>
              </a:rPr>
              <a:t>01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97864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25296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737360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764792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276856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304288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816352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843784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F36B"/>
                </a:solidFill>
                <a:latin typeface="Arial"/>
              </a:rPr>
              <a:t>05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355848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383279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06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895344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922776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434840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974336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01768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F36B"/>
                </a:solidFill>
                <a:latin typeface="Arial"/>
              </a:rPr>
              <a:t>09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513831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541264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053327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759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592823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620255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132320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159752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F36B"/>
                </a:solidFill>
                <a:latin typeface="Arial"/>
              </a:rPr>
              <a:t>13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671816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99248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14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8211312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238744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750808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78240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9290304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317736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B6F36B"/>
                </a:solidFill>
                <a:latin typeface="Arial"/>
              </a:rPr>
              <a:t>17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829800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857232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18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0369296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396728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19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908792" y="4087368"/>
            <a:ext cx="420624" cy="4297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936224" y="4233672"/>
            <a:ext cx="365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20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" y="49834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F4F7FB"/>
                </a:solidFill>
                <a:latin typeface="Arial"/>
              </a:rPr>
              <a:t>В исходных файлах — rho, T, P и e. Доступные единицы: г/см³, K, GPa и кДж/г.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8368" y="5532120"/>
            <a:ext cx="10744200" cy="530352"/>
          </a:xfrm>
          <a:prstGeom prst="roundRect">
            <a:avLst>
              <a:gd name="adj" fmla="val 12000"/>
            </a:avLst>
          </a:prstGeom>
          <a:solidFill>
            <a:srgbClr val="2B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68680" y="5678424"/>
            <a:ext cx="102870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D49A"/>
                </a:solidFill>
                <a:latin typeface="Arial"/>
              </a:rPr>
              <a:t>Методологический нюанс: случайный split оставляет точки соседних областей в train и test; перенос на новый регион отдельно не проверен.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Диапазоны входов охватывают много порядков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Поэтому перед обучением плотность и температура переводятся в логарифмическую шкалу.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06 / 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130552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log₁₀ ρ  [г/см³]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50976" y="2825496"/>
            <a:ext cx="9976104" cy="0"/>
          </a:xfrm>
          <a:prstGeom prst="line">
            <a:avLst/>
          </a:prstGeom>
          <a:ln w="508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950976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86384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-3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376133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2211541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-2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801291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636699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-1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226449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061857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0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651606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487014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8076764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7912172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2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9501922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9337330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3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0927080" y="2660904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10762488" y="3127248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0976" y="2724912"/>
            <a:ext cx="9976104" cy="2011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0976" y="2724912"/>
            <a:ext cx="9976104" cy="201168"/>
          </a:xfrm>
          <a:prstGeom prst="roundRect">
            <a:avLst>
              <a:gd name="adj" fmla="val 12000"/>
            </a:avLst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3346704"/>
            <a:ext cx="2743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log₁₀ T  [K]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0976" y="4041648"/>
            <a:ext cx="9976104" cy="0"/>
          </a:xfrm>
          <a:prstGeom prst="line">
            <a:avLst/>
          </a:prstGeom>
          <a:ln w="508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950976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786384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-1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197989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2033397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0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3445002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3280410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4692015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TextBox 38"/>
          <p:cNvSpPr txBox="1"/>
          <p:nvPr/>
        </p:nvSpPr>
        <p:spPr>
          <a:xfrm>
            <a:off x="4527423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2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5939028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774436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3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186041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7021449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4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8433054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8268462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680067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515475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6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10927080" y="3877056"/>
            <a:ext cx="0" cy="32918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10762488" y="4343400"/>
            <a:ext cx="365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7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950976" y="3941064"/>
            <a:ext cx="9976104" cy="20116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950976" y="3941064"/>
            <a:ext cx="9976104" cy="201168"/>
          </a:xfrm>
          <a:prstGeom prst="roundRect">
            <a:avLst>
              <a:gd name="adj" fmla="val 12000"/>
            </a:avLst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749808" y="5404104"/>
            <a:ext cx="10671048" cy="5669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0120" y="5568696"/>
            <a:ext cx="10241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4F7FB"/>
                </a:solidFill>
                <a:latin typeface="Arial"/>
              </a:rPr>
              <a:t>После логарифмирования крайние значения: log₁₀ρ ∈ [−3, 4], log₁₀T ∈ [−1, 7]. Затем min–max масштабирование в [0, 1].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ДАННЫЕ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Подготовка данных — воспроизводимый конвейер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07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2514600"/>
            <a:ext cx="2423160" cy="19385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734056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12724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Прочитать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3694176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Собрать Obl01–Obl20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72968" y="3456432"/>
            <a:ext cx="274320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38728" y="2514600"/>
            <a:ext cx="2423160" cy="19385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39896" y="2734056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39896" y="312724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Преобразовать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39896" y="3694176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Вычислить log₁₀ρ, log₁₀T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25896" y="3456432"/>
            <a:ext cx="274320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91656" y="2514600"/>
            <a:ext cx="2423160" cy="19385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92824" y="2734056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92824" y="312724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Нормализовать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92824" y="3694176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Зафиксировать min / max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78824" y="3456432"/>
            <a:ext cx="274320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244584" y="2514600"/>
            <a:ext cx="2423160" cy="193852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45752" y="2734056"/>
            <a:ext cx="43891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45752" y="3127248"/>
            <a:ext cx="20116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Разделить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445752" y="3694176"/>
            <a:ext cx="199339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Train и test: 80 / 20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04088" y="4983480"/>
            <a:ext cx="5157216" cy="74980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148072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АРТЕФАКТ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49424" y="5175504"/>
            <a:ext cx="31546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normalization.json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53912" y="4983480"/>
            <a:ext cx="5157216" cy="749808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73368" y="5148072"/>
            <a:ext cx="1005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ЗАЧЕМ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34072" y="5138928"/>
            <a:ext cx="3611880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Повторять тот же масштаб на инференсе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БАЗОВЫЕ МОДЕЛИ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Три стратегии — три разных приоритета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До PINN мы сравниваем интерполяцию и обычный MLP как полезные контрольные точки.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08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58368" y="2331720"/>
            <a:ext cx="3447288" cy="243230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2331720"/>
            <a:ext cx="50292" cy="2432304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478024"/>
            <a:ext cx="30815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01 • Интерполяция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2834639"/>
            <a:ext cx="3081528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Использует табличные значения напрямую.
Плюс: низкая ошибка на близких точках.
Минус: производные могут быть негладкими.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0832" y="2331720"/>
            <a:ext cx="3447288" cy="243230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70832" y="2331720"/>
            <a:ext cx="50292" cy="2432304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53712" y="2478024"/>
            <a:ext cx="30815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02 • Vanilla MLP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2834639"/>
            <a:ext cx="3081528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Полносвязная сеть обучается на значениях P и e.
Плюс: лучший Test MSE P в сравнении.
Минус: физические правила не в loss.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83296" y="2331720"/>
            <a:ext cx="3447288" cy="243230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83296" y="2331720"/>
            <a:ext cx="50292" cy="2432304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66175" y="2478024"/>
            <a:ext cx="30815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03 • PINN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66175" y="2834639"/>
            <a:ext cx="3081528" cy="1837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Та же идея аппроксимации плюс штрафы на производные.
Плюс: контролируем тренды.
Минус: выше ошибка по значениям.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5276088"/>
            <a:ext cx="10835640" cy="530352"/>
          </a:xfrm>
          <a:prstGeom prst="roundRect">
            <a:avLst>
              <a:gd name="adj" fmla="val 12000"/>
            </a:avLst>
          </a:prstGeom>
          <a:solidFill>
            <a:srgbClr val="1725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5449824"/>
            <a:ext cx="10378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Корректный вопрос сравнения: не «кто точнее в одной метрике?», а «какой компромисс нужен задаче?»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АРХИТЕКТУРА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Архитектура — компактный многослойный перцептрон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Гладкие Tanh-активации удобны там, где в обучении используются производные сети.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09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450592"/>
            <a:ext cx="1627632" cy="132588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6974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6D7D0"/>
                </a:solidFill>
                <a:latin typeface="Arial"/>
              </a:rPr>
              <a:t>Вход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30998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6F36B"/>
                </a:solidFill>
                <a:latin typeface="Arial"/>
              </a:rPr>
              <a:t>2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386584" y="3108960"/>
            <a:ext cx="356616" cy="0"/>
          </a:xfrm>
          <a:prstGeom prst="line">
            <a:avLst/>
          </a:prstGeom>
          <a:ln w="1905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816352" y="2450592"/>
            <a:ext cx="1627632" cy="132588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35224" y="26974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Слой 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35224" y="30998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6F36B"/>
                </a:solidFill>
                <a:latin typeface="Arial"/>
              </a:rPr>
              <a:t>128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35224" y="3511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Tanh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17136" y="3108960"/>
            <a:ext cx="356616" cy="0"/>
          </a:xfrm>
          <a:prstGeom prst="line">
            <a:avLst/>
          </a:prstGeom>
          <a:ln w="1905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4946904" y="2450592"/>
            <a:ext cx="1627632" cy="132588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65776" y="26974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Слой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65776" y="30998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6F36B"/>
                </a:solidFill>
                <a:latin typeface="Arial"/>
              </a:rPr>
              <a:t>128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65776" y="3511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Tanh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647688" y="3108960"/>
            <a:ext cx="356616" cy="0"/>
          </a:xfrm>
          <a:prstGeom prst="line">
            <a:avLst/>
          </a:prstGeom>
          <a:ln w="1905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7077456" y="2450592"/>
            <a:ext cx="1627632" cy="132588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96328" y="26974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Слой 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96328" y="30998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6F36B"/>
                </a:solidFill>
                <a:latin typeface="Arial"/>
              </a:rPr>
              <a:t>64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511296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Tanh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778240" y="3108960"/>
            <a:ext cx="356616" cy="0"/>
          </a:xfrm>
          <a:prstGeom prst="line">
            <a:avLst/>
          </a:prstGeom>
          <a:ln w="1905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ounded Rectangle 28"/>
          <p:cNvSpPr/>
          <p:nvPr/>
        </p:nvSpPr>
        <p:spPr>
          <a:xfrm>
            <a:off x="9208008" y="2450592"/>
            <a:ext cx="1627632" cy="132588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326880" y="2697480"/>
            <a:ext cx="1371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46D7D0"/>
                </a:solidFill>
                <a:latin typeface="Arial"/>
              </a:rPr>
              <a:t>Выход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0" y="3099816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B6F36B"/>
                </a:solidFill>
                <a:latin typeface="Arial"/>
              </a:rPr>
              <a:t>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86384" y="4160520"/>
            <a:ext cx="1005840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7824" y="424281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log 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901952" y="4160520"/>
            <a:ext cx="1005840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993392" y="4242816"/>
            <a:ext cx="82296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log T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308592" y="4160520"/>
            <a:ext cx="612648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00032" y="4242816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P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40112" y="4160520"/>
            <a:ext cx="612648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31552" y="4242816"/>
            <a:ext cx="429768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94944" y="4937760"/>
            <a:ext cx="10351008" cy="70408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4400" y="5184648"/>
            <a:ext cx="98755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4F7FB"/>
                </a:solidFill>
                <a:latin typeface="Arial"/>
              </a:rPr>
              <a:t>Веса нейросети укладываются примерно в 1,4 МБ — существенно ниже указанного в проекте ограничения 10 МБ.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PINN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Что именно делает сеть физически-информированной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10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331720"/>
            <a:ext cx="3657600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СИГНАЛ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3464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Табличные значения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3749039"/>
            <a:ext cx="3657600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3950208"/>
            <a:ext cx="1280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СИГНАЛ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51960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Знаки производных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17136" y="2843784"/>
            <a:ext cx="713232" cy="493776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517136" y="3675887"/>
            <a:ext cx="713232" cy="594361"/>
          </a:xfrm>
          <a:prstGeom prst="line">
            <a:avLst/>
          </a:prstGeom>
          <a:ln w="2540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349240" y="2843784"/>
            <a:ext cx="2304288" cy="1298448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0136" y="3127248"/>
            <a:ext cx="1645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B6F36B"/>
                </a:solidFill>
                <a:latin typeface="Arial"/>
              </a:rPr>
              <a:t>PINN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87568" y="3566160"/>
            <a:ext cx="1600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общая цель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7754112" y="3493008"/>
            <a:ext cx="621792" cy="0"/>
          </a:xfrm>
          <a:prstGeom prst="line">
            <a:avLst/>
          </a:prstGeom>
          <a:ln w="25400">
            <a:solidFill>
              <a:srgbClr val="46D7D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485632" y="2670048"/>
            <a:ext cx="2834640" cy="164592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759952" y="2907792"/>
            <a:ext cx="1371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ВЫХОД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59952" y="3328416"/>
            <a:ext cx="22677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4F7FB"/>
                </a:solidFill>
                <a:latin typeface="Arial"/>
              </a:rPr>
              <a:t>P(ρ,T)   e(ρ,T)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8096" y="5266944"/>
            <a:ext cx="10515600" cy="48463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5422392"/>
            <a:ext cx="10149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4F7FB"/>
                </a:solidFill>
                <a:latin typeface="Arial"/>
              </a:rPr>
              <a:t>Здесь «физическая информация» — это мягкие штрафы в loss на две производные, а не решение полного набора EOS-уравнений.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PINN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Физические критерии встроены через автодифференцирование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Autograd вычисляет градиенты выходов модели по нормированным входам.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11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450592"/>
            <a:ext cx="3383280" cy="21488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72491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46D7D0"/>
                </a:solidFill>
                <a:latin typeface="Arial"/>
              </a:rPr>
              <a:t>∂P / ∂ρ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329184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Механическая устойчивость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767328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Штрафуем отрицательную производную давления по плотности.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7408" y="2450592"/>
            <a:ext cx="3383280" cy="21488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72491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B6F36B"/>
                </a:solidFill>
                <a:latin typeface="Arial"/>
              </a:rPr>
              <a:t>∂e / ∂T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6864" y="329184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Тепловой тренд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26864" y="3767328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Штрафуем отрицательную производную энергии по температуре.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1583" y="2450592"/>
            <a:ext cx="3383280" cy="21488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724912"/>
            <a:ext cx="28803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6EA8FE"/>
                </a:solidFill>
                <a:latin typeface="Arial"/>
              </a:rPr>
              <a:t>ReLU(−g)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91840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F4F7FB"/>
                </a:solidFill>
                <a:latin typeface="Arial"/>
              </a:rPr>
              <a:t>Односторонний штраф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3767328"/>
            <a:ext cx="2834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Нулевой, когда проверяемый градиент неотрицателен.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5074920"/>
            <a:ext cx="10744200" cy="658368"/>
          </a:xfrm>
          <a:prstGeom prst="roundRect">
            <a:avLst>
              <a:gd name="adj" fmla="val 12000"/>
            </a:avLst>
          </a:prstGeom>
          <a:solidFill>
            <a:srgbClr val="2B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2688" y="5266944"/>
            <a:ext cx="10314432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49A"/>
                </a:solidFill>
                <a:latin typeface="Arial"/>
              </a:rPr>
              <a:t>Ограничение трактуется в переменных после нормализации; в презентации не заявляется полная размерная термодинамическая согласованность.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ОБУЧЕНИЕ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Данные и физика конкурируют в общей функции потерь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12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194560"/>
            <a:ext cx="4709160" cy="12344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4128" y="2423160"/>
            <a:ext cx="2011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ЦЕЛЕВАЯ ФУНКЦИЯ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8" y="2788920"/>
            <a:ext cx="4023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F4F7FB"/>
                </a:solidFill>
                <a:latin typeface="Arial"/>
              </a:rPr>
              <a:t>L = Ldata + 0,05 · Lphysics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219456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897880" y="2194560"/>
            <a:ext cx="50292" cy="1234440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80760" y="2340864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Ldata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80760" y="269748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MSE предсказаний относительно таблицы.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686800" y="2194560"/>
            <a:ext cx="2514600" cy="123444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686800" y="2194560"/>
            <a:ext cx="50292" cy="1234440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869680" y="2340864"/>
            <a:ext cx="2148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Lphysics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9680" y="2697480"/>
            <a:ext cx="21488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Сумма двух штрафов за отрицательные градиенты.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86384" y="4114800"/>
            <a:ext cx="2359152" cy="96926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1832" y="429768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1832" y="4590288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Предсказать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200400" y="4599432"/>
            <a:ext cx="246888" cy="0"/>
          </a:xfrm>
          <a:prstGeom prst="line">
            <a:avLst/>
          </a:prstGeom>
          <a:ln w="1905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3557015" y="4114800"/>
            <a:ext cx="2359152" cy="96926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712463" y="429768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12463" y="4590288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Вычислить градиенты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5971031" y="4599432"/>
            <a:ext cx="246889" cy="0"/>
          </a:xfrm>
          <a:prstGeom prst="line">
            <a:avLst/>
          </a:prstGeom>
          <a:ln w="1905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6327648" y="4114800"/>
            <a:ext cx="2359152" cy="96926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83096" y="429768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83096" y="4590288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Сложить loss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741664" y="4599432"/>
            <a:ext cx="246888" cy="0"/>
          </a:xfrm>
          <a:prstGeom prst="line">
            <a:avLst/>
          </a:prstGeom>
          <a:ln w="1905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9098280" y="4114800"/>
            <a:ext cx="2359152" cy="96926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53728" y="4297680"/>
            <a:ext cx="3657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53728" y="4590288"/>
            <a:ext cx="2057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Обновить веса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" y="5568696"/>
            <a:ext cx="4572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1">
                <a:solidFill>
                  <a:srgbClr val="A8B6C8"/>
                </a:solidFill>
                <a:latin typeface="Arial"/>
              </a:rPr>
              <a:t>γphysics = 0,05 в конфигурации обучения.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ОБУЧЕНИЕ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Обучение: ограниченный размер и фиксированный режим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13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2148840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9264" y="226771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Оптимизатор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258568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Adam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58952" y="2688336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9264" y="2807208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Начальный learning rate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98064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0,001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58952" y="3227832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9264" y="3346704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Эпохи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337560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20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8952" y="3767328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69264" y="3886200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Размер batch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877056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2 048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306824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9264" y="4425696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Scheduler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416552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StepLR: ×0,5 каждые 5 эпох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58952" y="4846320"/>
            <a:ext cx="10561320" cy="420624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9264" y="4965192"/>
            <a:ext cx="3246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Архитектура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956048"/>
            <a:ext cx="63550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2–128–128–64–2, Tanh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68096" y="5614416"/>
            <a:ext cx="10543032" cy="43891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9264" y="5751576"/>
            <a:ext cx="10104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В логе последней эпохи PINN: Data MSE = 0,000195; physics violation proxy = 0,000031.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ОЦЕНКА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Как проверяли: общий тестовый split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14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9456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1 130 053 ТОЧКИ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" y="2633472"/>
            <a:ext cx="10378440" cy="53035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" y="2633472"/>
            <a:ext cx="8302752" cy="530352"/>
          </a:xfrm>
          <a:prstGeom prst="roundRect">
            <a:avLst>
              <a:gd name="adj" fmla="val 12000"/>
            </a:avLst>
          </a:prstGeom>
          <a:solidFill>
            <a:srgbClr val="24504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107424" y="2633472"/>
            <a:ext cx="2075688" cy="530352"/>
          </a:xfrm>
          <a:prstGeom prst="roundRect">
            <a:avLst>
              <a:gd name="adj" fmla="val 12000"/>
            </a:avLst>
          </a:prstGeom>
          <a:solidFill>
            <a:srgbClr val="2254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33271" y="2807208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F7FB"/>
                </a:solidFill>
                <a:latin typeface="Arial"/>
              </a:rPr>
              <a:t>80%  •  train = 904 042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71432" y="2807208"/>
            <a:ext cx="187451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4F7FB"/>
                </a:solidFill>
                <a:latin typeface="Arial"/>
              </a:rPr>
              <a:t>20%  •  test = 226 011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" y="3685032"/>
            <a:ext cx="3246120" cy="129844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" y="3685032"/>
            <a:ext cx="50292" cy="1298448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831336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Одна выборка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187952"/>
            <a:ext cx="2880360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Все три подхода сравниваются на тестовых точках.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43400" y="3685032"/>
            <a:ext cx="3246120" cy="129844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43400" y="3685032"/>
            <a:ext cx="50292" cy="1298448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6280" y="3831336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Общая метрика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187952"/>
            <a:ext cx="2880360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Test MSE по давлению P в шкале [0, 1].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7" y="3685032"/>
            <a:ext cx="3246120" cy="1298448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882127" y="3685032"/>
            <a:ext cx="50292" cy="1298448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065007" y="3831336"/>
            <a:ext cx="2880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Отдельный сигнал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65007" y="4187952"/>
            <a:ext cx="2880360" cy="7040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Физический proxy берётся из лога PINN, это не та же метрика.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2" y="5376672"/>
            <a:ext cx="10332720" cy="548640"/>
          </a:xfrm>
          <a:prstGeom prst="roundRect">
            <a:avLst>
              <a:gd name="adj" fmla="val 12000"/>
            </a:avLst>
          </a:prstGeom>
          <a:solidFill>
            <a:srgbClr val="2B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5550408"/>
            <a:ext cx="99212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49A"/>
                </a:solidFill>
                <a:latin typeface="Arial"/>
              </a:rPr>
              <a:t>Оговорка: split случайный, а не по регионам; цифры показывают интерполяцию внутри покрытия, не качество экстраполяции.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ОЦЕНКА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Сводное сравнение на тестовой выборке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664208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A8B6C8"/>
                </a:solidFill>
                <a:latin typeface="Arial"/>
              </a:rPr>
              <a:t>MSE давления P вычисляется по нормированному выходу; ниже — значения из comparison_table.csv.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15 / 20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2194560"/>
            <a:ext cx="2743200" cy="457200"/>
          </a:xfrm>
          <a:prstGeom prst="roundRect">
            <a:avLst>
              <a:gd name="adj" fmla="val 12000"/>
            </a:avLst>
          </a:prstGeom>
          <a:solidFill>
            <a:srgbClr val="1B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8" y="2331720"/>
            <a:ext cx="25420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6D7D0"/>
                </a:solidFill>
                <a:latin typeface="Arial"/>
              </a:rPr>
              <a:t>МОДЕЛЬ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02152" y="2194560"/>
            <a:ext cx="2057400" cy="457200"/>
          </a:xfrm>
          <a:prstGeom prst="roundRect">
            <a:avLst>
              <a:gd name="adj" fmla="val 12000"/>
            </a:avLst>
          </a:prstGeom>
          <a:solidFill>
            <a:srgbClr val="1B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11880" y="2331720"/>
            <a:ext cx="1856231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6D7D0"/>
                </a:solidFill>
                <a:latin typeface="Arial"/>
              </a:rPr>
              <a:t>TEST MSE (P)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32704" y="2194560"/>
            <a:ext cx="3657600" cy="457200"/>
          </a:xfrm>
          <a:prstGeom prst="roundRect">
            <a:avLst>
              <a:gd name="adj" fmla="val 12000"/>
            </a:avLst>
          </a:prstGeom>
          <a:solidFill>
            <a:srgbClr val="1B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42432" y="2331720"/>
            <a:ext cx="345643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6D7D0"/>
                </a:solidFill>
                <a:latin typeface="Arial"/>
              </a:rPr>
              <a:t>ФИЗИЧЕСКИЙ КОНТРОЛЬ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63456" y="2194560"/>
            <a:ext cx="2011680" cy="457200"/>
          </a:xfrm>
          <a:prstGeom prst="roundRect">
            <a:avLst>
              <a:gd name="adj" fmla="val 12000"/>
            </a:avLst>
          </a:prstGeom>
          <a:solidFill>
            <a:srgbClr val="1B2B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473184" y="2331720"/>
            <a:ext cx="181051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46D7D0"/>
                </a:solidFill>
                <a:latin typeface="Arial"/>
              </a:rPr>
              <a:t>РАЗМЕР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2779776"/>
            <a:ext cx="27432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8" y="2944368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F7FB"/>
                </a:solidFill>
                <a:latin typeface="Arial"/>
              </a:rPr>
              <a:t>Интерполяция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502152" y="2779776"/>
            <a:ext cx="20574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11880" y="2944368"/>
            <a:ext cx="1856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1,32 × 10⁻⁵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32704" y="2779776"/>
            <a:ext cx="36576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42432" y="2944368"/>
            <a:ext cx="3456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Не контролируется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363456" y="2779776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73184" y="2944368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Таблица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85800" y="3438144"/>
            <a:ext cx="27432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95528" y="3602736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4F7FB"/>
                </a:solidFill>
                <a:latin typeface="Arial"/>
              </a:rPr>
              <a:t>Vanilla MLP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502152" y="3438144"/>
            <a:ext cx="20574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611880" y="3602736"/>
            <a:ext cx="1856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6,2 × 10⁻⁶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632704" y="3438144"/>
            <a:ext cx="365760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2432" y="3602736"/>
            <a:ext cx="3456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Не включён в loss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363456" y="3438144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73184" y="3602736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~1,4 МБ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85800" y="4096512"/>
            <a:ext cx="2743200" cy="53035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528" y="4261104"/>
            <a:ext cx="25420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B6F36B"/>
                </a:solidFill>
                <a:latin typeface="Arial"/>
              </a:rPr>
              <a:t>PINN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502152" y="4096512"/>
            <a:ext cx="2057400" cy="53035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11880" y="4261104"/>
            <a:ext cx="1856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3,806 × 10⁻⁴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632704" y="4096512"/>
            <a:ext cx="3657600" cy="53035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42432" y="4261104"/>
            <a:ext cx="345643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B6F36B"/>
                </a:solidFill>
                <a:latin typeface="Arial"/>
              </a:rPr>
              <a:t>Proxy = 3,1 × 10⁻⁵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363456" y="4096512"/>
            <a:ext cx="2011680" cy="53035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73184" y="4261104"/>
            <a:ext cx="181051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A8B6C8"/>
                </a:solidFill>
                <a:latin typeface="Arial"/>
              </a:rPr>
              <a:t>~1,4 МБ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22376" y="5084064"/>
            <a:ext cx="10634472" cy="80467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69264" y="532180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Победитель по Test MSE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246120" y="5303520"/>
            <a:ext cx="1645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B86B"/>
                </a:solidFill>
                <a:latin typeface="Arial"/>
              </a:rPr>
              <a:t>Vanilla MLP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074920" y="5285232"/>
            <a:ext cx="5760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4F7FB"/>
                </a:solidFill>
                <a:latin typeface="Arial"/>
              </a:rPr>
              <a:t>PINN снижает физический proxy, но платит за это точностью значений.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0664" y="6089904"/>
            <a:ext cx="10332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8B6C8"/>
                </a:solidFill>
                <a:latin typeface="Arial"/>
              </a:rPr>
              <a:t>Источник: comparison_table.csv. Показатель physics proxy зафиксирован в выводе обучения Case_one.ipynb.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ИНТЕРПРЕТАЦИЯ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Главный результат — компромисс, а не абсолютное лидерство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16 / 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2176272"/>
            <a:ext cx="4572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TEST MSE ПО P • ЛОГАРИФМИЧЕСКАЯ ШКАЛА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69748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Интерполяция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16352" y="2715768"/>
            <a:ext cx="6080760" cy="30175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2816352" y="2715768"/>
            <a:ext cx="2271313" cy="301752"/>
          </a:xfrm>
          <a:prstGeom prst="roundRect">
            <a:avLst>
              <a:gd name="adj" fmla="val 12000"/>
            </a:avLst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16568" y="2734056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6EA8FE"/>
                </a:solidFill>
                <a:latin typeface="Arial"/>
              </a:rPr>
              <a:t>1.32e-05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352958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Vanilla MLP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16352" y="3547872"/>
            <a:ext cx="6080760" cy="30175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2816352" y="3547872"/>
            <a:ext cx="1606114" cy="301752"/>
          </a:xfrm>
          <a:prstGeom prst="roundRect">
            <a:avLst>
              <a:gd name="adj" fmla="val 12000"/>
            </a:avLst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16568" y="3566160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FB86B"/>
                </a:solidFill>
                <a:latin typeface="Arial"/>
              </a:rPr>
              <a:t>6.2e-06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4361688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PINN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816352" y="4379976"/>
            <a:ext cx="6080760" cy="30175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2816352" y="4379976"/>
            <a:ext cx="5230403" cy="301752"/>
          </a:xfrm>
          <a:prstGeom prst="roundRect">
            <a:avLst>
              <a:gd name="adj" fmla="val 12000"/>
            </a:avLst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8" y="4398264"/>
            <a:ext cx="16916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B6F36B"/>
                </a:solidFill>
                <a:latin typeface="Arial"/>
              </a:rPr>
              <a:t>0.000381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816352" y="5330952"/>
            <a:ext cx="6080760" cy="0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816352" y="5257800"/>
            <a:ext cx="0" cy="14630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2587752" y="54864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10⁻⁶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4842662" y="5257800"/>
            <a:ext cx="0" cy="14630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4614062" y="54864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10⁻⁵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6868972" y="5257800"/>
            <a:ext cx="0" cy="14630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640372" y="54864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10⁻⁴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895283" y="5257800"/>
            <a:ext cx="0" cy="146304"/>
          </a:xfrm>
          <a:prstGeom prst="line">
            <a:avLst/>
          </a:prstGeom>
          <a:ln w="1270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8666683" y="5486400"/>
            <a:ext cx="5486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10⁻³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784080" y="2514600"/>
            <a:ext cx="1572768" cy="1261872"/>
          </a:xfrm>
          <a:prstGeom prst="roundRect">
            <a:avLst>
              <a:gd name="adj" fmla="val 12000"/>
            </a:avLst>
          </a:prstGeom>
          <a:solidFill>
            <a:srgbClr val="1735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48672" y="2788920"/>
            <a:ext cx="1234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300" b="1" i="0">
                <a:solidFill>
                  <a:srgbClr val="B6F36B"/>
                </a:solidFill>
                <a:latin typeface="Arial"/>
              </a:rPr>
              <a:t>≈61×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02952" y="3282696"/>
            <a:ext cx="1325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PINN MSE / MLP MSE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2104" y="5943600"/>
            <a:ext cx="9784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4F7FB"/>
                </a:solidFill>
                <a:latin typeface="Arial"/>
              </a:rPr>
              <a:t>Физический штраф — дополнительный сигнал обучения, не бесплатное улучшение всех метрик.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ДИАГНОСТИКА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Пространственная карта показывает неоднородность ошибки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17 / 20</a:t>
            </a:r>
          </a:p>
        </p:txBody>
      </p:sp>
      <p:pic>
        <p:nvPicPr>
          <p:cNvPr id="9" name="Picture 8" descr="error_heatmap_scientif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828800"/>
            <a:ext cx="6364224" cy="448056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543800" y="1965960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543800" y="1965960"/>
            <a:ext cx="50292" cy="914400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26679" y="21122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Что закодировано цветом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26679" y="2468880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Абсолютная ошибка нормированного давления; логарифмическая цветовая шкала.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127248"/>
            <a:ext cx="3657600" cy="9144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543800" y="3127248"/>
            <a:ext cx="50292" cy="914400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26679" y="32735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F4F7FB"/>
                </a:solidFill>
                <a:latin typeface="Arial"/>
              </a:rPr>
              <a:t>Как читать структуру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26679" y="3630168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Ошибка неодинакова по логρ–logT; есть локальные зоны сходимости и трудные области.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297680"/>
            <a:ext cx="3657600" cy="1261872"/>
          </a:xfrm>
          <a:prstGeom prst="roundRect">
            <a:avLst>
              <a:gd name="adj" fmla="val 12000"/>
            </a:avLst>
          </a:prstGeom>
          <a:solidFill>
            <a:srgbClr val="2B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63256" y="4517136"/>
            <a:ext cx="1645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B86B"/>
                </a:solidFill>
                <a:latin typeface="Arial"/>
              </a:rPr>
              <a:t>ОГРАНИЧЕНИЕ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4818888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FFD49A"/>
                </a:solidFill>
                <a:latin typeface="Arial"/>
              </a:rPr>
              <a:t>Белые промежутки — отсутствие тестовых точек, не нулевая ошибка. Краевые области требуют проверки.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5800" y="6272784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1">
                <a:solidFill>
                  <a:srgbClr val="A8B6C8"/>
                </a:solidFill>
                <a:latin typeface="Arial"/>
              </a:rPr>
              <a:t>Источник: error_heatmap_scientific.png; оси — log₁₀ ρ и log₁₀ 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ПРИМЕНЕНИЕ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Из ноутбука к инференсу: артефакты проекта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18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31720"/>
            <a:ext cx="2404872" cy="16002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" y="253288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88036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Вход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19272"/>
            <a:ext cx="199339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ρ и T в физических единицах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3127248" y="3145536"/>
            <a:ext cx="246888" cy="0"/>
          </a:xfrm>
          <a:prstGeom prst="line">
            <a:avLst/>
          </a:prstGeom>
          <a:ln w="1778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3511296" y="2331720"/>
            <a:ext cx="2404872" cy="16002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75887" y="253288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75887" y="288036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Преобразование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75887" y="3319272"/>
            <a:ext cx="199339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логарифмирование + параметры JSON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980176" y="3145536"/>
            <a:ext cx="246888" cy="0"/>
          </a:xfrm>
          <a:prstGeom prst="line">
            <a:avLst/>
          </a:prstGeom>
          <a:ln w="1778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6364224" y="2331720"/>
            <a:ext cx="2404872" cy="16002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253288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28816" y="288036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PINN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28816" y="3319272"/>
            <a:ext cx="199339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загрузка весов .pt и forward pass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833104" y="3145536"/>
            <a:ext cx="246888" cy="0"/>
          </a:xfrm>
          <a:prstGeom prst="line">
            <a:avLst/>
          </a:prstGeom>
          <a:ln w="1778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217152" y="2331720"/>
            <a:ext cx="2404872" cy="160020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381744" y="2532888"/>
            <a:ext cx="3840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81744" y="2880360"/>
            <a:ext cx="2011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F4F7FB"/>
                </a:solidFill>
                <a:latin typeface="Arial"/>
              </a:rPr>
              <a:t>Ответ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81744" y="3319272"/>
            <a:ext cx="1993392" cy="429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P и e после обратного масштаба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4088" y="4425696"/>
            <a:ext cx="3657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АРТЕФАКТЫ В РЕПОЗИТОРИИ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" y="4800600"/>
            <a:ext cx="5074920" cy="43891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41248" y="491947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pinn_best_physics.pt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931920" y="491947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обученные веса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071616" y="4800600"/>
            <a:ext cx="5074920" cy="43891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99632" y="491947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normalization.json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290304" y="491947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параметры шкал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" y="5394960"/>
            <a:ext cx="5074920" cy="43891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1248" y="551383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comparison_table.csv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31920" y="551383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сравнение моделей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5394960"/>
            <a:ext cx="5074920" cy="438912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99632" y="5513832"/>
            <a:ext cx="2971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B6F36B"/>
                </a:solidFill>
                <a:latin typeface="Arial"/>
              </a:rPr>
              <a:t>error_heatmap_scientific.png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290304" y="5513832"/>
            <a:ext cx="1691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A8B6C8"/>
                </a:solidFill>
                <a:latin typeface="Arial"/>
              </a:rPr>
              <a:t>карта ошибки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23774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95528"/>
            <a:ext cx="7315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СЛЕДУЮЩИЕ ШАГИ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042415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 i="0">
                <a:solidFill>
                  <a:srgbClr val="F4F7FB"/>
                </a:solidFill>
                <a:latin typeface="Arial"/>
              </a:rPr>
              <a:t>Что важно проверить перед практическим применением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PINN • УРАВНЕНИЕ СОСТОЯНИЯ АЛЮМИНИЯ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19 / 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04088" y="2157984"/>
            <a:ext cx="5193792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4088" y="2157984"/>
            <a:ext cx="50292" cy="1051560"/>
          </a:xfrm>
          <a:prstGeom prst="rect">
            <a:avLst/>
          </a:prstGeom>
          <a:solidFill>
            <a:srgbClr val="FFB8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2304288"/>
            <a:ext cx="482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1 • Обобщение по регионам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" y="2660904"/>
            <a:ext cx="4828031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Провести holdout целых файлов, а не случайных точек.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6208" y="2157984"/>
            <a:ext cx="5193792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36208" y="2157984"/>
            <a:ext cx="50292" cy="1051560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304288"/>
            <a:ext cx="482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2 • Размерная физика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2660904"/>
            <a:ext cx="4828031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Восстановить производные с учётом цепного правила и масштабов.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4088" y="3502152"/>
            <a:ext cx="5193792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04088" y="3502152"/>
            <a:ext cx="50292" cy="1051560"/>
          </a:xfrm>
          <a:prstGeom prst="rect">
            <a:avLst/>
          </a:prstGeom>
          <a:solidFill>
            <a:srgbClr val="6EA8F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48456"/>
            <a:ext cx="482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3 • Метрики по выходам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6968" y="4005072"/>
            <a:ext cx="4828031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Проверить P и e в физических единицах, а также относительную ошибку.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36208" y="3502152"/>
            <a:ext cx="5193792" cy="1051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8" y="3502152"/>
            <a:ext cx="50292" cy="1051560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3648456"/>
            <a:ext cx="4828031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F4F7FB"/>
                </a:solidFill>
                <a:latin typeface="Arial"/>
              </a:rPr>
              <a:t>4 • Устойчивость и края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005072"/>
            <a:ext cx="4828031" cy="45719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A8B6C8"/>
                </a:solidFill>
                <a:latin typeface="Arial"/>
              </a:rPr>
              <a:t>Тестировать границы диапазона, фазовые зоны и чувствительность к 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13232" y="5010912"/>
            <a:ext cx="10716768" cy="640080"/>
          </a:xfrm>
          <a:prstGeom prst="roundRect">
            <a:avLst>
              <a:gd name="adj" fmla="val 12000"/>
            </a:avLst>
          </a:prstGeom>
          <a:solidFill>
            <a:srgbClr val="2B2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5221224"/>
            <a:ext cx="10241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D49A"/>
                </a:solidFill>
                <a:latin typeface="Arial"/>
              </a:rPr>
              <a:t>Заявленный physics proxy — показатель реализации loss, не независимый сертификат термодинамической корректности.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393192"/>
            <a:ext cx="310896" cy="50292"/>
          </a:xfrm>
          <a:prstGeom prst="rect">
            <a:avLst/>
          </a:prstGeom>
          <a:solidFill>
            <a:srgbClr val="46D7D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32688" y="310896"/>
            <a:ext cx="3657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A8B6C8"/>
                </a:solidFill>
                <a:latin typeface="Arial"/>
              </a:rPr>
              <a:t>EOS  /  HACKATHON  /  ИТОГ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13232" y="1005840"/>
            <a:ext cx="2743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20 • ЗАКЛЮЧЕНИЕ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508760"/>
            <a:ext cx="7315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 i="0">
                <a:solidFill>
                  <a:srgbClr val="F4F7FB"/>
                </a:solidFill>
                <a:latin typeface="Arial"/>
              </a:rPr>
              <a:t>Компактная модель.
Явная физическая цель.
Честный компромисс.</a:t>
            </a:r>
          </a:p>
        </p:txBody>
      </p:sp>
      <p:sp>
        <p:nvSpPr>
          <p:cNvPr id="6" name="Rectangle 5"/>
          <p:cNvSpPr/>
          <p:nvPr/>
        </p:nvSpPr>
        <p:spPr>
          <a:xfrm>
            <a:off x="749808" y="3886200"/>
            <a:ext cx="749808" cy="50292"/>
          </a:xfrm>
          <a:prstGeom prst="rect">
            <a:avLst/>
          </a:prstGeom>
          <a:solidFill>
            <a:srgbClr val="B6F3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4224528"/>
            <a:ext cx="777240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A8B6C8"/>
                </a:solidFill>
                <a:latin typeface="Arial"/>
              </a:rPr>
              <a:t>Мы показали, как включить физические критерии в обучение суррогата EOS —
и почему точность по таблице нельзя оценивать в отрыве от этих критериев.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23960" y="1508760"/>
            <a:ext cx="2468880" cy="3337560"/>
          </a:xfrm>
          <a:prstGeom prst="roundRect">
            <a:avLst>
              <a:gd name="adj" fmla="val 12000"/>
            </a:avLst>
          </a:prstGeom>
          <a:solidFill>
            <a:srgbClr val="111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464040" y="1874519"/>
            <a:ext cx="11887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46D7D0"/>
                </a:solidFill>
                <a:latin typeface="Arial"/>
              </a:rPr>
              <a:t>ВХОД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235440" y="2240280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4F7FB"/>
                </a:solidFill>
                <a:latin typeface="Arial"/>
              </a:rPr>
              <a:t>ρ  •  T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0040112" y="2715768"/>
            <a:ext cx="0" cy="429768"/>
          </a:xfrm>
          <a:prstGeom prst="line">
            <a:avLst/>
          </a:prstGeom>
          <a:ln w="2540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9308592" y="3273552"/>
            <a:ext cx="1463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B6F36B"/>
                </a:solidFill>
                <a:latin typeface="Arial"/>
              </a:rPr>
              <a:t>PINN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10040112" y="3657600"/>
            <a:ext cx="0" cy="384048"/>
          </a:xfrm>
          <a:prstGeom prst="line">
            <a:avLst/>
          </a:prstGeom>
          <a:ln w="25400">
            <a:solidFill>
              <a:srgbClr val="B6F3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9235440" y="4187952"/>
            <a:ext cx="16459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100" b="1" i="0">
                <a:solidFill>
                  <a:srgbClr val="F4F7FB"/>
                </a:solidFill>
                <a:latin typeface="Arial"/>
              </a:rPr>
              <a:t>P  •  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9808" y="5632704"/>
            <a:ext cx="1280160" cy="320040"/>
          </a:xfrm>
          <a:prstGeom prst="roundRect">
            <a:avLst>
              <a:gd name="adj" fmla="val 12000"/>
            </a:avLst>
          </a:prstGeom>
          <a:solidFill>
            <a:srgbClr val="1624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7" y="5715000"/>
            <a:ext cx="10972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46D7D0"/>
                </a:solidFill>
                <a:latin typeface="Arial"/>
              </a:rPr>
              <a:t>ВОПРОСЫ?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9720" y="5733288"/>
            <a:ext cx="2011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B6F36B"/>
                </a:solidFill>
                <a:latin typeface="Arial"/>
              </a:rPr>
              <a:t>Спасибо!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66928" y="6473952"/>
            <a:ext cx="11064240" cy="0"/>
          </a:xfrm>
          <a:prstGeom prst="line">
            <a:avLst/>
          </a:prstGeom>
          <a:ln w="10160">
            <a:solidFill>
              <a:srgbClr val="25354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566928" y="6537960"/>
            <a:ext cx="6400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A8B6C8"/>
                </a:solidFill>
                <a:latin typeface="Arial"/>
              </a:rPr>
              <a:t>ПИНН • УРАВНЕНИЕ СОСТОЯНИЯ АЛЮМИНИЯ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35056" y="6519672"/>
            <a:ext cx="877824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800" b="1" i="0">
                <a:solidFill>
                  <a:srgbClr val="A8B6C8"/>
                </a:solidFill>
                <a:latin typeface="Arial"/>
              </a:rPr>
              <a:t>20 / 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Физически-информированный суррогат EOS алюминия — презентация проекта хакатона</dc:title>
  <dc:subject>20-слайдовая презентация ML-трека, кейс 1</dc:subject>
  <dc:creator>Команда проекта</dc:creator>
  <cp:keywords>PINN, EOS, алюминий, хакатон, физика, нейросеть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