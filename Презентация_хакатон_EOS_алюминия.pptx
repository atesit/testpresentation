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54112" y="0"/>
            <a:ext cx="4434840" cy="6858000"/>
          </a:xfrm>
          <a:prstGeom prst="rect">
            <a:avLst/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09244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9536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9828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10412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0704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109960" y="914400"/>
            <a:ext cx="0" cy="480060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46720" y="1005840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1755648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505456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3255264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0" y="4005072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4754879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5504688"/>
            <a:ext cx="3520440" cy="0"/>
          </a:xfrm>
          <a:prstGeom prst="line">
            <a:avLst/>
          </a:prstGeom>
          <a:ln w="7620">
            <a:solidFill>
              <a:srgbClr val="15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257031" y="4800600"/>
            <a:ext cx="338329" cy="50292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95360" y="4343400"/>
            <a:ext cx="411480" cy="45720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006840" y="3977639"/>
            <a:ext cx="365760" cy="365761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72600" y="3822191"/>
            <a:ext cx="338328" cy="155448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710928" y="3255264"/>
            <a:ext cx="384048" cy="566927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094976" y="2898648"/>
            <a:ext cx="365760" cy="356616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460736" y="2331720"/>
            <a:ext cx="310896" cy="566928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71632" y="1645920"/>
            <a:ext cx="548640" cy="68580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11311" y="5257800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4754880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19" y="4297680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3931920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5207" y="3776472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49255" y="3209544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15015" y="2852928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25911" y="2286000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74552" y="1600200"/>
            <a:ext cx="91440" cy="91440"/>
          </a:xfrm>
          <a:prstGeom prst="ellipse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6072"/>
            <a:ext cx="3657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ХАКАТОН  •  ML-ТРЕК  •  КЕЙС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143000"/>
            <a:ext cx="6583680" cy="2148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39" b="1" i="0">
                <a:solidFill>
                  <a:srgbClr val="F4F7FB"/>
                </a:solidFill>
                <a:latin typeface="Arial"/>
              </a:rPr>
              <a:t>Нейросеть
с правилами
физики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566160"/>
            <a:ext cx="630936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8B6C8"/>
                </a:solidFill>
                <a:latin typeface="Arial"/>
              </a:rPr>
              <a:t>Быстрая модель вместо больших таблиц
расчётов свойств алюминия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736592"/>
            <a:ext cx="685800" cy="45720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10912"/>
            <a:ext cx="626364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rial"/>
              </a:rPr>
              <a:t>По плотности и температуре оцениваем давление и энергию.
При обучении добавлены базовые правила физики.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61888"/>
            <a:ext cx="1554480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044183"/>
            <a:ext cx="1371600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1,13 млн точек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5961888"/>
            <a:ext cx="1600200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6044183"/>
            <a:ext cx="1417320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~1,4 МБ модель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6199632"/>
            <a:ext cx="29260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6C8"/>
                </a:solidFill>
                <a:latin typeface="Arial"/>
              </a:rPr>
              <a:t>ПРОЕКТ ХАКАТОНА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Коротко о проекте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8B6C8"/>
                </a:solidFill>
                <a:latin typeface="Arial"/>
              </a:rPr>
              <a:t>PINN — нейросеть, которая учится на таблицах и одновременно учитывает правила физики.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02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304288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96312"/>
            <a:ext cx="1691640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7C7"/>
                </a:solidFill>
                <a:latin typeface="Arial"/>
              </a:rPr>
              <a:t>1 130 053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07792"/>
            <a:ext cx="1691640" cy="1920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точки в 20 файлах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04288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496312"/>
            <a:ext cx="1691640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35C7D2"/>
                </a:solidFill>
                <a:latin typeface="Arial"/>
              </a:rPr>
              <a:t>2 входа → 2 ответа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907792"/>
            <a:ext cx="1691640" cy="1920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плотность, температура → давление, энергия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2304288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2496312"/>
            <a:ext cx="1691640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3" b="1" i="0">
                <a:solidFill>
                  <a:srgbClr val="45A9E0"/>
                </a:solidFill>
                <a:latin typeface="Arial"/>
              </a:rPr>
              <a:t>20 циклов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907792"/>
            <a:ext cx="1691640" cy="1920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обучения сети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304288"/>
            <a:ext cx="3931920" cy="102412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248716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КЛЮЧЕВОЙ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761488"/>
            <a:ext cx="333756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Штраф за два правила
на последнем цикле: 3,1 × 10⁻⁵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67328"/>
            <a:ext cx="3429000" cy="149047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767328"/>
            <a:ext cx="50292" cy="149047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30632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Что сделали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70248"/>
            <a:ext cx="3063240" cy="896111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3" b="0" i="0">
                <a:solidFill>
                  <a:srgbClr val="A8B6C8"/>
                </a:solidFill>
                <a:latin typeface="Arial"/>
              </a:rPr>
              <a:t>Обучили нейросеть по таблицам расчётов для разных состояний алюминия.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767328"/>
            <a:ext cx="3429000" cy="149047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767328"/>
            <a:ext cx="50292" cy="1490472"/>
          </a:xfrm>
          <a:prstGeom prst="rect">
            <a:avLst/>
          </a:prstGeom>
          <a:solidFill>
            <a:srgbClr val="168C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913632"/>
            <a:ext cx="30632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Что выяснили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270248"/>
            <a:ext cx="3063240" cy="896111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2" b="0" i="0">
                <a:solidFill>
                  <a:srgbClr val="A8B6C8"/>
                </a:solidFill>
                <a:latin typeface="Arial"/>
              </a:rPr>
              <a:t>Добавление правил физики повысило ошибку по точкам — важно найти баланс.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3767328"/>
            <a:ext cx="3429000" cy="149047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3767328"/>
            <a:ext cx="50292" cy="1490472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913632"/>
            <a:ext cx="30632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Что дальше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270248"/>
            <a:ext cx="3063240" cy="896111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B6C8"/>
                </a:solidFill>
                <a:latin typeface="Arial"/>
              </a:rPr>
              <a:t>Проверить модель на целых областях, которые не участвовали в обучении.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50992"/>
            <a:ext cx="1088136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Главное: нейросеть учится по таблицам и учитывает два простых правила физики. Это полезный шаг, но модель ещё нужно отдельно проверять.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 быстро оценить свойства алюминия в разных условиях?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В таблицах собраны расчёты для разных плотностей и температур алюминия.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03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4709160" cy="30449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ВОПРОС К НЕЙРОСЕТИ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07792"/>
            <a:ext cx="3931920" cy="10241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F4F7FB"/>
                </a:solidFill>
                <a:latin typeface="Arial"/>
              </a:rPr>
              <a:t>Если известны плотность и температура,
каковы давление и энергия?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4251960"/>
            <a:ext cx="4041648" cy="0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1832" y="4544568"/>
            <a:ext cx="384048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35C7D2"/>
                </a:solidFill>
                <a:latin typeface="Arial"/>
              </a:rPr>
              <a:t>Плотность + температура → давление + энергия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020056"/>
            <a:ext cx="384048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P — давление
e — внутренняя энергия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240280"/>
            <a:ext cx="5440680" cy="859536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2240280"/>
            <a:ext cx="50292" cy="859536"/>
          </a:xfrm>
          <a:prstGeom prst="rect">
            <a:avLst/>
          </a:prstGeom>
          <a:solidFill>
            <a:srgbClr val="45A9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386584"/>
            <a:ext cx="50749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Сложность 01 • огромный масштаб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743200"/>
            <a:ext cx="5074920" cy="265175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Значения входов очень разные — от крошечных до огромных.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273552"/>
            <a:ext cx="5440680" cy="859536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3273552"/>
            <a:ext cx="50292" cy="859536"/>
          </a:xfrm>
          <a:prstGeom prst="rect">
            <a:avLst/>
          </a:prstGeom>
          <a:solidFill>
            <a:srgbClr val="168C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419856"/>
            <a:ext cx="50749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Сложность 02 • фазовые области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776472"/>
            <a:ext cx="5074920" cy="265175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При разных условиях алюминий ведёт себя по-разному; ошибка модели тоже меняется.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4306824"/>
            <a:ext cx="5440680" cy="859536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4306824"/>
            <a:ext cx="50292" cy="859536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4453128"/>
            <a:ext cx="507492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Сложность 03 • производные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809744"/>
            <a:ext cx="5074920" cy="265175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Точные ответы в таблице ещё не гарантируют, что между точками модель ведёт себя по правилам физики.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95" b="1" i="0">
                <a:solidFill>
                  <a:srgbClr val="F4F7FB"/>
                </a:solidFill>
                <a:latin typeface="Arial"/>
              </a:rPr>
              <a:t>Что модель получает на вход и что выдаёт?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3017520" cy="24231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14600"/>
            <a:ext cx="18288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УСЛОВИЯ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98648"/>
            <a:ext cx="73152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00B7C7"/>
                </a:solidFill>
                <a:latin typeface="Arial"/>
              </a:rPr>
              <a:t>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26664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плотность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94176"/>
            <a:ext cx="73152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00B7C7"/>
                </a:solidFill>
                <a:latin typeface="Arial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22191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температура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2670048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980944"/>
            <a:ext cx="15087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5C7D2"/>
                </a:solidFill>
                <a:latin typeface="Arial"/>
              </a:rPr>
              <a:t>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3575304"/>
            <a:ext cx="17373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нейросеть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22191" y="3429000"/>
            <a:ext cx="640081" cy="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05472" y="3429000"/>
            <a:ext cx="612648" cy="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73568" y="2240280"/>
            <a:ext cx="3383280" cy="24231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2514600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ЧТО МОДЕЛЬ ПРЕДСКАЗЫВАЕТ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926080"/>
            <a:ext cx="5029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45A9E0"/>
                </a:solidFill>
                <a:latin typeface="Arial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026664"/>
            <a:ext cx="1920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давление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675887"/>
            <a:ext cx="5029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8CC4"/>
                </a:solidFill>
                <a:latin typeface="Arial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3767328"/>
            <a:ext cx="2084831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внутренняя энергия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166360"/>
            <a:ext cx="10570464" cy="53035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340096"/>
            <a:ext cx="1014984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F4F7FB"/>
                </a:solidFill>
                <a:latin typeface="Arial"/>
              </a:rPr>
              <a:t>EOS — уравнение состояния: связь между условиями и свойствами вещества. Здесь нейросеть приближённо воспроизводит таблицы в заданном диапазоне.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Больше миллиона расчётных примеров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05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84831"/>
            <a:ext cx="2578608" cy="111556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04288"/>
            <a:ext cx="2249424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7C7"/>
                </a:solidFill>
                <a:latin typeface="Arial"/>
              </a:rPr>
              <a:t>1 130 053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61488"/>
            <a:ext cx="22494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примеров всего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84831"/>
            <a:ext cx="2578608" cy="111556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304288"/>
            <a:ext cx="2249424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5C7D2"/>
                </a:solidFill>
                <a:latin typeface="Arial"/>
              </a:rPr>
              <a:t>904 042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761488"/>
            <a:ext cx="22494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для обучения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084831"/>
            <a:ext cx="2578608" cy="111556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04288"/>
            <a:ext cx="2249424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5A9E0"/>
                </a:solidFill>
                <a:latin typeface="Arial"/>
              </a:rPr>
              <a:t>226 011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61488"/>
            <a:ext cx="22494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для проверки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2084831"/>
            <a:ext cx="2578608" cy="111556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7" y="2304288"/>
            <a:ext cx="2249424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68CC4"/>
                </a:solidFill>
                <a:latin typeface="Arial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761488"/>
            <a:ext cx="22494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файлов Obl*.txt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657600"/>
            <a:ext cx="24688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20 ФАЙЛОВ С РАСЧЁТАМИ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97864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5296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64792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6856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04288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43784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79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95344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2776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74336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1768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13831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1264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53327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59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92823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0255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0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59752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13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71816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9248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1312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4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0808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90304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17736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17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7232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69296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96728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08792" y="4087368"/>
            <a:ext cx="420624" cy="4297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36224" y="4233672"/>
            <a:ext cx="365760" cy="1371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" y="4983480"/>
            <a:ext cx="107899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F4F7FB"/>
                </a:solidFill>
                <a:latin typeface="Arial"/>
              </a:rPr>
              <a:t>В каждом примере указаны плотность, температура, давление и внутренняя энергия. Единицы: г/см³, K, GPa и кДж/г.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5532120"/>
            <a:ext cx="10744200" cy="530352"/>
          </a:xfrm>
          <a:prstGeom prst="roundRect">
            <a:avLst>
              <a:gd name="adj" fmla="val 12000"/>
            </a:avLst>
          </a:prstGeom>
          <a:solidFill>
            <a:srgbClr val="123D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" y="5678424"/>
            <a:ext cx="102870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E9F0"/>
                </a:solidFill>
                <a:latin typeface="Arial"/>
              </a:rPr>
              <a:t>Важно: примеры случайно поделены на обучение и проверку. Проверки на полностью новой области пока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Входные значения отличаются на миллиарды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Логарифм сжимает очень большие диапазоны до удобной для обучения шкалы.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06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30552"/>
            <a:ext cx="27432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log₁₀ ρ  [г/см³]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" y="2825496"/>
            <a:ext cx="9976104" cy="0"/>
          </a:xfrm>
          <a:prstGeom prst="line">
            <a:avLst/>
          </a:prstGeom>
          <a:ln w="508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-3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6133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11541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-2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1291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36699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-1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26449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61857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51606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87014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76764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12172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1922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37330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927080" y="2660904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762488" y="3127248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" y="2724912"/>
            <a:ext cx="9976104" cy="2011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976" y="2724912"/>
            <a:ext cx="9976104" cy="201168"/>
          </a:xfrm>
          <a:prstGeom prst="roundRect">
            <a:avLst>
              <a:gd name="adj" fmla="val 12000"/>
            </a:avLst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346704"/>
            <a:ext cx="27432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log₁₀ T  [K]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0976" y="4041648"/>
            <a:ext cx="9976104" cy="0"/>
          </a:xfrm>
          <a:prstGeom prst="line">
            <a:avLst/>
          </a:prstGeom>
          <a:ln w="508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0976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-1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97989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33397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45002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80410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92015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27423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39028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74436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86041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21449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33054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68462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80067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515475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927080" y="3877056"/>
            <a:ext cx="0" cy="32918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762488" y="4343400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" y="3941064"/>
            <a:ext cx="9976104" cy="20116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50976" y="3941064"/>
            <a:ext cx="9976104" cy="201168"/>
          </a:xfrm>
          <a:prstGeom prst="roundRect">
            <a:avLst>
              <a:gd name="adj" fmla="val 12000"/>
            </a:avLst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9808" y="5404104"/>
            <a:ext cx="10671048" cy="5669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568696"/>
            <a:ext cx="102412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rial"/>
              </a:rPr>
              <a:t>Плотность: от 10⁻³ до 10⁴ г/см³; температура: от 10⁻¹ до 10⁷ K. Затем входы переводятся в общую шкалу от 0 до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 готовим данные к обучению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07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2423160" cy="19385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34056"/>
            <a:ext cx="438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7D2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27248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F4F7FB"/>
                </a:solidFill>
                <a:latin typeface="Arial"/>
              </a:rPr>
              <a:t>Собрать файлы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94176"/>
            <a:ext cx="1993392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Собрать Obl01–Obl20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2968" y="3456432"/>
            <a:ext cx="274320" cy="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8728" y="2514600"/>
            <a:ext cx="2423160" cy="19385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2734056"/>
            <a:ext cx="438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7D2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127248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B"/>
                </a:solidFill>
                <a:latin typeface="Arial"/>
              </a:rPr>
              <a:t>Преобразовать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694176"/>
            <a:ext cx="1993392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Сжать большие диапазоны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25896" y="3456432"/>
            <a:ext cx="274320" cy="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91656" y="2514600"/>
            <a:ext cx="2423160" cy="19385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2734056"/>
            <a:ext cx="438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7D2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3127248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F4F7FB"/>
                </a:solidFill>
                <a:latin typeface="Arial"/>
              </a:rPr>
              <a:t>Привести к одной шкале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3694176"/>
            <a:ext cx="1993392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Сохранить границы шкалы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3456432"/>
            <a:ext cx="274320" cy="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44584" y="2514600"/>
            <a:ext cx="2423160" cy="193852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2734056"/>
            <a:ext cx="438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7D2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127248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F4F7FB"/>
                </a:solidFill>
                <a:latin typeface="Arial"/>
              </a:rPr>
              <a:t>Разделить примеры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3694176"/>
            <a:ext cx="1993392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3" b="0" i="0">
                <a:solidFill>
                  <a:srgbClr val="A8B6C8"/>
                </a:solidFill>
                <a:latin typeface="Arial"/>
              </a:rPr>
              <a:t>80% обучение / 20% проверка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" y="4983480"/>
            <a:ext cx="5157216" cy="74980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48072"/>
            <a:ext cx="1188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ФАЙЛ НАСТРОЕК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9424" y="5175504"/>
            <a:ext cx="3154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normalization.json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4983480"/>
            <a:ext cx="5157216" cy="749808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5148072"/>
            <a:ext cx="10058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ДЛЯ ЧЕГО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5138928"/>
            <a:ext cx="3611880" cy="3383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Чтобы новые данные готовились так же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БАЗОВЫЕ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Сравнили три способа предсказывать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PINN — нейросеть, которую учат не только по таблицам, но и с помощью правил физики.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08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447288" cy="2432304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331720"/>
            <a:ext cx="50292" cy="2432304"/>
          </a:xfrm>
          <a:prstGeom prst="rect">
            <a:avLst/>
          </a:prstGeom>
          <a:solidFill>
            <a:srgbClr val="45A9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478024"/>
            <a:ext cx="308152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F4F7FB"/>
                </a:solidFill>
                <a:latin typeface="Arial"/>
              </a:rPr>
              <a:t>01 • Табличная интерполяция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834639"/>
            <a:ext cx="3081528" cy="18379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2" b="0" i="0">
                <a:solidFill>
                  <a:srgbClr val="A8B6C8"/>
                </a:solidFill>
                <a:latin typeface="Arial"/>
              </a:rPr>
              <a:t>Находит ближайшие табличные значения и оценивает ответ между ними.
Плюс: точна рядом с известными точками.
Минус: поведение между ними может быть резким.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331720"/>
            <a:ext cx="3447288" cy="2432304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331720"/>
            <a:ext cx="50292" cy="2432304"/>
          </a:xfrm>
          <a:prstGeom prst="rect">
            <a:avLst/>
          </a:prstGeom>
          <a:solidFill>
            <a:srgbClr val="168C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478024"/>
            <a:ext cx="308152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3" b="1" i="0">
                <a:solidFill>
                  <a:srgbClr val="F4F7FB"/>
                </a:solidFill>
                <a:latin typeface="Arial"/>
              </a:rPr>
              <a:t>02 • Обычная нейросеть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834639"/>
            <a:ext cx="3081528" cy="18379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Учится находить связь между входами и ответами в таблице.
Плюс: самая малая ошибка по давлению.
Минус: правила физики не заданы.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331720"/>
            <a:ext cx="3447288" cy="2432304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2331720"/>
            <a:ext cx="50292" cy="2432304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478024"/>
            <a:ext cx="308152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F4F7FB"/>
                </a:solidFill>
                <a:latin typeface="Arial"/>
              </a:rPr>
              <a:t>03 • Нейросеть с физикой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834639"/>
            <a:ext cx="3081528" cy="18379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A8B6C8"/>
                </a:solidFill>
                <a:latin typeface="Arial"/>
              </a:rPr>
              <a:t>Тоже учится по таблице, но дополнительно получает штраф за нарушение двух правил.
Плюс: учёт этих правил.
Минус: ошибка по точкам выше.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76088"/>
            <a:ext cx="10835640" cy="530352"/>
          </a:xfrm>
          <a:prstGeom prst="roundRect">
            <a:avLst>
              <a:gd name="adj" fmla="val 12000"/>
            </a:avLst>
          </a:prstGeom>
          <a:solidFill>
            <a:srgbClr val="17253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449824"/>
            <a:ext cx="1037844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Важно сравнивать не только точность: нужно учитывать, соблюдает ли модель физические правила.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 устроена нейросеть?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Сеть проходит три скрытых слоя. Число показывает, сколько узлов в каждом; плавные преобразования помогают проследить, как меняется ответ.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09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627632" cy="132588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97480"/>
            <a:ext cx="1371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B7C7"/>
                </a:solidFill>
                <a:latin typeface="Arial"/>
              </a:rPr>
              <a:t>Ввести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99816"/>
            <a:ext cx="13716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C7D2"/>
                </a:solidFill>
                <a:latin typeface="Arial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86584" y="3108960"/>
            <a:ext cx="356616" cy="0"/>
          </a:xfrm>
          <a:prstGeom prst="line">
            <a:avLst/>
          </a:prstGeom>
          <a:ln w="1905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16352" y="2450592"/>
            <a:ext cx="1627632" cy="132588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2697480"/>
            <a:ext cx="1371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Слой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3099816"/>
            <a:ext cx="13716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C7D2"/>
                </a:solidFill>
                <a:latin typeface="Arial"/>
              </a:rPr>
              <a:t>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511296"/>
            <a:ext cx="1371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плавная функция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17136" y="3108960"/>
            <a:ext cx="356616" cy="0"/>
          </a:xfrm>
          <a:prstGeom prst="line">
            <a:avLst/>
          </a:prstGeom>
          <a:ln w="1905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46904" y="2450592"/>
            <a:ext cx="1627632" cy="132588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2697480"/>
            <a:ext cx="1371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Слой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3099816"/>
            <a:ext cx="13716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C7D2"/>
                </a:solidFill>
                <a:latin typeface="Arial"/>
              </a:rPr>
              <a:t>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511296"/>
            <a:ext cx="1371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плавная функция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47688" y="3108960"/>
            <a:ext cx="356616" cy="0"/>
          </a:xfrm>
          <a:prstGeom prst="line">
            <a:avLst/>
          </a:prstGeom>
          <a:ln w="1905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77456" y="2450592"/>
            <a:ext cx="1627632" cy="132588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6328" y="2697480"/>
            <a:ext cx="1371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Слой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3099816"/>
            <a:ext cx="13716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C7D2"/>
                </a:solidFill>
                <a:latin typeface="Arial"/>
              </a:rPr>
              <a:t>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3511296"/>
            <a:ext cx="1371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плавная функция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0" y="3108960"/>
            <a:ext cx="356616" cy="0"/>
          </a:xfrm>
          <a:prstGeom prst="line">
            <a:avLst/>
          </a:prstGeom>
          <a:ln w="1905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08008" y="2450592"/>
            <a:ext cx="1627632" cy="132588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697480"/>
            <a:ext cx="1371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B7C7"/>
                </a:solidFill>
                <a:latin typeface="Arial"/>
              </a:rPr>
              <a:t>Выход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099816"/>
            <a:ext cx="13716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C7D2"/>
                </a:solidFill>
                <a:latin typeface="Arial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4160520"/>
            <a:ext cx="1005840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242816"/>
            <a:ext cx="822960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шкала 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1952" y="4160520"/>
            <a:ext cx="1005840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93392" y="4242816"/>
            <a:ext cx="822960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шкала 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08592" y="4160520"/>
            <a:ext cx="612648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4242816"/>
            <a:ext cx="429768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0112" y="4160520"/>
            <a:ext cx="612648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31552" y="4242816"/>
            <a:ext cx="429768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" y="4937760"/>
            <a:ext cx="10351008" cy="70408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84648"/>
            <a:ext cx="987552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rial"/>
              </a:rPr>
              <a:t>Файл с настройками обученной сети занимает около 1,4 МБ — меньше лимита 10 МБ.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ПРАВИЛА ФИЗИКИ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 нейросеть учитывает правила физики?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10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331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12801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ПОДСКАЗКА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30175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B"/>
                </a:solidFill>
                <a:latin typeface="Arial"/>
              </a:rPr>
              <a:t>Примеры из таблицы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749039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50208"/>
            <a:ext cx="12801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C7D2"/>
                </a:solidFill>
                <a:latin typeface="Arial"/>
              </a:rPr>
              <a:t>ПОДСКАЗКА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30175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F4F7FB"/>
                </a:solidFill>
                <a:latin typeface="Arial"/>
              </a:rPr>
              <a:t>Правила изменения свойств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17136" y="2843784"/>
            <a:ext cx="713232" cy="493776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17136" y="3675887"/>
            <a:ext cx="713232" cy="594361"/>
          </a:xfrm>
          <a:prstGeom prst="line">
            <a:avLst/>
          </a:prstGeom>
          <a:ln w="2540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2843784"/>
            <a:ext cx="2304288" cy="1298448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3127248"/>
            <a:ext cx="1645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C7D2"/>
                </a:solidFill>
                <a:latin typeface="Arial"/>
              </a:rPr>
              <a:t>Нейросеть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566160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общее обучение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54112" y="3493008"/>
            <a:ext cx="621792" cy="0"/>
          </a:xfrm>
          <a:prstGeom prst="line">
            <a:avLst/>
          </a:prstGeom>
          <a:ln w="25400">
            <a:solidFill>
              <a:srgbClr val="00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85632" y="2670048"/>
            <a:ext cx="2834640" cy="164592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2907792"/>
            <a:ext cx="1371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ВЫХОД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3328416"/>
            <a:ext cx="226771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B"/>
                </a:solidFill>
                <a:latin typeface="Arial"/>
              </a:rPr>
              <a:t>P(ρ,T)   e(ρ,T)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5266944"/>
            <a:ext cx="10515600" cy="48463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22392"/>
            <a:ext cx="1014984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rial"/>
              </a:rPr>
              <a:t>В этой версии сеть проверяет только два правила изменения свойств. Это не проверка всех законов физики.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ПРАВИЛА ФИЗИКИ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Проверяем, как меняются ответы при изменении условий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8"/>
                </a:solidFill>
                <a:latin typeface="Arial"/>
              </a:rPr>
              <a:t>Производная показывает, растёт или уменьшается ответ, когда меняется вход.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11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50592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24912"/>
            <a:ext cx="2880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B7C7"/>
                </a:solidFill>
                <a:latin typeface="Arial"/>
              </a:rPr>
              <a:t>∂P / ∂ρ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91840"/>
            <a:ext cx="2880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Давление и плотность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67328"/>
            <a:ext cx="283464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При большей плотности давление не должно уменьшаться. За обратное сеть получает штраф.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450592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724912"/>
            <a:ext cx="2880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5C7D2"/>
                </a:solidFill>
                <a:latin typeface="Arial"/>
              </a:rPr>
              <a:t>∂e / ∂T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291840"/>
            <a:ext cx="2880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4F7FB"/>
                </a:solidFill>
                <a:latin typeface="Arial"/>
              </a:rPr>
              <a:t>Энергия и температура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767328"/>
            <a:ext cx="283464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При более высокой температуре энергия не должна уменьшаться. За обратное сеть получает штраф.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2450592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724912"/>
            <a:ext cx="2880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5A9E0"/>
                </a:solidFill>
                <a:latin typeface="Arial"/>
              </a:rPr>
              <a:t>Штраф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2880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Как работает штраф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67328"/>
            <a:ext cx="283464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Если правило соблюдено — штраф нулевой. Если нет — ошибка обучения увеличивается.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23D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266944"/>
            <a:ext cx="10314432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E9F0"/>
                </a:solidFill>
                <a:latin typeface="Arial"/>
              </a:rPr>
              <a:t>Правила проверяются после приведения данных к общей шкале; это ещё не полная проверка физики в реальных единицах.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ОБУЧЕНИЕ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Во время обучения сеть балансирует точность и правила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194560"/>
            <a:ext cx="4709160" cy="123444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423160"/>
            <a:ext cx="20116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ЦЕЛЬ ОБУЧЕНИЯ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88920"/>
            <a:ext cx="402336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F4F7FB"/>
                </a:solidFill>
                <a:latin typeface="Arial"/>
              </a:rPr>
              <a:t>Ошибка по таблице + 0,05 × штраф за правила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19456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2194560"/>
            <a:ext cx="50292" cy="1234440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340864"/>
            <a:ext cx="21488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4F7FB"/>
                </a:solidFill>
                <a:latin typeface="Arial"/>
              </a:rPr>
              <a:t>Ошибка по таблице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697480"/>
            <a:ext cx="214884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Насколько прогнозы отличаются от известных расчётов.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19456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2194560"/>
            <a:ext cx="50292" cy="1234440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340864"/>
            <a:ext cx="21488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4F7FB"/>
                </a:solidFill>
                <a:latin typeface="Arial"/>
              </a:rPr>
              <a:t>Штраф за правила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697480"/>
            <a:ext cx="214884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Растёт, если нарушено одно из двух правил.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114800"/>
            <a:ext cx="2359152" cy="96926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297680"/>
            <a:ext cx="3657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590288"/>
            <a:ext cx="20574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3" b="1" i="0">
                <a:solidFill>
                  <a:srgbClr val="F4F7FB"/>
                </a:solidFill>
                <a:latin typeface="Arial"/>
              </a:rPr>
              <a:t>Сделать прогноз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4599432"/>
            <a:ext cx="246888" cy="0"/>
          </a:xfrm>
          <a:prstGeom prst="line">
            <a:avLst/>
          </a:prstGeom>
          <a:ln w="1905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57015" y="4114800"/>
            <a:ext cx="2359152" cy="96926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3" y="4297680"/>
            <a:ext cx="3657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2463" y="4590288"/>
            <a:ext cx="20574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Проверить правила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71031" y="4599432"/>
            <a:ext cx="246889" cy="0"/>
          </a:xfrm>
          <a:prstGeom prst="line">
            <a:avLst/>
          </a:prstGeom>
          <a:ln w="1905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27648" y="4114800"/>
            <a:ext cx="2359152" cy="96926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4297680"/>
            <a:ext cx="3657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4590288"/>
            <a:ext cx="20574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4F7FB"/>
                </a:solidFill>
                <a:latin typeface="Arial"/>
              </a:rPr>
              <a:t>Посчитать общую ошибку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41664" y="4599432"/>
            <a:ext cx="246888" cy="0"/>
          </a:xfrm>
          <a:prstGeom prst="line">
            <a:avLst/>
          </a:prstGeom>
          <a:ln w="1905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98280" y="4114800"/>
            <a:ext cx="2359152" cy="96926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4297680"/>
            <a:ext cx="3657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590288"/>
            <a:ext cx="20574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4F7FB"/>
                </a:solidFill>
                <a:latin typeface="Arial"/>
              </a:rPr>
              <a:t>Улучшить настройки сети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68696"/>
            <a:ext cx="45720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6" b="0" i="1">
                <a:solidFill>
                  <a:srgbClr val="A8B6C8"/>
                </a:solidFill>
                <a:latin typeface="Arial"/>
              </a:rPr>
              <a:t>Коэффициент 0,05 задаёт вклад правил в обучение.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ОБУЧЕНИЕ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Какие настройки использовали для обучения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13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148840"/>
            <a:ext cx="10561320" cy="420624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67712"/>
            <a:ext cx="3246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Способ настройки сети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58568"/>
            <a:ext cx="63550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4F7FB"/>
                </a:solidFill>
                <a:latin typeface="Arial"/>
              </a:rPr>
              <a:t>Adam (автонастройка)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688336"/>
            <a:ext cx="10561320" cy="42062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807208"/>
            <a:ext cx="3246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Начальный шаг обучения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98064"/>
            <a:ext cx="63550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0,001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227832"/>
            <a:ext cx="10561320" cy="420624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346704"/>
            <a:ext cx="3246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Полные циклы обучения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37560"/>
            <a:ext cx="63550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767328"/>
            <a:ext cx="10561320" cy="42062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886200"/>
            <a:ext cx="3246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Примеров за один шаг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77056"/>
            <a:ext cx="63550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2 048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306824"/>
            <a:ext cx="10561320" cy="420624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425696"/>
            <a:ext cx="3246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Уменьшение шага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16552"/>
            <a:ext cx="63550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Вдвое меньше каждые 5 циклов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4846320"/>
            <a:ext cx="10561320" cy="420624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965192"/>
            <a:ext cx="3246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Слои сети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56048"/>
            <a:ext cx="63550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4F7FB"/>
                </a:solidFill>
                <a:latin typeface="Arial"/>
              </a:rPr>
              <a:t>2 входа, 3 скрытых слоя, 2 ответа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5614416"/>
            <a:ext cx="10543032" cy="438912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751576"/>
            <a:ext cx="10104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3" b="1" i="0">
                <a:solidFill>
                  <a:srgbClr val="35C7D2"/>
                </a:solidFill>
                <a:latin typeface="Arial"/>
              </a:rPr>
              <a:t>После последнего цикла: ошибка по обучающим данным 0,000195; штраф за нарушения правил 0,000031.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ОЦЕНКА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 проверяли точность модели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14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94560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1 130 053 ПРИМЕРА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633472"/>
            <a:ext cx="10378440" cy="53035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633472"/>
            <a:ext cx="8302752" cy="530352"/>
          </a:xfrm>
          <a:prstGeom prst="roundRect">
            <a:avLst>
              <a:gd name="adj" fmla="val 12000"/>
            </a:avLst>
          </a:prstGeom>
          <a:solidFill>
            <a:srgbClr val="087A9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07424" y="2633472"/>
            <a:ext cx="2075688" cy="530352"/>
          </a:xfrm>
          <a:prstGeom prst="roundRect">
            <a:avLst>
              <a:gd name="adj" fmla="val 12000"/>
            </a:avLst>
          </a:prstGeom>
          <a:solidFill>
            <a:srgbClr val="0D789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807208"/>
            <a:ext cx="47548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3" b="1" i="0">
                <a:solidFill>
                  <a:srgbClr val="F4F7FB"/>
                </a:solidFill>
                <a:latin typeface="Arial"/>
              </a:rPr>
              <a:t>80%  •  обучение = 904 042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2807208"/>
            <a:ext cx="1874519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4F7FB"/>
                </a:solidFill>
                <a:latin typeface="Arial"/>
              </a:rPr>
              <a:t>20%  •  проверка = 226 011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685032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3685032"/>
            <a:ext cx="50292" cy="1298448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31336"/>
            <a:ext cx="2880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4F7FB"/>
                </a:solidFill>
                <a:latin typeface="Arial"/>
              </a:rPr>
              <a:t>Одинаковые примеры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187952"/>
            <a:ext cx="2880360" cy="704087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Три модели проверялись на одних и тех же примерах.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685032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685032"/>
            <a:ext cx="50292" cy="1298448"/>
          </a:xfrm>
          <a:prstGeom prst="rect">
            <a:avLst/>
          </a:prstGeom>
          <a:solidFill>
            <a:srgbClr val="45A9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831336"/>
            <a:ext cx="2880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4F7FB"/>
                </a:solidFill>
                <a:latin typeface="Arial"/>
              </a:rPr>
              <a:t>Общий способ сравнения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187952"/>
            <a:ext cx="2880360" cy="704087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Средняя квадратичная ошибка давления в шкале от 0 до 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3685032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7" y="3685032"/>
            <a:ext cx="50292" cy="1298448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7" y="3831336"/>
            <a:ext cx="2880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4F7FB"/>
                </a:solidFill>
                <a:latin typeface="Arial"/>
              </a:rPr>
              <a:t>Отдельный показатель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7" y="4187952"/>
            <a:ext cx="2880360" cy="704087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Штраф за правила взят из журнала обучения. Это не ошибка прогноза.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5376672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123D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50408"/>
            <a:ext cx="992124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E9F0"/>
                </a:solidFill>
                <a:latin typeface="Arial"/>
              </a:rPr>
              <a:t>Оговорка: проверочные примеры случайные. Модель ещё не проверяли на целой новой области условий.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ОЦЕНКА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Сравнение ошибок прогноза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8813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Средняя квадратичная ошибка давления в общей шкале 0–1: чем меньше число, тем ближе прогноз к таблице.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15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31720"/>
            <a:ext cx="254203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СПОСОБ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1945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1856231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ОШИБКА ПО ДАВЛЕНИЮ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2704" y="21945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2331720"/>
            <a:ext cx="345643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ПРАВИЛА ФИЗИКИ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63456" y="21945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3184" y="2331720"/>
            <a:ext cx="181051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РАЗМЕР ФАЙЛА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79776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944368"/>
            <a:ext cx="254203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4F7FB"/>
                </a:solidFill>
                <a:latin typeface="Arial"/>
              </a:rPr>
              <a:t>Табличная интерполяция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2779776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944368"/>
            <a:ext cx="18562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1,32 × 10⁻⁵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32704" y="2779776"/>
            <a:ext cx="365760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2" y="2944368"/>
            <a:ext cx="345643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Не проверяются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3456" y="2779776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2944368"/>
            <a:ext cx="181051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Таблица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438144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602736"/>
            <a:ext cx="254203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4F7FB"/>
                </a:solidFill>
                <a:latin typeface="Arial"/>
              </a:rPr>
              <a:t>Обычная нейросеть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3438144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602736"/>
            <a:ext cx="18562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6,2 × 10⁻⁶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32704" y="3438144"/>
            <a:ext cx="365760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2432" y="3602736"/>
            <a:ext cx="345643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 заданы при обучении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63456" y="3438144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73184" y="3602736"/>
            <a:ext cx="181051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~1,4 МБ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096512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261104"/>
            <a:ext cx="254203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Нейросеть с правилами физики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02152" y="4096512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261104"/>
            <a:ext cx="18562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3,806 × 10⁻⁴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32704" y="4096512"/>
            <a:ext cx="3657600" cy="530352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2" y="4261104"/>
            <a:ext cx="345643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5C7D2"/>
                </a:solidFill>
                <a:latin typeface="Arial"/>
              </a:rPr>
              <a:t>Штраф = 3,1 × 10⁻⁵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63456" y="4096512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4261104"/>
            <a:ext cx="181051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8"/>
                </a:solidFill>
                <a:latin typeface="Arial"/>
              </a:rPr>
              <a:t>~1,4 МБ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" y="5084064"/>
            <a:ext cx="10634472" cy="80467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532180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B"/>
                </a:solidFill>
                <a:latin typeface="Arial"/>
              </a:rPr>
              <a:t>Наименьшая ошибка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5303520"/>
            <a:ext cx="1645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168CC4"/>
                </a:solidFill>
                <a:latin typeface="Arial"/>
              </a:rPr>
              <a:t>Обычная нейросеть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5285232"/>
            <a:ext cx="57607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rial"/>
              </a:rPr>
              <a:t>У обычной нейросети ошибка ниже; PINN лучше учитывает заданные правила.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" y="6089904"/>
            <a:ext cx="103327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A8B6C8"/>
                </a:solidFill>
                <a:latin typeface="Arial"/>
              </a:rPr>
              <a:t>Источник: comparison_table.csv и журнал обучения. Штраф за правила — отдельный показатель.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ИНТЕРПРЕТАЦИЯ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Результат: физические правила влияют на точность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16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5720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7C7"/>
                </a:solidFill>
                <a:latin typeface="Arial"/>
              </a:rPr>
              <a:t>ОШИБКА ПО ДАВЛЕНИЮ • ШКАЛА ПОКАЗЫВАЕТ ДИАПАЗОНЫ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8288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4F7FB"/>
                </a:solidFill>
                <a:latin typeface="Arial"/>
              </a:rPr>
              <a:t>Табличная интерполяция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715768"/>
            <a:ext cx="6080760" cy="30175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16352" y="2715768"/>
            <a:ext cx="2271313" cy="301752"/>
          </a:xfrm>
          <a:prstGeom prst="roundRect">
            <a:avLst>
              <a:gd name="adj" fmla="val 12000"/>
            </a:avLst>
          </a:prstGeom>
          <a:solidFill>
            <a:srgbClr val="45A9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734056"/>
            <a:ext cx="169164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5A9E0"/>
                </a:solidFill>
                <a:latin typeface="Arial"/>
              </a:rPr>
              <a:t>1.32e-05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18288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4F7FB"/>
                </a:solidFill>
                <a:latin typeface="Arial"/>
              </a:rPr>
              <a:t>Обычная нейросеть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3547872"/>
            <a:ext cx="6080760" cy="30175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6352" y="3547872"/>
            <a:ext cx="1606114" cy="301752"/>
          </a:xfrm>
          <a:prstGeom prst="roundRect">
            <a:avLst>
              <a:gd name="adj" fmla="val 12000"/>
            </a:avLst>
          </a:prstGeom>
          <a:solidFill>
            <a:srgbClr val="168C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3566160"/>
            <a:ext cx="169164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8CC4"/>
                </a:solidFill>
                <a:latin typeface="Arial"/>
              </a:rPr>
              <a:t>6.2e-06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61688"/>
            <a:ext cx="18288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B"/>
                </a:solidFill>
                <a:latin typeface="Arial"/>
              </a:rPr>
              <a:t>Нейросеть с физикой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4379976"/>
            <a:ext cx="6080760" cy="30175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16352" y="4379976"/>
            <a:ext cx="5230403" cy="301752"/>
          </a:xfrm>
          <a:prstGeom prst="roundRect">
            <a:avLst>
              <a:gd name="adj" fmla="val 12000"/>
            </a:avLst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4398264"/>
            <a:ext cx="169164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C7D2"/>
                </a:solidFill>
                <a:latin typeface="Arial"/>
              </a:rPr>
              <a:t>0.000381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16352" y="5330952"/>
            <a:ext cx="6080760" cy="0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16352" y="5257800"/>
            <a:ext cx="0" cy="14630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87752" y="5486400"/>
            <a:ext cx="5486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10⁻⁶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42662" y="5257800"/>
            <a:ext cx="0" cy="14630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14062" y="5486400"/>
            <a:ext cx="5486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10⁻⁵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68972" y="5257800"/>
            <a:ext cx="0" cy="14630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40372" y="5486400"/>
            <a:ext cx="5486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10⁻⁴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95283" y="5257800"/>
            <a:ext cx="0" cy="146304"/>
          </a:xfrm>
          <a:prstGeom prst="line">
            <a:avLst/>
          </a:prstGeom>
          <a:ln w="1270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66683" y="5486400"/>
            <a:ext cx="5486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10⁻³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514600"/>
            <a:ext cx="1572768" cy="1261872"/>
          </a:xfrm>
          <a:prstGeom prst="roundRect">
            <a:avLst>
              <a:gd name="adj" fmla="val 12000"/>
            </a:avLst>
          </a:prstGeom>
          <a:solidFill>
            <a:srgbClr val="10495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2788920"/>
            <a:ext cx="123444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5C7D2"/>
                </a:solidFill>
                <a:latin typeface="Arial"/>
              </a:rPr>
              <a:t>≈61×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3282696"/>
            <a:ext cx="13258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ошибка выше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943600"/>
            <a:ext cx="9784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 i="0">
                <a:solidFill>
                  <a:srgbClr val="F4F7FB"/>
                </a:solidFill>
                <a:latin typeface="Arial"/>
              </a:rPr>
              <a:t>Ошибка PINN примерно в 61 раз выше ошибки обычной нейросети. Зато в обучение добавлены правила физики.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ДИАГНОСТИКА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Где прогноз точнее, а где ошибается сильнее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17 / 20</a:t>
            </a:r>
          </a:p>
        </p:txBody>
      </p:sp>
      <p:pic>
        <p:nvPicPr>
          <p:cNvPr id="9" name="Picture 8" descr="error_heatmap_scienti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28800"/>
            <a:ext cx="6364224" cy="448056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7543800" y="19659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965960"/>
            <a:ext cx="50292" cy="914400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112264"/>
            <a:ext cx="32918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Что означает цвет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468880"/>
            <a:ext cx="32918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Показывает, насколько прогноз давления отличается от таблицы; цветовая шкала сжимает большой диапазон ошибок.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27248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127248"/>
            <a:ext cx="50292" cy="914400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273552"/>
            <a:ext cx="32918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rial"/>
              </a:rPr>
              <a:t>Что видно на карте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630168"/>
            <a:ext cx="32918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В одних областях прогноз ближе к таблице, в других ошибка больше.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297680"/>
            <a:ext cx="3657600" cy="1261872"/>
          </a:xfrm>
          <a:prstGeom prst="roundRect">
            <a:avLst>
              <a:gd name="adj" fmla="val 12000"/>
            </a:avLst>
          </a:prstGeom>
          <a:solidFill>
            <a:srgbClr val="123D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3256" y="4517136"/>
            <a:ext cx="16459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8CC4"/>
                </a:solidFill>
                <a:latin typeface="Arial"/>
              </a:rPr>
              <a:t>ВАЖНО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4818888"/>
            <a:ext cx="315468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E9F0"/>
                </a:solidFill>
                <a:latin typeface="Arial"/>
              </a:rPr>
              <a:t>Белые места — там нет проверочных примеров, это не нулевая ошибка. Края диапазона надо проверить отдельно.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72784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A8B6C8"/>
                </a:solidFill>
                <a:latin typeface="Arial"/>
              </a:rPr>
              <a:t>Цвет показывает ошибку; оси — логарифмы плотности и температуры.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ПРИМЕНЕНИЕ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Как получить прогноз после обучения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2404872" cy="16002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32888"/>
            <a:ext cx="384048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201168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F4F7FB"/>
                </a:solidFill>
                <a:latin typeface="Arial"/>
              </a:rPr>
              <a:t>Ввести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19272"/>
            <a:ext cx="1993392" cy="4297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Плотность и температура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27248" y="3145536"/>
            <a:ext cx="246888" cy="0"/>
          </a:xfrm>
          <a:prstGeom prst="line">
            <a:avLst/>
          </a:prstGeom>
          <a:ln w="1778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11296" y="2331720"/>
            <a:ext cx="2404872" cy="16002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532888"/>
            <a:ext cx="384048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880360"/>
            <a:ext cx="201168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4" b="1" i="0">
                <a:solidFill>
                  <a:srgbClr val="F4F7FB"/>
                </a:solidFill>
                <a:latin typeface="Arial"/>
              </a:rPr>
              <a:t>Подготовить 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319272"/>
            <a:ext cx="1993392" cy="4297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Привести к шкале обучения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0176" y="3145536"/>
            <a:ext cx="246888" cy="0"/>
          </a:xfrm>
          <a:prstGeom prst="line">
            <a:avLst/>
          </a:prstGeom>
          <a:ln w="1778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2331720"/>
            <a:ext cx="2404872" cy="16002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532888"/>
            <a:ext cx="384048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880360"/>
            <a:ext cx="201168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rial"/>
              </a:rPr>
              <a:t>Модель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319272"/>
            <a:ext cx="1993392" cy="4297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Загрузить файл с настройками модели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33104" y="3145536"/>
            <a:ext cx="246888" cy="0"/>
          </a:xfrm>
          <a:prstGeom prst="line">
            <a:avLst/>
          </a:prstGeom>
          <a:ln w="1778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17152" y="2331720"/>
            <a:ext cx="2404872" cy="160020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2532888"/>
            <a:ext cx="384048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880360"/>
            <a:ext cx="201168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F4F7FB"/>
                </a:solidFill>
                <a:latin typeface="Arial"/>
              </a:rPr>
              <a:t>Получить прогноз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3319272"/>
            <a:ext cx="1993392" cy="4297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Давление и энергия в исходных единицах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3657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ФАЙЛЫ ПРОЕКТА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800600"/>
            <a:ext cx="5074920" cy="43891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919472"/>
            <a:ext cx="2971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pinn_best_physics.pt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919472"/>
            <a:ext cx="16916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настройки сети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71616" y="4800600"/>
            <a:ext cx="5074920" cy="43891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4919472"/>
            <a:ext cx="2971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normalization.json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4919472"/>
            <a:ext cx="16916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правила пересчёта данных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394960"/>
            <a:ext cx="5074920" cy="43891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513832"/>
            <a:ext cx="2971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comparison_table.csv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513832"/>
            <a:ext cx="16916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8"/>
                </a:solidFill>
                <a:latin typeface="Arial"/>
              </a:rPr>
              <a:t>таблица ошибок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5394960"/>
            <a:ext cx="5074920" cy="438912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5513832"/>
            <a:ext cx="2971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7D2"/>
                </a:solidFill>
                <a:latin typeface="Arial"/>
              </a:rPr>
              <a:t>error_heatmap_scientific.png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5513832"/>
            <a:ext cx="16916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карта качества прогноза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237744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АЛЮМИНИЙ  /  ХАКАТОН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4F7FB"/>
                </a:solidFill>
                <a:latin typeface="Arial"/>
              </a:rPr>
              <a:t>Что проверить перед применением модели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19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157984"/>
            <a:ext cx="5193792" cy="1051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157984"/>
            <a:ext cx="50292" cy="1051560"/>
          </a:xfrm>
          <a:prstGeom prst="rect">
            <a:avLst/>
          </a:prstGeom>
          <a:solidFill>
            <a:srgbClr val="168C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304288"/>
            <a:ext cx="4828031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1 • Новые области условий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60904"/>
            <a:ext cx="4828031" cy="45719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A8B6C8"/>
                </a:solidFill>
                <a:latin typeface="Arial"/>
              </a:rPr>
              <a:t>Проверить на целых файлах, которых сеть не видела при обучении.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157984"/>
            <a:ext cx="5193792" cy="1051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157984"/>
            <a:ext cx="50292" cy="1051560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304288"/>
            <a:ext cx="4828031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4F7FB"/>
                </a:solidFill>
                <a:latin typeface="Arial"/>
              </a:rPr>
              <a:t>2 • Проверка в реальных единицах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60904"/>
            <a:ext cx="4828031" cy="45719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Учесть масштаб плотности, температуры и выходов при проверке правил.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" y="3502152"/>
            <a:ext cx="5193792" cy="1051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3502152"/>
            <a:ext cx="50292" cy="1051560"/>
          </a:xfrm>
          <a:prstGeom prst="rect">
            <a:avLst/>
          </a:prstGeom>
          <a:solidFill>
            <a:srgbClr val="45A9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648456"/>
            <a:ext cx="4828031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3 • Проверить оба ответа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05072"/>
            <a:ext cx="4828031" cy="45719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8"/>
                </a:solidFill>
                <a:latin typeface="Arial"/>
              </a:rPr>
              <a:t>Измерить ошибки давления и энергии в исходных единицах и в процентах.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502152"/>
            <a:ext cx="5193792" cy="1051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502152"/>
            <a:ext cx="50292" cy="1051560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648456"/>
            <a:ext cx="4828031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rial"/>
              </a:rPr>
              <a:t>4 • Проверить границы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005072"/>
            <a:ext cx="4828031" cy="45719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7" b="0" i="0">
                <a:solidFill>
                  <a:srgbClr val="A8B6C8"/>
                </a:solidFill>
                <a:latin typeface="Arial"/>
              </a:rPr>
              <a:t>Проверить крайние значения и выяснить, как меняется результат при усилении правил.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010912"/>
            <a:ext cx="10716768" cy="640080"/>
          </a:xfrm>
          <a:prstGeom prst="roundRect">
            <a:avLst>
              <a:gd name="adj" fmla="val 12000"/>
            </a:avLst>
          </a:prstGeom>
          <a:solidFill>
            <a:srgbClr val="123D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21224"/>
            <a:ext cx="102412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E9F0"/>
                </a:solidFill>
                <a:latin typeface="Arial"/>
              </a:rPr>
              <a:t>Низкий штраф на обучающих примерах показывает, что сеть следует заданным правилам. Это не доказывает полную физическую корректность.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93192"/>
            <a:ext cx="310896" cy="50292"/>
          </a:xfrm>
          <a:prstGeom prst="rect">
            <a:avLst/>
          </a:prstGeom>
          <a:solidFill>
            <a:srgbClr val="00B7C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365760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6C8"/>
                </a:solidFill>
                <a:latin typeface="Arial"/>
              </a:rPr>
              <a:t>АЛЮМИНИЙ  /  ХАКАТОН  /  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20 • 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7315200" cy="18288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7FB"/>
                </a:solidFill>
                <a:latin typeface="Arial"/>
              </a:rPr>
              <a:t>Небольшая модель.
Понятные правила.
Честное сравнение.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886200"/>
            <a:ext cx="749808" cy="50292"/>
          </a:xfrm>
          <a:prstGeom prst="rect">
            <a:avLst/>
          </a:prstGeom>
          <a:solidFill>
            <a:srgbClr val="35C7D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224528"/>
            <a:ext cx="777240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6C8"/>
                </a:solidFill>
                <a:latin typeface="Arial"/>
              </a:rPr>
              <a:t>Мы научили нейросеть предсказывать свойства алюминия и учитывать два правила физики.
Точность важна, но её нужно рассматривать вместе с физическим поведением.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08760"/>
            <a:ext cx="2468880" cy="3337560"/>
          </a:xfrm>
          <a:prstGeom prst="roundRect">
            <a:avLst>
              <a:gd name="adj" fmla="val 12000"/>
            </a:avLst>
          </a:prstGeom>
          <a:solidFill>
            <a:srgbClr val="0B365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874519"/>
            <a:ext cx="1188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B7C7"/>
                </a:solidFill>
                <a:latin typeface="Arial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240280"/>
            <a:ext cx="164592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4F7FB"/>
                </a:solidFill>
                <a:latin typeface="Arial"/>
              </a:rPr>
              <a:t>ρ  •  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40112" y="2715768"/>
            <a:ext cx="0" cy="429768"/>
          </a:xfrm>
          <a:prstGeom prst="line">
            <a:avLst/>
          </a:prstGeom>
          <a:ln w="2540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08592" y="3273552"/>
            <a:ext cx="14630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C7D2"/>
                </a:solidFill>
                <a:latin typeface="Arial"/>
              </a:rPr>
              <a:t>Нейросеть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40112" y="3657600"/>
            <a:ext cx="0" cy="384048"/>
          </a:xfrm>
          <a:prstGeom prst="line">
            <a:avLst/>
          </a:prstGeom>
          <a:ln w="25400">
            <a:solidFill>
              <a:srgbClr val="35C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35440" y="4187952"/>
            <a:ext cx="164592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4F7FB"/>
                </a:solidFill>
                <a:latin typeface="Arial"/>
              </a:rPr>
              <a:t>P  •  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632704"/>
            <a:ext cx="1280160" cy="320040"/>
          </a:xfrm>
          <a:prstGeom prst="roundRect">
            <a:avLst>
              <a:gd name="adj" fmla="val 12000"/>
            </a:avLst>
          </a:prstGeom>
          <a:solidFill>
            <a:srgbClr val="1046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715000"/>
            <a:ext cx="1097280" cy="1554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B7C7"/>
                </a:solidFill>
                <a:latin typeface="Arial"/>
              </a:rPr>
              <a:t>ВОПРОСЫ?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5733288"/>
            <a:ext cx="20116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5C7D2"/>
                </a:solidFill>
                <a:latin typeface="Arial"/>
              </a:rPr>
              <a:t>Спасибо!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285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37960"/>
            <a:ext cx="64008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6C8"/>
                </a:solidFill>
                <a:latin typeface="Arial"/>
              </a:rPr>
              <a:t>НЕЙРОСЕТЬ • СВОЙСТВА АЛЮМИНИЯ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35056" y="6519672"/>
            <a:ext cx="87782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6C8"/>
                </a:solidFill>
                <a:latin typeface="Arial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Нейросеть с правилами физики: свойства алюминия</dc:title>
  <dc:subject>20 слайдов о проекте хакатона простым языком</dc:subject>
  <dc:creator>Команда проекта</dc:creator>
  <cp:keywords>PINN, EOS, алюминий, хакатон, физика, нейросеть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