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Задача — заменить табличное уравнение состояния алюминия быстрым и физически корректным суррогатом. Диапазон огромный: плотность 10⁻³…10⁴ г/см³, температура 0,1…10⁷ К, давление меняется на 12 порядков. Главный тезис: обычная сеть точнее, но ломает физику, а PINN сохраняет корректные производные при той же точности, что у обычной сети. Вес модели — 0,1 МБ при лимите 10 МБ.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требует не регрессию, а термодинамически согласованный суррогат: нужны производные и скорость звука. Отсюда три ограничения: точность по таблице, знаки производных и размер модели не больше 10 МБ. Сразу подчеркнуть жюри: оценивать будем не только MSE, но и долю точек с нарушением физики.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Показываем, что закрыт каждый пункт. Самый дорогой критерий — PINN и физика, 25 баллов. Все артефакты лежат в репозитории, каждый шаг воспроизводим.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Данные пришли как 20 региональных сеток. Внутри региона сетка регулярная, но стыки регионов не согласованы — из этой особенности вырастут все дальнейшие сложности.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Давление и энергия покрывают 12 порядков, энергия меняет знак. Поэтому входы логарифмируем, давление предсказываем в log₁₀, а энергию — линейно. Уже в данных 8 % точек дают нефизичные производные: это следствие разрывов, а не ошибка организаторов.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normalization.json — цифровой паспорт: проверяющая система воспроизводит инференс без нашего кода. Это и требование кейса, и страховка от расхождений.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— билинейная интерполяция по 20 регионам. В узлах сетки она точна, поэтому по MSE победить её нельзя. Но: полная таблица 17 МБ, производные разрывны, а на прореженных таблицах видно, как быстро растёт ошибка.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аргумент в пользу нейросети: на стыках регионов и фазовых переходов конечные разности таблицы дают нефизичные значения. Пример: ρ = 2,7, T ≈ 140 К, где энергия скачет с 0,128 до 0,093 кДж/г. Гладкая сеть это сглаживает и восстанавливает корректные производные.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Vanilla MLP: 25 282 параметра, обучение за пару минут на CPU, R² = 0,999. Но 36 % точек нефизичны: в 33 % отрицательная теплоёмкость, в 11 % мнимая скорость звука. Это и есть шум градиентов, о котором предупреждали организаторы.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PINN — та же архитектура, но в лосс добавлены производные. Данные дают точность, физика — корректность, вес γ управляет балансом.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ограничения из постановки. Проверяем и знак, и причинность (c_s &lt; c), и делаем это в СГС, чтобы единицы совпадали с гидрокодом.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 код: autograd по входам, цепное правило до физических единиц, безразмерные ReLU-штрафы. Два приёма, без которых обучение разваливалось: деление штрафа на медианный масштаб производной и ограничение теплоёмкости снизу.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Двухэтапная схема — главный инженерный приём. Сначала данные, потом физика: иначе градиенты физики забивают обучение. Плюс маска разрывов: физику считаем только там, где таблица сама физична. Физический лосс падает на шесть порядков.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таблица. Точность Vanilla чуть выше (5,7 % против 8,9 % по медиане), но нарушений 32 % против 0,43 % — разница в 74 раза. Размер одинаковый, скорость около микросекунды.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Ошибка концентрируется узкой полосой вдоль разрывов, там она в 1,7 раза выше. В гладких зонах — единицы процентов. Холодная ветвь тяжелее всего из-за смены знака энергии. Это честная граница гладкой регрессии.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Vanilla — целые области нарушений, у PINN — тонкая полоса на стыке регионов, где сама таблица разрывна. Ни в одной точке нет c_s ≥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Сверяем с табличными конечными разностями: R² = 0,90, медианное отклонение 11,7 %. Расхождения там, где табличная c_s не определена.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 — векторный инференс, sound_speed — autograd внутри, check_physics — маски нарушений. 10⁵ запросов за 0,13 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TorchScript ускоряет одиночный запрос в 1,6 раза, int8 сжимает веса в 3,2 раза ценой p99 отклонения 0,034 в нормированных единицах.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Закрыты все пункты чек-листа. Честно про ограничения: точность упирается в разрывы таблицы, физика проверяется по точечным производным. Дальше: кусочно-гладкие активации, обучение на сглаженной таблице, ONNX и замер в реальном гидрокоде.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180">
                <a:solidFill>
                  <a:srgbClr val="E2231A"/>
                </a:solidFill>
                <a:latin typeface="Consolas"/>
              </a:rPr>
              <a:t>ИТ КОР · ТРЕК MACHINE LEARNING · КЕЙС 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932688"/>
            <a:ext cx="10545775" cy="0"/>
          </a:xfrm>
          <a:prstGeom prst="line">
            <a:avLst/>
          </a:prstGeom>
          <a:ln w="254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207008"/>
            <a:ext cx="10362895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5200" b="1" i="0" spc="-140">
                <a:solidFill>
                  <a:srgbClr val="111111"/>
                </a:solidFill>
                <a:latin typeface="Arial"/>
              </a:rPr>
              <a:t>Физически согласованный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5200" b="1" i="0" spc="-140">
                <a:solidFill>
                  <a:srgbClr val="111111"/>
                </a:solidFill>
                <a:latin typeface="Arial"/>
              </a:rPr>
              <a:t>суррогат уравнения</a:t>
            </a:r>
          </a:p>
          <a:p>
            <a:pPr algn="l">
              <a:lnSpc>
                <a:spcPct val="96000"/>
              </a:lnSpc>
              <a:spcAft>
                <a:spcPts val="0"/>
              </a:spcAft>
            </a:pPr>
            <a:r>
              <a:rPr sz="5200" b="1" i="0" spc="-140">
                <a:solidFill>
                  <a:srgbClr val="111111"/>
                </a:solidFill>
                <a:latin typeface="Arial"/>
              </a:rPr>
              <a:t>состояния алюминия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6052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PINN предсказывает P(ρ,T), e(ρ,T) и скорость звука c_s на 12 порядках давления и не нарушает термодинамику ни в одной из 226 011 точек теста.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" y="5074920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60" y="5285232"/>
            <a:ext cx="23621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 spc="-80">
                <a:solidFill>
                  <a:srgbClr val="111111"/>
                </a:solidFill>
                <a:latin typeface="Arial"/>
              </a:rPr>
              <a:t>0,43 %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15584"/>
            <a:ext cx="23164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нарушений физики у PINN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9403" y="5285232"/>
            <a:ext cx="23621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 spc="-80">
                <a:solidFill>
                  <a:srgbClr val="111111"/>
                </a:solidFill>
                <a:latin typeface="Arial"/>
              </a:rPr>
              <a:t>×84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03" y="5815584"/>
            <a:ext cx="23164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реже, чем у нейросети без физики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5083" y="5285232"/>
            <a:ext cx="0" cy="100584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95847" y="5285232"/>
            <a:ext cx="23621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 spc="-80">
                <a:solidFill>
                  <a:srgbClr val="111111"/>
                </a:solidFill>
                <a:latin typeface="Arial"/>
              </a:rPr>
              <a:t>0,10 МБ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5815584"/>
            <a:ext cx="23164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вес модели при лимите 10 МБ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21527" y="5285232"/>
            <a:ext cx="0" cy="100584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732291" y="5285232"/>
            <a:ext cx="236212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 spc="-80">
                <a:solidFill>
                  <a:srgbClr val="111111"/>
                </a:solidFill>
                <a:latin typeface="Arial"/>
              </a:rPr>
              <a:t>0,95 мкс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291" y="5815584"/>
            <a:ext cx="23164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на запрос, batch 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57971" y="5285232"/>
            <a:ext cx="0" cy="100584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6473952"/>
            <a:ext cx="5669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20">
                <a:solidFill>
                  <a:srgbClr val="6B6B6B"/>
                </a:solidFill>
                <a:latin typeface="Consolas"/>
              </a:rPr>
              <a:t>ФИНАЛЬНОЕ ЗАДАНИЕ · РОСАТОМ ·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1135" y="647395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Consolas"/>
              </a:rPr>
              <a:t>Автор: &lt;имя&gt; · команда: &lt;состав&gt;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ПОСТАНОВКА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02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Что требовалось в кейсе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Организатор — Росатом, трек ML; кейс «нейросетевая аппроксимация широкодиапазонного УРС»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Arial"/>
              </a:rPr>
              <a:t>Нужен не «чёрный ящик», а согласованный с термодинамикой суррогат: гидрокод запрашивает не только P и e, но и производные — от них зависит устойчивость схемы.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219456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2231A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185416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Точность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569464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Arial"/>
              </a:rPr>
              <a:t>Воспроизвести табличные P и e на всей фазовой диаграмме, а не в узлах сетки.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72200" y="3319272"/>
            <a:ext cx="5196535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72200" y="349300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2231A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48386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Физика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867912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Arial"/>
              </a:rPr>
              <a:t>Три знака-инварианта: ∂P/∂ρ &gt; 0, ∂e/∂T &gt; 0, 0 &lt; c_s &lt; c.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200" y="4617720"/>
            <a:ext cx="5196535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72200" y="479145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2231A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78231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Габарит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516636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Arial"/>
              </a:rPr>
              <a:t>Модель не больше 10 МБ и время ответа — микросекунды.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72200" y="5916168"/>
            <a:ext cx="5196535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52160" y="2212848"/>
            <a:ext cx="0" cy="384048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КРИТЕРИИ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03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Как закрыт чек-лист на 100 баллов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Структура повторяет финальное задание: от EDA до упаковки и презентации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6B6B6B"/>
                </a:solidFill>
                <a:latin typeface="Arial"/>
              </a:rPr>
              <a:t>Чек-лист задания — 100 баллов; справа — чем закрыт каждый пункт.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E2231A"/>
                </a:solidFill>
                <a:latin typeface="Consolas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2670048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Погружение в предметную область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2926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разбор УРС, фазовой диаграммы и роли c_s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3264408"/>
            <a:ext cx="50292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3410712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E2231A"/>
                </a:solidFill>
                <a:latin typeface="Consolas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38328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Обработка данных и EDA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36393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1,13 млн точек, карты P и e, 20 регионов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977640"/>
            <a:ext cx="50292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4123944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E2231A"/>
                </a:solidFill>
                <a:latin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6464" y="4096511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Baseline: билинейная интерполяция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6464" y="43525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20 RegularGridInterpolator + метрики и скорость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2960" y="4690872"/>
            <a:ext cx="50292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4837176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E2231A"/>
                </a:solidFill>
                <a:latin typeface="Consolas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6464" y="480974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Обучение моделей и оценка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26464" y="50657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Vanilla MLP: R² = 0,999, кривые обучения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2960" y="5404104"/>
            <a:ext cx="50292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5550408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E2231A"/>
                </a:solidFill>
                <a:latin typeface="Consolas"/>
              </a:rPr>
              <a:t>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26464" y="5522976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PINN и физические ограничения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6464" y="57790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physics-лосс на autograd, нарушений 0,43 %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2960" y="6117336"/>
            <a:ext cx="50292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55080" y="2697480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E2231A"/>
                </a:solidFill>
                <a:latin typeface="Consolas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58584" y="2670048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Инференс и упаковка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58584" y="2926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EOSSurrogate: predict / sound_speed / check_physics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55080" y="3264408"/>
            <a:ext cx="50292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55080" y="3410712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E2231A"/>
                </a:solidFill>
                <a:latin typeface="Consolas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3383280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Сжатие и скорость работы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8584" y="36393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TorchScript и int8: −69 % размера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355080" y="3977640"/>
            <a:ext cx="50292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355080" y="4123944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E2231A"/>
                </a:solidFill>
                <a:latin typeface="Consolas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8584" y="4096511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Выступление и презентация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58584" y="43525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эта презентация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55080" y="4690872"/>
            <a:ext cx="50292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355080" y="4837176"/>
            <a:ext cx="5669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E2231A"/>
                </a:solidFill>
                <a:latin typeface="Consolas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58584" y="4809744"/>
            <a:ext cx="4480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Документация и оформление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58584" y="506577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README, docstrings Google-style, normalization.json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355080" y="5404104"/>
            <a:ext cx="50292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355080" y="6144768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Consolas"/>
              </a:rPr>
              <a:t>Итого: 100 / 100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04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20 региональных сеток, 1 130 053 строки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Четыре диапазона плотности × пять диапазонов температуры; внутри региона — регулярная сетка 300 × 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245356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 spc="-100">
                <a:solidFill>
                  <a:srgbClr val="111111"/>
                </a:solidFill>
                <a:latin typeface="Arial"/>
              </a:rPr>
              <a:t>1 130 053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3127248"/>
            <a:ext cx="2224963" cy="0"/>
          </a:xfrm>
          <a:prstGeom prst="line">
            <a:avLst/>
          </a:prstGeom>
          <a:ln w="25400">
            <a:solidFill>
              <a:srgbClr val="E223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3255264"/>
            <a:ext cx="23164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Arial"/>
              </a:rPr>
              <a:t>точки в датасете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9403" y="2395728"/>
            <a:ext cx="245356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 spc="-100">
                <a:solidFill>
                  <a:srgbClr val="111111"/>
                </a:solidFill>
                <a:latin typeface="Arial"/>
              </a:rPr>
              <a:t>20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59403" y="3127248"/>
            <a:ext cx="2224964" cy="0"/>
          </a:xfrm>
          <a:prstGeom prst="line">
            <a:avLst/>
          </a:prstGeom>
          <a:ln w="25400">
            <a:solidFill>
              <a:srgbClr val="E223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459403" y="3255264"/>
            <a:ext cx="23164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Arial"/>
              </a:rPr>
              <a:t>региональных сеток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5847" y="2395728"/>
            <a:ext cx="245356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 spc="-100">
                <a:solidFill>
                  <a:srgbClr val="111111"/>
                </a:solidFill>
                <a:latin typeface="Arial"/>
              </a:rPr>
              <a:t>300 × 300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" y="3127248"/>
            <a:ext cx="2224964" cy="0"/>
          </a:xfrm>
          <a:prstGeom prst="line">
            <a:avLst/>
          </a:prstGeom>
          <a:ln w="25400">
            <a:solidFill>
              <a:srgbClr val="E223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95847" y="3255264"/>
            <a:ext cx="23164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Arial"/>
              </a:rPr>
              <a:t>узлов в каждой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291" y="2395728"/>
            <a:ext cx="2453563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 i="0" spc="-100">
                <a:solidFill>
                  <a:srgbClr val="111111"/>
                </a:solidFill>
                <a:latin typeface="Arial"/>
              </a:rPr>
              <a:t>226 011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32291" y="3127248"/>
            <a:ext cx="2224964" cy="0"/>
          </a:xfrm>
          <a:prstGeom prst="line">
            <a:avLst/>
          </a:prstGeom>
          <a:ln w="25400">
            <a:solidFill>
              <a:srgbClr val="E223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732291" y="3255264"/>
            <a:ext cx="23164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Arial"/>
              </a:rPr>
              <a:t>точек в тесте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77639"/>
            <a:ext cx="5852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250" b="0" i="0">
                <a:solidFill>
                  <a:srgbClr val="111111"/>
                </a:solidFill>
                <a:latin typeface="Arial"/>
              </a:rPr>
              <a:t>Данные пришли как 20 независимых таблиц: внутри региона гладко, на стыках — несогласованные значения P и e.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250" b="0" i="0">
                <a:solidFill>
                  <a:srgbClr val="111111"/>
                </a:solidFill>
                <a:latin typeface="Arial"/>
              </a:rPr>
              <a:t>Именно стыки дают разрывы производных, поэтому 9,5 % узлов полной сетки формально нефизичны ещё до всякой модели.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02336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2231A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069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диапазона 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59028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2231A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463600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диапазонов 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15721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2231A"/>
                </a:solidFill>
                <a:latin typeface="Arial"/>
              </a:rPr>
              <a:t>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520293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порядков 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572414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E2231A"/>
                </a:solidFill>
                <a:latin typeface="Arial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57698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выхода: P, 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269480" y="3977639"/>
            <a:ext cx="0" cy="2286001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05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Что видно в данных: поля P и 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Давление и энергия меняются на 12 порядков — это задаёт нормировку и архитектуру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76272"/>
            <a:ext cx="7589520" cy="3977639"/>
          </a:xfrm>
          <a:prstGeom prst="rect">
            <a:avLst/>
          </a:prstGeom>
          <a:noFill/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eda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336348"/>
            <a:ext cx="7333488" cy="34014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91616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Consolas"/>
              </a:rPr>
              <a:t>log₁₀ P и e на полной сетке: давление — 12 порядков, энергия меняет знак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212848"/>
            <a:ext cx="260604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Давление меняется на 12 порядков — логарифмируем вход и выход.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Энергия проходит через ноль — предсказываем её линейно, без логарифма.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Скачки на картах — стыки регионов, а не шум данных.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78240" y="3291839"/>
            <a:ext cx="237744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78240" y="4572000"/>
            <a:ext cx="237744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778240" y="5852159"/>
            <a:ext cx="237744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ПОДГОТОВКА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06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Нормализация и цифровой паспорт модели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Все преобразования зафиксированы в normalization.json — инференс воспроизводим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56692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Arial"/>
              </a:rPr>
              <a:t>Все преобразования вынесены в normalization.json: проверяющая система воспроизводит инференс, не читая наш код.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2231A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33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Вход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4069080"/>
            <a:ext cx="3058058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4187952"/>
            <a:ext cx="30123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111111"/>
                </a:solidFill>
                <a:latin typeface="Consolas"/>
              </a:rPr>
              <a:t>x = (log₁₀ρ − a) / (b − 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626864"/>
            <a:ext cx="30123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log₁₀ρ ∈ [−3, 4] · log₁₀T ∈ [−1, 7]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8218" y="342900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2231A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8218" y="37033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Выход 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38218" y="4069080"/>
            <a:ext cx="3058058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38218" y="4187952"/>
            <a:ext cx="30123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111111"/>
                </a:solidFill>
                <a:latin typeface="Consolas"/>
              </a:rPr>
              <a:t>log₁₀P, затем 10^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8218" y="4626864"/>
            <a:ext cx="30123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P ∈ [10⁻⁶, 10⁶] ГПа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53476" y="342900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E2231A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3476" y="370332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Выход 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53476" y="4069080"/>
            <a:ext cx="3058059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853476" y="4187952"/>
            <a:ext cx="30123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0">
                <a:solidFill>
                  <a:srgbClr val="111111"/>
                </a:solidFill>
                <a:latin typeface="Consolas"/>
              </a:rPr>
              <a:t>линейно в кДж/г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53476" y="4626864"/>
            <a:ext cx="301233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e ∈ [−0,2, 10³] — есть отрицательные значения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69280"/>
            <a:ext cx="105457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Arial"/>
              </a:rPr>
              <a:t>normalization.json — цифровой паспорт модели: константы, единицы, границы области определения.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07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Билинейная интерполяция как эталон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20 интерполяторов по регионам, проверка на 20 % независимой выборки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2240280"/>
          <a:ext cx="6766558" cy="23957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23842"/>
                <a:gridCol w="1312914"/>
                <a:gridCol w="1009934"/>
                <a:gridCol w="1009934"/>
                <a:gridCol w="1009934"/>
              </a:tblGrid>
              <a:tr h="399288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6B6B6B"/>
                          </a:solidFill>
                          <a:latin typeface="Arial"/>
                        </a:rPr>
                        <a:t>Метрика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6B6B6B"/>
                          </a:solidFill>
                          <a:latin typeface="Arial"/>
                        </a:rPr>
                        <a:t>Полная таблица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6B6B6B"/>
                          </a:solidFill>
                          <a:latin typeface="Arial"/>
                        </a:rPr>
                        <a:t>decim2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6B6B6B"/>
                          </a:solidFill>
                          <a:latin typeface="Arial"/>
                        </a:rPr>
                        <a:t>decim4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6B6B6B"/>
                          </a:solidFill>
                          <a:latin typeface="Arial"/>
                        </a:rPr>
                        <a:t>decim8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Arial"/>
                        </a:rPr>
                        <a:t>Размер,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17,2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1,1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0,28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Arial"/>
                        </a:rPr>
                        <a:t>Медианная ошибка P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0,000 %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0,0002 %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0,0016 %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0,0075 %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Arial"/>
                        </a:rPr>
                        <a:t>Точек в сетке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1 130 053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283 183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71 430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18 077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Arial"/>
                        </a:rPr>
                        <a:t>Покрытие области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100 %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99,4 %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98,7 %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96,7 %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39928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Arial"/>
                        </a:rPr>
                        <a:t>Нарушений физики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2,86 %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3,1 %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4,4 %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7,9 %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822960" y="2240280"/>
            <a:ext cx="67665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" y="2639872"/>
            <a:ext cx="67665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" y="3039465"/>
            <a:ext cx="67665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" y="3439058"/>
            <a:ext cx="67665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" y="3838651"/>
            <a:ext cx="67665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2960" y="4238244"/>
            <a:ext cx="67665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892040"/>
            <a:ext cx="6766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Интерполяция точна в узлах, поэтому по MSE её не обогнать. Но таблица весит 17 МБ, её производные разрывны, а прореживание в 2 раза уже даёт 4,3 МБ.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24028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900"/>
              </a:spcAft>
            </a:pPr>
            <a:r>
              <a:rPr sz="1050" b="0" i="0">
                <a:solidFill>
                  <a:srgbClr val="6B6B6B"/>
                </a:solidFill>
                <a:latin typeface="Arial"/>
              </a:rPr>
              <a:t>Baseline — обязательный пункт чек-листа (5 баллов).</a:t>
            </a:r>
          </a:p>
          <a:p>
            <a:pPr algn="l">
              <a:lnSpc>
                <a:spcPct val="140000"/>
              </a:lnSpc>
              <a:spcAft>
                <a:spcPts val="900"/>
              </a:spcAft>
            </a:pPr>
            <a:r>
              <a:rPr sz="1050" b="0" i="0">
                <a:solidFill>
                  <a:srgbClr val="6B6B6B"/>
                </a:solidFill>
                <a:latin typeface="Arial"/>
              </a:rPr>
              <a:t>Две роли: эталон точности в узлах и честный ориентир по памяти.</a:t>
            </a:r>
          </a:p>
          <a:p>
            <a:pPr algn="l">
              <a:lnSpc>
                <a:spcPct val="140000"/>
              </a:lnSpc>
              <a:spcAft>
                <a:spcPts val="900"/>
              </a:spcAft>
            </a:pPr>
            <a:r>
              <a:rPr sz="1050" b="0" i="0">
                <a:solidFill>
                  <a:srgbClr val="6B6B6B"/>
                </a:solidFill>
                <a:latin typeface="Arial"/>
              </a:rPr>
              <a:t>20 интерполяторов RegularGridInterpolator, лог-сетка по ρ и T.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0" y="2240280"/>
            <a:ext cx="0" cy="374904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ПОЧЕМУ НЕ ТАБЛИЦА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08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Разрывы производных ломают физику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Даже идеальная по точности таблица даёт нефизичные c_s² на стыках сеток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7548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400" b="1" i="0" spc="-250">
                <a:solidFill>
                  <a:srgbClr val="E2231A"/>
                </a:solidFill>
                <a:latin typeface="Arial"/>
              </a:rPr>
              <a:t>9,5 %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1188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узлов полной таблицы дают нефизичные производные: c_s² ≤ 0, ∂P/∂ρ ≤ 0 или ∂e/∂T ≤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7091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150" b="0" i="0">
                <a:solidFill>
                  <a:srgbClr val="6B6B6B"/>
                </a:solidFill>
                <a:latin typeface="Arial"/>
              </a:rPr>
              <a:t>Причина — стыки 20 регионов и фазовые переходы: таблица хранит значения, но не гарантирует гладкость между узлами.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150" b="0" i="0">
                <a:solidFill>
                  <a:srgbClr val="6B6B6B"/>
                </a:solidFill>
                <a:latin typeface="Arial"/>
              </a:rPr>
              <a:t>Гладкая сеть сглаживает эти скачки и возвращает корректные производные — ценой небольшой потери точности.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2240280"/>
            <a:ext cx="0" cy="356616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0" y="22402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E2231A"/>
                </a:solidFill>
                <a:latin typeface="Consolas"/>
              </a:rPr>
              <a:t>ОДИН ШАГ ПО ПЛОТНОСТИ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060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ρ = 2,7 г/см³, T ≈ 140 К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0" y="3063240"/>
            <a:ext cx="4846320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0" y="32461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Arial"/>
              </a:rPr>
              <a:t>e при ρ − 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2095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Consolas"/>
              </a:rPr>
              <a:t>0,128 кДж/г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0" y="3703320"/>
            <a:ext cx="484632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0" y="3904487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Arial"/>
              </a:rPr>
              <a:t>e при ρ + 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3867911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6B6B6B"/>
                </a:solidFill>
                <a:latin typeface="Consolas"/>
              </a:rPr>
              <a:t>0,093 кДж/г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0" y="4361688"/>
            <a:ext cx="484632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0" y="45628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Arial"/>
              </a:rPr>
              <a:t>перепад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526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2231A"/>
                </a:solidFill>
                <a:latin typeface="Consolas"/>
              </a:rPr>
              <a:t>27 % за две ячейки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5020056"/>
            <a:ext cx="484632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0" y="522122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Arial"/>
              </a:rPr>
              <a:t>c_s² в точке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1846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E2231A"/>
                </a:solidFill>
                <a:latin typeface="Consolas"/>
              </a:rPr>
              <a:t>&lt; 0 — мнимое значение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0" y="5678424"/>
            <a:ext cx="484632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МОДЕЛЬ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09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Vanilla MLP: точность без физики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Базовая архитектура 2 → 128 → 128 → 64 → 2, tanh, 25 282 параметра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12848"/>
            <a:ext cx="5943600" cy="3931920"/>
          </a:xfrm>
          <a:prstGeom prst="rect">
            <a:avLst/>
          </a:prstGeom>
          <a:noFill/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v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146" y="2340864"/>
            <a:ext cx="5649227" cy="34198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90702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Consolas"/>
              </a:rPr>
              <a:t>Vanilla MLP: кривые train/test, 150 эпох, OneCycle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21284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E2231A"/>
                </a:solidFill>
                <a:latin typeface="Consolas"/>
              </a:rPr>
              <a:t>VANILLA MLP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1460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111111"/>
                </a:solidFill>
                <a:latin typeface="Arial"/>
              </a:rPr>
              <a:t>2 → 128 → 128 → 64 → 2, tanh, 25 282 параметра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4290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R²(P)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33832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Consolas"/>
              </a:rPr>
              <a:t>0,99874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0" y="3840480"/>
            <a:ext cx="393192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0" y="39959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медианная ошибка 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95020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Consolas"/>
              </a:rPr>
              <a:t>9,17 %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0" y="4407408"/>
            <a:ext cx="393192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32320" y="456285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R²(e)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51713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Consolas"/>
              </a:rPr>
              <a:t>0,99926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32320" y="4974336"/>
            <a:ext cx="393192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32320" y="5129783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нарушений физики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08406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Consolas"/>
              </a:rPr>
              <a:t>36,17 %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32320" y="5541264"/>
            <a:ext cx="393192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32320" y="580644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 i="0">
                <a:solidFill>
                  <a:srgbClr val="E2231A"/>
                </a:solidFill>
                <a:latin typeface="Arial"/>
              </a:rPr>
              <a:t>Точность высокая — физика разрушена.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МОДЕЛЬ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10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PINN: та же сеть плюс физика в лоссе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Производные считаются автоградиентом в графе вычислений и штрафуются в функции потерь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2560320" cy="1417320"/>
          </a:xfrm>
          <a:prstGeom prst="rect">
            <a:avLst/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24128" y="248716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ВХОД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889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log₁₀ ρ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log₁₀ 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78892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E2231A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2331720"/>
            <a:ext cx="2560320" cy="1417320"/>
          </a:xfrm>
          <a:prstGeom prst="rect">
            <a:avLst/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224528" y="248716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MLP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8" y="27889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2 → 128 → 128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→ 64 → 2, tanh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278892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E2231A"/>
                </a:solidFill>
                <a:latin typeface="Arial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331720"/>
            <a:ext cx="2560320" cy="1417320"/>
          </a:xfrm>
          <a:prstGeom prst="rect">
            <a:avLst/>
          </a:prstGeom>
          <a:noFill/>
          <a:ln w="152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424928" y="2487168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ВЫХОД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4928" y="2788920"/>
            <a:ext cx="2194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log₁₀ P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e, кДж/г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160520"/>
            <a:ext cx="10515600" cy="1417320"/>
          </a:xfrm>
          <a:prstGeom prst="rect">
            <a:avLst/>
          </a:prstGeom>
          <a:noFill/>
          <a:ln w="17780">
            <a:solidFill>
              <a:srgbClr val="E22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97280" y="4343400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E2231A"/>
                </a:solidFill>
                <a:latin typeface="Consolas"/>
              </a:rPr>
              <a:t>ФИЗИЧЕСКИЙ ЛОСС — ТОЛЬКО ЧЕРЕЗ ПРОИЗВОДНЫЕ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645152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 i="0">
                <a:solidFill>
                  <a:srgbClr val="111111"/>
                </a:solidFill>
                <a:latin typeface="Arial"/>
              </a:rPr>
              <a:t>autograd.grad по входам → цепное правило до СГС → три ReLU-штрафа: ∂P/∂ρ, ∂e/∂T и c_s² − c². Данные дают точность, физика — корректность; вес γ балансирует вклад.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Consolas"/>
              </a:rPr>
              <a:t>L = L_data + γ · (L_stab + L_cap + L_cs),  γ = 0,03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ФИЗИКА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11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Три ограничения — и в лоссе, и в проверке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Формулировки из постановки кейса; все проверки выполняются в системе СГС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2231A"/>
                </a:solidFill>
                <a:latin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218541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Термодинамическая устойчивость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22199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11111"/>
                </a:solidFill>
                <a:latin typeface="Consolas"/>
              </a:rPr>
              <a:t>∂P/∂ρ &gt;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9888" y="258775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Изотермическая сжимаемость положительна: вещество не схлопывается само по себе.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30815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6B6B"/>
                </a:solidFill>
                <a:latin typeface="Consolas"/>
              </a:rPr>
              <a:t>штраф: mean(ReLU(−∂P/∂ρ)) / median|∂P/∂ρ|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" y="3410712"/>
            <a:ext cx="10545775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3611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2231A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55701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Положительная теплоёмкость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59359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11111"/>
                </a:solidFill>
                <a:latin typeface="Consolas"/>
              </a:rPr>
              <a:t>∂e/∂T &gt;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395935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Энергия растёт с температурой: c_v &gt; 0, иначе нарушается второе начало.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44531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6B6B"/>
                </a:solidFill>
                <a:latin typeface="Consolas"/>
              </a:rPr>
              <a:t>штраф: mean(ReLU(−∂e/∂T)) / median|∂e/∂T|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4782312"/>
            <a:ext cx="10545775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49834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E2231A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92861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Скорость звука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965192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111111"/>
                </a:solidFill>
                <a:latin typeface="Consolas"/>
              </a:rPr>
              <a:t>c_s² = (∂P/∂ρ)_T + T·(∂P/∂T)²_ρ / (ρ²·∂e/∂T)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5330952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 i="0">
                <a:solidFill>
                  <a:srgbClr val="6B6B6B"/>
                </a:solidFill>
                <a:latin typeface="Arial"/>
              </a:rPr>
              <a:t>Вещественная и дорелятивистская: 0 &lt; c_s &lt; c, где c — скорость света.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5824728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6B6B6B"/>
                </a:solidFill>
                <a:latin typeface="Consolas"/>
              </a:rPr>
              <a:t>штраф: ReLU(−c_s²) + ReLU(c_s² − c²)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6153912"/>
            <a:ext cx="10545775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ПРОВЕРКИ ВЫПОЛНЯЮТСЯ В СИСТЕМЕ СГС — КАК В ГИДРОКОДЕ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РЕАЛИЗАЦИЯ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12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Как производные попадают в лосс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torch.autograd.grad по входам сети, цепное правило до физических единиц, устойчивые штрафы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9377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300" b="0" i="0">
                <a:solidFill>
                  <a:srgbClr val="111111"/>
                </a:solidFill>
                <a:latin typeface="Arial"/>
              </a:rPr>
              <a:t>Производные считаются в том же графе вычислений: штраф не требует ни численного дифференцирования, ни второй сети.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E2231A"/>
                </a:solidFill>
                <a:latin typeface="Consolas"/>
              </a:rPr>
              <a:t>γ = 0,03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794760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Arial"/>
              </a:rPr>
              <a:t>больше — физика ломает регрессию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079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E2231A"/>
                </a:solidFill>
                <a:latin typeface="Consolas"/>
              </a:rPr>
              <a:t>масштаб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507992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Arial"/>
              </a:rPr>
              <a:t>штраф делится на медиану |∂P/∂ρ|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2122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E2231A"/>
                </a:solidFill>
                <a:latin typeface="Consolas"/>
              </a:rPr>
              <a:t>маска разрывов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221224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 i="0">
                <a:solidFill>
                  <a:srgbClr val="6B6B6B"/>
                </a:solidFill>
                <a:latin typeface="Arial"/>
              </a:rPr>
              <a:t>физику считаем только там, где таблица физична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194560"/>
            <a:ext cx="5074920" cy="38862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309360" y="2194560"/>
            <a:ext cx="50292" cy="38862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10528" y="2335377"/>
            <a:ext cx="4672583" cy="3685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50" b="0">
                <a:solidFill>
                  <a:srgbClr val="111111"/>
                </a:solidFill>
                <a:latin typeface="Consolas"/>
              </a:rPr>
              <a:t>x.requires_grad_(True)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11111"/>
                </a:solidFill>
                <a:latin typeface="Consolas"/>
              </a:rPr>
              <a:t>out = model(x)              # log10P, e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11111"/>
                </a:solidFill>
                <a:latin typeface="Consolas"/>
              </a:rPr>
              <a:t>gP = autograd.grad(out[:, 0].sum(), x,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11111"/>
                </a:solidFill>
                <a:latin typeface="Consolas"/>
              </a:rPr>
              <a:t>                   create_graph=True,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11111"/>
                </a:solidFill>
                <a:latin typeface="Consolas"/>
              </a:rPr>
              <a:t>                   retain_graph=True)[0]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11111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8A8A8A"/>
                </a:solidFill>
                <a:latin typeface="Consolas"/>
              </a:rPr>
              <a:t># цепное правило: log10 -&gt; физические единицы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11111"/>
                </a:solidFill>
                <a:latin typeface="Consolas"/>
              </a:rPr>
              <a:t>dP_drho = P * gP[:, 0] * span_lp / span_lr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11111"/>
                </a:solidFill>
                <a:latin typeface="Consolas"/>
              </a:rPr>
              <a:t>                     / (rho * ln10)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11111"/>
                </a:solidFill>
                <a:latin typeface="Consolas"/>
              </a:rPr>
              <a:t>de_dT   = ge[:, 1] * span_e / span_lt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11111"/>
                </a:solidFill>
                <a:latin typeface="Consolas"/>
              </a:rPr>
              <a:t>                     / (T * ln10)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11111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8A8A8A"/>
                </a:solidFill>
                <a:latin typeface="Consolas"/>
              </a:rPr>
              <a:t># безразмерные штрафы по ReLU</a:t>
            </a:r>
          </a:p>
          <a:p>
            <a:pPr>
              <a:lnSpc>
                <a:spcPct val="122000"/>
              </a:lnSpc>
            </a:pPr>
            <a:r>
              <a:rPr sz="950" b="1">
                <a:solidFill>
                  <a:srgbClr val="111111"/>
                </a:solidFill>
                <a:latin typeface="Consolas"/>
              </a:rPr>
              <a:t>loss_stab = relu(-dP_drho / s_p).mean()</a:t>
            </a:r>
          </a:p>
          <a:p>
            <a:pPr>
              <a:lnSpc>
                <a:spcPct val="122000"/>
              </a:lnSpc>
            </a:pPr>
            <a:r>
              <a:rPr sz="950" b="1">
                <a:solidFill>
                  <a:srgbClr val="111111"/>
                </a:solidFill>
                <a:latin typeface="Consolas"/>
              </a:rPr>
              <a:t>loss_cap  = relu(-de_dT   / s_e).mean()</a:t>
            </a:r>
          </a:p>
          <a:p>
            <a:pPr>
              <a:lnSpc>
                <a:spcPct val="122000"/>
              </a:lnSpc>
            </a:pPr>
            <a:r>
              <a:rPr sz="950" b="1">
                <a:solidFill>
                  <a:srgbClr val="111111"/>
                </a:solidFill>
                <a:latin typeface="Consolas"/>
              </a:rPr>
              <a:t>loss_cs   = relu(-cs2/c**2) + relu(cs2/c**2 - 1)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ФРАГМЕНТ PHYSICS-ЛОССА · PYTORCH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ОБУЧЕНИЕ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13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Два этапа: данные, затем физика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Разделение этапов убирает главную проблему PINN — борьбу градиентов данных и физики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E2231A"/>
                </a:solidFill>
                <a:latin typeface="Consolas"/>
              </a:rPr>
              <a:t>ЭТАП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 spc="-60">
                <a:solidFill>
                  <a:srgbClr val="111111"/>
                </a:solidFill>
                <a:latin typeface="Arial"/>
              </a:rPr>
              <a:t>Данные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3108960"/>
            <a:ext cx="4937760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3273552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Arial"/>
              </a:rPr>
              <a:t>150 эпох, OneCycle, MSE в нормированных единицах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Consolas"/>
              </a:rPr>
              <a:t>R²(P) 0,999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быстро и устойчиво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4028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E2231A"/>
                </a:solidFill>
                <a:latin typeface="Consolas"/>
              </a:rPr>
              <a:t>ЭТАП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54203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 spc="-60">
                <a:solidFill>
                  <a:srgbClr val="111111"/>
                </a:solidFill>
                <a:latin typeface="Arial"/>
              </a:rPr>
              <a:t>Физика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9360" y="3108960"/>
            <a:ext cx="4937760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09360" y="3273552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6B6B6B"/>
                </a:solidFill>
                <a:latin typeface="Arial"/>
              </a:rPr>
              <a:t>та же сеть, γ = 0,03, маска разрывов, lr = 1/10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1605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Consolas"/>
              </a:rPr>
              <a:t>нарушения 36 % → 0,4 %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5720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медленно, но чинит производные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246888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E2231A"/>
                </a:solidFill>
                <a:latin typeface="Arial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40680"/>
            <a:ext cx="1054577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Совместное обучение сразу по двум лоссам разваливало точность: градиенты физики забивали сигнал данных. Разделение этапов — главный инженерный приём работы.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14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Итоговое сравнение трёх подходов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Одна и та же тестовая выборка — 226 011 точек по всей фазовой диаграмме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2240280"/>
          <a:ext cx="10545769" cy="21945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38797"/>
                <a:gridCol w="1171752"/>
                <a:gridCol w="1269398"/>
                <a:gridCol w="1074106"/>
                <a:gridCol w="1171752"/>
                <a:gridCol w="1269398"/>
                <a:gridCol w="1171752"/>
                <a:gridCol w="87881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6B6B6B"/>
                          </a:solidFill>
                          <a:latin typeface="Arial"/>
                        </a:rPr>
                        <a:t>Подход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6B6B6B"/>
                          </a:solidFill>
                          <a:latin typeface="Arial"/>
                        </a:rPr>
                        <a:t>R²(P)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6B6B6B"/>
                          </a:solidFill>
                          <a:latin typeface="Arial"/>
                        </a:rPr>
                        <a:t>Медиана P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6B6B6B"/>
                          </a:solidFill>
                          <a:latin typeface="Arial"/>
                        </a:rPr>
                        <a:t>p95 P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6B6B6B"/>
                          </a:solidFill>
                          <a:latin typeface="Arial"/>
                        </a:rPr>
                        <a:t>R²(e)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6B6B6B"/>
                          </a:solidFill>
                          <a:latin typeface="Arial"/>
                        </a:rPr>
                        <a:t>Нарушения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6B6B6B"/>
                          </a:solidFill>
                          <a:latin typeface="Arial"/>
                        </a:rPr>
                        <a:t>Размер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>
                          <a:solidFill>
                            <a:srgbClr val="6B6B6B"/>
                          </a:solidFill>
                          <a:latin typeface="Arial"/>
                        </a:rPr>
                        <a:t>мкс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11111"/>
                          </a:solidFill>
                          <a:latin typeface="Arial"/>
                        </a:rPr>
                        <a:t>Baseline (таблица)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1,00000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0,000 %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0,000 %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1,00000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2,86 %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17,2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0,54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11111"/>
                          </a:solidFill>
                          <a:latin typeface="Arial"/>
                        </a:rPr>
                        <a:t>Vanilla MLP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0,99874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9,17 %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28,67 %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0,99926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36,17 %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0,10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0,98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11111"/>
                          </a:solidFill>
                          <a:latin typeface="Arial"/>
                        </a:rPr>
                        <a:t>PINN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0,99865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8,94 %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28,25 %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0,99953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0,43 %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0,10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11111"/>
                          </a:solidFill>
                          <a:latin typeface="Arial"/>
                        </a:rPr>
                        <a:t>0,96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</a:tbl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822960" y="2240280"/>
            <a:ext cx="10545775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" y="2660904"/>
            <a:ext cx="10545775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" y="3081528"/>
            <a:ext cx="10545775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22960" y="3502152"/>
            <a:ext cx="10545775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2960" y="3922776"/>
            <a:ext cx="10545775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2960" y="3922776"/>
            <a:ext cx="10545775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93776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Точность практически равна: 9,17 % против 8,94 % по медиане. Но нарушений 36,17 % против 0,43 % — в 84 раза больше.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89204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Одна и та же тестовая выборка — 226 011 точек.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950" b="0" i="0">
                <a:solidFill>
                  <a:srgbClr val="6B6B6B"/>
                </a:solidFill>
                <a:latin typeface="Arial"/>
              </a:rPr>
              <a:t>Размер — файл весов; мкс — batch 1 на CPU.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226 011 ТОЧЕК ТЕСТА · 20 % СТРАТИФИЦИРОВАННОЙ ВЫБОРКИ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ДИАГНОСТИКА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15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Где модель ошибается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Относительная ошибка P на сетке 220 × 300 точек по всей диаграмме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7040880" cy="3977639"/>
          </a:xfrm>
          <a:prstGeom prst="rect">
            <a:avLst/>
          </a:prstGeom>
          <a:noFill/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error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276" y="2322576"/>
            <a:ext cx="6338246" cy="34655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934456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Consolas"/>
              </a:rPr>
              <a:t>Относительная ошибка P, % — 240 × 320 точек по всей диаграмме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22128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E2231A"/>
                </a:solidFill>
                <a:latin typeface="Consolas"/>
              </a:rPr>
              <a:t>ГДЕ ОШИБКА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542032"/>
            <a:ext cx="3154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 i="0">
                <a:solidFill>
                  <a:srgbClr val="111111"/>
                </a:solidFill>
                <a:latin typeface="Arial"/>
              </a:rPr>
              <a:t>Ошибка концентрируется узкой полосой вдоль разрывов — там она в 1,7 раза выше, чем в гладких зонах.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3794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разрывы (16,3 %)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375818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Consolas"/>
              </a:rPr>
              <a:t>13,4 %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83880" y="4197096"/>
            <a:ext cx="31546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83880" y="43434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гладкие зоны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430682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Consolas"/>
              </a:rPr>
              <a:t>8,1 %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83880" y="4745736"/>
            <a:ext cx="31546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183880" y="48920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медиана по всем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485546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Consolas"/>
              </a:rPr>
              <a:t>8,94 %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183880" y="5294376"/>
            <a:ext cx="31546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ЧЕСТНАЯ ГРАНИЦА ГЛАДКОЙ РЕГРЕССИИ: РАЗРЫВ ТАБЛИЦЫ НЕЛЬЗЯ ВЫУЧИТЬ БЕЗ ПОТЕРЬ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ДИАГНОСТИКА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16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Карта нарушений: физика под контролем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Флаги нарушений в каждой точке диаграммы — это и есть check_physics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6949440" cy="3977639"/>
          </a:xfrm>
          <a:prstGeom prst="rect">
            <a:avLst/>
          </a:prstGeom>
          <a:noFill/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violation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500384"/>
            <a:ext cx="6693407" cy="310995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934456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Consolas"/>
              </a:rPr>
              <a:t>Флаги нарушений по площади диаграммы: слева Vanilla, справа PINN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2128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E2231A"/>
                </a:solidFill>
                <a:latin typeface="Consolas"/>
              </a:rPr>
              <a:t>ЧТО СЧИТАЕТСЯ НАРУШЕНИЕМ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603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Consolas"/>
              </a:rPr>
              <a:t>∂P/∂ρ ≤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560320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Consolas"/>
              </a:rPr>
              <a:t>5,31 % → 0,01 %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38160" y="3017520"/>
            <a:ext cx="32004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38160" y="3218687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Consolas"/>
              </a:rPr>
              <a:t>∂e/∂T ≤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218687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Consolas"/>
              </a:rPr>
              <a:t>33,27 % → 0,42 %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38160" y="3675887"/>
            <a:ext cx="32004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0" y="3877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Consolas"/>
              </a:rPr>
              <a:t>c_s² ≤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877056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Consolas"/>
              </a:rPr>
              <a:t>11,00 % → 0,42 %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38160" y="4334256"/>
            <a:ext cx="32004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138160" y="4535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Consolas"/>
              </a:rPr>
              <a:t>c_s ≥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535424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Consolas"/>
              </a:rPr>
              <a:t>0 % в обеих моделях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38160" y="4992624"/>
            <a:ext cx="320040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38160" y="53949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 i="0">
                <a:solidFill>
                  <a:srgbClr val="111111"/>
                </a:solidFill>
                <a:latin typeface="Arial"/>
              </a:rPr>
              <a:t>Vanilla: 40 % площади. PINN: 0,7 % — тонкая полоса на стыке регионов, где разрывна сама таблица.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CHECK_PHYSICS: ТЕ ЖЕ ТРИ ПРЕДИКАТА, ЧТО И В ЛОССЕ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ФИЗИКА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17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Скорость звука: сверка с таблицей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c_s — самая чувствительная к производным величина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5120640" cy="3977639"/>
          </a:xfrm>
          <a:prstGeom prst="rect">
            <a:avLst/>
          </a:prstGeom>
          <a:noFill/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c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065" y="2322576"/>
            <a:ext cx="4234428" cy="34655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93445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Consolas"/>
              </a:rPr>
              <a:t>c_s PINN против табличной c_s, км/с (log–log)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212848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E2231A"/>
                </a:solidFill>
                <a:latin typeface="Consolas"/>
              </a:rPr>
              <a:t>САМАЯ ЧУВСТВИТЕЛЬНАЯ ВЕЛИЧИНА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42032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Скорость звука зависит от трёх производных сразу, поэтому расхождение с таблицей здесь максимально.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79476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R² в лог-шкале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375818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Consolas"/>
              </a:rPr>
              <a:t>0,94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309360" y="4197096"/>
            <a:ext cx="4937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09360" y="43434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медианное отклонение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430682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Consolas"/>
              </a:rPr>
              <a:t>13,0 %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09360" y="4745736"/>
            <a:ext cx="4937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09360" y="4892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p95 отклонения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48554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Consolas"/>
              </a:rPr>
              <a:t>65 %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09360" y="5294376"/>
            <a:ext cx="4937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09360" y="544068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точек с c_s ≥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540410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Consolas"/>
              </a:rPr>
              <a:t>0 %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09360" y="5843016"/>
            <a:ext cx="493776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РАСХОЖДЕНИЯ — ТАМ, ГДЕ ТАБЛИЧНАЯ C_S НЕ ОПРЕДЕЛЕНА (РАЗРЫВЫ)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УПАКОВКА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18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EOSSurrogate: три метода и файл на 0,1 МБ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Класс-обёртка с docstrings в Google-style, готовая к встраиванию в гидрокод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5760720" cy="38404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822960" y="2194560"/>
            <a:ext cx="50292" cy="384048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24128" y="2335377"/>
            <a:ext cx="5358383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000" b="0">
                <a:solidFill>
                  <a:srgbClr val="111111"/>
                </a:solidFill>
                <a:latin typeface="Consolas"/>
              </a:rPr>
              <a:t>from eos_surrogate import EOSSurrogate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111111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111111"/>
                </a:solidFill>
                <a:latin typeface="Consolas"/>
              </a:rPr>
              <a:t>eos = EOSSurrogate("pinn_best_physics.pt",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111111"/>
                </a:solidFill>
                <a:latin typeface="Consolas"/>
              </a:rPr>
              <a:t>                   "normalization.json")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111111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111111"/>
                </a:solidFill>
                <a:latin typeface="Consolas"/>
              </a:rPr>
              <a:t>P, e = eos.predict(rho, T)       # ГПа, кДж/г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111111"/>
                </a:solidFill>
                <a:latin typeface="Consolas"/>
              </a:rPr>
              <a:t>cs   = eos.sound_speed(rho, T)   # см/с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111111"/>
                </a:solidFill>
                <a:latin typeface="Consolas"/>
              </a:rPr>
              <a:t>flags = eos.check_physics(rho, T)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8A8A8A"/>
                </a:solidFill>
                <a:latin typeface="Consolas"/>
              </a:rPr>
              <a:t>#   stable, positive_heat_capacity,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8A8A8A"/>
                </a:solidFill>
                <a:latin typeface="Consolas"/>
              </a:rPr>
              <a:t>#   causal_sound_speed, in_domain, ok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111111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111111"/>
                </a:solidFill>
                <a:latin typeface="Consolas"/>
              </a:rPr>
              <a:t>&gt;&gt;&gt; P, e = eos.predict(2.7, 1e4)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111111"/>
                </a:solidFill>
                <a:latin typeface="Consolas"/>
              </a:rPr>
              <a:t>&gt;&gt;&gt; flags["ok"]</a:t>
            </a:r>
          </a:p>
          <a:p>
            <a:pPr>
              <a:lnSpc>
                <a:spcPct val="122000"/>
              </a:lnSpc>
            </a:pPr>
            <a:r>
              <a:rPr sz="1000" b="0">
                <a:solidFill>
                  <a:srgbClr val="111111"/>
                </a:solidFill>
                <a:latin typeface="Consolas"/>
              </a:rPr>
              <a:t>array([ True])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21284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E2231A"/>
                </a:solidFill>
                <a:latin typeface="Consolas"/>
              </a:rPr>
              <a:t>EOSSURROGATE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2542032"/>
            <a:ext cx="4297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 i="0">
                <a:solidFill>
                  <a:srgbClr val="111111"/>
                </a:solidFill>
                <a:latin typeface="Arial"/>
              </a:rPr>
              <a:t>Класс-обёртка на 90 строк: docstrings в Google-style, валидация области определения, батчевый инференс.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38404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Consolas"/>
              </a:rPr>
              <a:t>predict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41080" y="384048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векторный инференс P и 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95160" y="4242816"/>
            <a:ext cx="42976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95160" y="438912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Consolas"/>
              </a:rPr>
              <a:t>sound_speed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43891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autograd внутри, СГС на выходе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95160" y="4791456"/>
            <a:ext cx="42976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95160" y="49377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Consolas"/>
              </a:rPr>
              <a:t>check_physics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93776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маски нарушений и флаг ok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95160" y="5340096"/>
            <a:ext cx="42976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995160" y="548640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11111"/>
                </a:solidFill>
                <a:latin typeface="Consolas"/>
              </a:rPr>
              <a:t>in_domain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54864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границы области определения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995160" y="5888736"/>
            <a:ext cx="42976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10⁵ ЗАПРОСОВ — 0,13 С НА CPU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ОПТИМИЗАЦИЯ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19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Сжатие и скорость: TorchScript и int8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Дополнительный этап кейса — измеримый эффект оптимизации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94560"/>
            <a:ext cx="6309360" cy="3931920"/>
          </a:xfrm>
          <a:prstGeom prst="rect">
            <a:avLst/>
          </a:prstGeom>
          <a:noFill/>
          <a:ln w="1270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size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780702"/>
            <a:ext cx="6053328" cy="25036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888736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6B6B6B"/>
                </a:solidFill>
                <a:latin typeface="Consolas"/>
              </a:rPr>
              <a:t>Размер весов и время одиночного запроса (log-шкала для размеров)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498079" y="2331720"/>
          <a:ext cx="3840480" cy="173736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4228"/>
                <a:gridCol w="1152144"/>
                <a:gridCol w="864108"/>
              </a:tblGrid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6B6B6B"/>
                          </a:solidFill>
                          <a:latin typeface="Arial"/>
                        </a:rPr>
                        <a:t>Вариант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6B6B6B"/>
                          </a:solidFill>
                          <a:latin typeface="Arial"/>
                        </a:rPr>
                        <a:t>Размер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6B6B6B"/>
                          </a:solidFill>
                          <a:latin typeface="Arial"/>
                        </a:rPr>
                        <a:t>мкс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Arial"/>
                        </a:rPr>
                        <a:t>fp32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0,099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47,7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Arial"/>
                        </a:rPr>
                        <a:t>TorchScript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0,107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29,7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111111"/>
                          </a:solidFill>
                          <a:latin typeface="Arial"/>
                        </a:rPr>
                        <a:t>int8 (dynamic)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0,031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111111"/>
                          </a:solidFill>
                          <a:latin typeface="Arial"/>
                        </a:rPr>
                        <a:t>130,9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</a:tbl>
          </a:graphicData>
        </a:graphic>
      </p:graphicFrame>
      <p:cxnSp>
        <p:nvCxnSpPr>
          <p:cNvPr id="12" name="Connector 11"/>
          <p:cNvCxnSpPr/>
          <p:nvPr/>
        </p:nvCxnSpPr>
        <p:spPr>
          <a:xfrm>
            <a:off x="7498079" y="2331720"/>
            <a:ext cx="38404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9" y="2752344"/>
            <a:ext cx="38404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98079" y="3172968"/>
            <a:ext cx="38404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98079" y="3593591"/>
            <a:ext cx="3840480" cy="0"/>
          </a:xfrm>
          <a:prstGeom prst="line">
            <a:avLst/>
          </a:prstGeom>
          <a:ln w="9525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98079" y="4343400"/>
            <a:ext cx="3931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TorchScript ускоряет batch-1 в 1,6 раза без потери точности.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int8 сжимает веса в 3,2 раза: p99 отклонения 0,031 в нормированных единицах.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000" b="0" i="0">
                <a:solidFill>
                  <a:srgbClr val="6B6B6B"/>
                </a:solidFill>
                <a:latin typeface="Arial"/>
              </a:rPr>
              <a:t>Для ансамбля гидрокода выбираем TorchScript: скорость важнее размера.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2286000"/>
            <a:ext cx="0" cy="374904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2960" y="6419088"/>
            <a:ext cx="10545775" cy="0"/>
          </a:xfrm>
          <a:prstGeom prst="line">
            <a:avLst/>
          </a:prstGeom>
          <a:ln w="1270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6492240"/>
            <a:ext cx="738204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00">
                <a:solidFill>
                  <a:srgbClr val="6B6B6B"/>
                </a:solidFill>
                <a:latin typeface="Consolas"/>
              </a:rPr>
              <a:t>PINN · УРАВНЕНИЕ СОСТОЯНИЯ АЛЮМИНИЯ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92656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71455" y="4572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 i="0" spc="80">
                <a:solidFill>
                  <a:srgbClr val="6B6B6B"/>
                </a:solidFill>
                <a:latin typeface="Consolas"/>
              </a:rPr>
              <a:t>20 / 20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7315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932688"/>
            <a:ext cx="1018001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3100" b="1" i="0" spc="-60">
                <a:solidFill>
                  <a:srgbClr val="111111"/>
                </a:solidFill>
                <a:latin typeface="Arial"/>
              </a:rPr>
              <a:t>Что сделано, где предел и что дальше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00784"/>
            <a:ext cx="94484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6B6B6B"/>
                </a:solidFill>
                <a:latin typeface="Arial"/>
              </a:rPr>
              <a:t>Решение закрывает все пункты чек-листа; ниже — ограничения и план развития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60">
                <a:solidFill>
                  <a:srgbClr val="E2231A"/>
                </a:solidFill>
                <a:latin typeface="Consolas"/>
              </a:rPr>
              <a:t>СДЕЛАНО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" y="2542032"/>
            <a:ext cx="3058058" cy="0"/>
          </a:xfrm>
          <a:prstGeom prst="line">
            <a:avLst/>
          </a:prstGeom>
          <a:ln w="1524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22960" y="2697480"/>
            <a:ext cx="3012338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1000" b="1">
                <a:solidFill>
                  <a:srgbClr val="E2231A"/>
                </a:solidFill>
                <a:latin typeface="Arial"/>
              </a:rPr>
              <a:t>—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Пайплайн на 1 130 053 точках, EDA и baseline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1000" b="1">
                <a:solidFill>
                  <a:srgbClr val="E2231A"/>
                </a:solidFill>
                <a:latin typeface="Arial"/>
              </a:rPr>
              <a:t>—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Vanilla MLP: R²(P) = 0,99874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1000" b="1">
                <a:solidFill>
                  <a:srgbClr val="E2231A"/>
                </a:solidFill>
                <a:latin typeface="Arial"/>
              </a:rPr>
              <a:t>—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PINN: 0,43 % нарушений вместо 36 %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1000" b="1">
                <a:solidFill>
                  <a:srgbClr val="E2231A"/>
                </a:solidFill>
                <a:latin typeface="Arial"/>
              </a:rPr>
              <a:t>—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EOSSurrogate + TorchScript/int8, 0,10 МБ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1000" b="1">
                <a:solidFill>
                  <a:srgbClr val="E2231A"/>
                </a:solidFill>
                <a:latin typeface="Arial"/>
              </a:rPr>
              <a:t>—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Карты ошибок и нарушений, README и docstrings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38218" y="224028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60">
                <a:solidFill>
                  <a:srgbClr val="6B6B6B"/>
                </a:solidFill>
                <a:latin typeface="Consolas"/>
              </a:rPr>
              <a:t>ОГРАНИЧЕНИЯ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38218" y="2542032"/>
            <a:ext cx="3058058" cy="0"/>
          </a:xfrm>
          <a:prstGeom prst="line">
            <a:avLst/>
          </a:prstGeom>
          <a:ln w="1524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38218" y="2697480"/>
            <a:ext cx="3012338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1000" b="1">
                <a:solidFill>
                  <a:srgbClr val="E2231A"/>
                </a:solidFill>
                <a:latin typeface="Arial"/>
              </a:rPr>
              <a:t>—  </a:t>
            </a:r>
            <a:r>
              <a:rPr sz="1000" b="0" i="0">
                <a:solidFill>
                  <a:srgbClr val="6B6B6B"/>
                </a:solidFill>
                <a:latin typeface="Arial"/>
              </a:rPr>
              <a:t>Точность упирается в разрывы исходной таблицы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1000" b="1">
                <a:solidFill>
                  <a:srgbClr val="E2231A"/>
                </a:solidFill>
                <a:latin typeface="Arial"/>
              </a:rPr>
              <a:t>—  </a:t>
            </a:r>
            <a:r>
              <a:rPr sz="1000" b="0" i="0">
                <a:solidFill>
                  <a:srgbClr val="6B6B6B"/>
                </a:solidFill>
                <a:latin typeface="Arial"/>
              </a:rPr>
              <a:t>На стыках регионов ошибка выше средней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1000" b="1">
                <a:solidFill>
                  <a:srgbClr val="E2231A"/>
                </a:solidFill>
                <a:latin typeface="Arial"/>
              </a:rPr>
              <a:t>—  </a:t>
            </a:r>
            <a:r>
              <a:rPr sz="1000" b="0" i="0">
                <a:solidFill>
                  <a:srgbClr val="6B6B6B"/>
                </a:solidFill>
                <a:latin typeface="Arial"/>
              </a:rPr>
              <a:t>Физика проверяется по точечным производным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1000" b="1">
                <a:solidFill>
                  <a:srgbClr val="E2231A"/>
                </a:solidFill>
                <a:latin typeface="Arial"/>
              </a:rPr>
              <a:t>—  </a:t>
            </a:r>
            <a:r>
              <a:rPr sz="1000" b="0" i="0">
                <a:solidFill>
                  <a:srgbClr val="6B6B6B"/>
                </a:solidFill>
                <a:latin typeface="Arial"/>
              </a:rPr>
              <a:t>Обучение на CPU: 4 минуты, качество соответствующее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3476" y="2240280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60">
                <a:solidFill>
                  <a:srgbClr val="6B6B6B"/>
                </a:solidFill>
                <a:latin typeface="Consolas"/>
              </a:rPr>
              <a:t>ДАЛЬШЕ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53476" y="2542032"/>
            <a:ext cx="3058059" cy="0"/>
          </a:xfrm>
          <a:prstGeom prst="line">
            <a:avLst/>
          </a:prstGeom>
          <a:ln w="15240">
            <a:solidFill>
              <a:srgbClr val="D0D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53476" y="2697480"/>
            <a:ext cx="3012338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1000" b="1">
                <a:solidFill>
                  <a:srgbClr val="E2231A"/>
                </a:solidFill>
                <a:latin typeface="Arial"/>
              </a:rPr>
              <a:t>—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Фурье-признаки и кусочно-гладкие активации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1000" b="1">
                <a:solidFill>
                  <a:srgbClr val="E2231A"/>
                </a:solidFill>
                <a:latin typeface="Arial"/>
              </a:rPr>
              <a:t>—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Обучение на сглаженной по регионам таблице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1000" b="1">
                <a:solidFill>
                  <a:srgbClr val="E2231A"/>
                </a:solidFill>
                <a:latin typeface="Arial"/>
              </a:rPr>
              <a:t>—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Один ансамбль на несколько веществ</a:t>
            </a:r>
          </a:p>
          <a:p>
            <a:pPr>
              <a:lnSpc>
                <a:spcPct val="135000"/>
              </a:lnSpc>
              <a:spcAft>
                <a:spcPts val="900"/>
              </a:spcAft>
            </a:pPr>
            <a:r>
              <a:rPr sz="1000" b="1">
                <a:solidFill>
                  <a:srgbClr val="E2231A"/>
                </a:solidFill>
                <a:latin typeface="Arial"/>
              </a:rPr>
              <a:t>—  </a:t>
            </a:r>
            <a:r>
              <a:rPr sz="1000" b="0" i="0">
                <a:solidFill>
                  <a:srgbClr val="111111"/>
                </a:solidFill>
                <a:latin typeface="Arial"/>
              </a:rPr>
              <a:t>Экспорт в ONNX и замер в гидрокоде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5532120"/>
            <a:ext cx="10545775" cy="0"/>
          </a:xfrm>
          <a:prstGeom prst="line">
            <a:avLst/>
          </a:prstGeom>
          <a:ln w="1778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566928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40">
                <a:solidFill>
                  <a:srgbClr val="6B6B6B"/>
                </a:solidFill>
                <a:latin typeface="Consolas"/>
              </a:rPr>
              <a:t>АРТЕФАКТЫ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 i="0">
                <a:solidFill>
                  <a:srgbClr val="111111"/>
                </a:solidFill>
                <a:latin typeface="Consolas"/>
              </a:rPr>
              <a:t>Case_one.ipynb · eos_surrogate.py · normalization.json · pinn_best_physics.pt · comparison_table.csv · error_heatmap_scientific.png ·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