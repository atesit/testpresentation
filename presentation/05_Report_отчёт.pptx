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— заменить табличное уравнение состояния алюминия быстрым и физически корректным суррогатом. Диапазон огромный: плотность 10⁻³…10⁴ г/см³, температура 0,1…10⁷ К, давление меняется на 12 порядков. Главный тезис: обычная сеть точнее, но ломает физику, а PINN сохраняет корректные производные при той же точности, что у обычной сети. Вес модели — 0,1 МБ при лимите 10 МБ.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требует не регрессию, а термодинамически согласованный суррогат: нужны производные и скорость звука. Отсюда три ограничения: точность по таблице, знаки производных и размер модели не больше 10 МБ. Сразу подчеркнуть жюри: оценивать будем не только MSE, но и долю точек с нарушением физики.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Показываем, что закрыт каждый пункт. Самый дорогой критерий — PINN и физика, 25 баллов. Все артефакты лежат в репозитории, каждый шаг воспроизводим.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пришли как 20 региональных сеток. Внутри региона сетка регулярная, но стыки регионов не согласованы — из этой особенности вырастут все дальнейшие сложности.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Давление и энергия покрывают 12 порядков, энергия меняет знак. Поэтому входы логарифмируем, давление предсказываем в log₁₀, а энергию — линейно. Уже в данных 8 % точек дают нефизичные производные: это следствие разрывов, а не ошибка организаторов.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normalization.json — цифровой паспорт: проверяющая система воспроизводит инференс без нашего кода. Это и требование кейса, и страховка от расхождений.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— билинейная интерполяция по 20 регионам. В узлах сетки она точна, поэтому по MSE победить её нельзя. Но: полная таблица 17 МБ, производные разрывны, а на прореженных таблицах видно, как быстро растёт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в пользу нейросети: на стыках регионов и фазовых переходов конечные разности таблицы дают нефизичные значения. Пример: ρ = 2,7, T ≈ 140 К, где энергия скачет с 0,128 до 0,093 кДж/г. Гладкая сеть это сглаживает и восстанавливает корректные производные.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Vanilla MLP: 25 282 параметра, обучение за пару минут на CPU, R² = 0,999. Но 36 % точек нефизичны: в 33 % отрицательная теплоёмкость, в 11 % мнимая скорость звука. Это и есть шум градиентов, о котором предупреждали организаторы.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PINN — та же архитектура, но в лосс добавлены производные. Данные дают точность, физика — корректность, вес γ управляет балансом.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ограничения из постановки. Проверяем и знак, и причинность (c_s &lt; c), и делаем это в СГС, чтобы единицы совпадали с гидрокодом.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код: autograd по входам, цепное правило до физических единиц, безразмерные ReLU-штрафы. Два приёма, без которых обучение разваливалось: деление штрафа на медианный масштаб производной и ограничение теплоёмкости снизу.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Двухэтапная схема — главный инженерный приём. Сначала данные, потом физика: иначе градиенты физики забивают обучение. Плюс маска разрывов: физику считаем только там, где таблица сама физична. Физический лосс падает на шесть порядков.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таблица. Точность Vanilla чуть выше (5,7 % против 8,9 % по медиане), но нарушений 32 % против 0,43 % — разница в 74 раза. Размер одинаковый, скорость около микросекунды.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Ошибка концентрируется узкой полосой вдоль разрывов, там она в 1,7 раза выше. В гладких зонах — единицы процентов. Холодная ветвь тяжелее всего из-за смены знака энергии. Это честная граница гладкой регрессии.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Vanilla — целые области нарушений, у PINN — тонкая полоса на стыке регионов, где сама таблица разрывна. Ни в одной точке нет c_s ≥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Сверяем с табличными конечными разностями: R² = 0,90, медианное отклонение 11,7 %. Расхождения там, где табличная c_s не определена.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— векторный инференс, sound_speed — autograd внутри, check_physics — маски нарушений. 10⁵ запросов за 0,13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TorchScript ускоряет одиночный запрос в 1,6 раза, int8 сжимает веса в 3,2 раза ценой p99 отклонения 0,034 в нормированных единицах.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Закрыты все пункты чек-листа. Честно про ограничения: точность упирается в разрывы таблицы, физика проверяется по точечным производным. Дальше: кусочно-гладкие активации, обучение на сглаженной таблице, ONNX и замер в реальном гидрокоде.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ingots.jpg"/>
          <p:cNvPicPr>
            <a:picLocks noChangeAspect="1"/>
          </p:cNvPicPr>
          <p:nvPr/>
        </p:nvPicPr>
        <p:blipFill>
          <a:blip r:embed="rId2"/>
          <a:srcRect t="16074" b="24112"/>
          <a:stretch>
            <a:fillRect/>
          </a:stretch>
        </p:blipFill>
        <p:spPr>
          <a:xfrm>
            <a:off x="0" y="0"/>
            <a:ext cx="12191695" cy="39776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977639"/>
            <a:ext cx="12191695" cy="288036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3913632"/>
            <a:ext cx="12191695" cy="64008"/>
          </a:xfrm>
          <a:prstGeom prst="rect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425196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 spc="180">
                <a:solidFill>
                  <a:srgbClr val="1F5C43"/>
                </a:solidFill>
                <a:latin typeface="Arial"/>
              </a:rPr>
              <a:t>ИТ КоР · трек Machine Learning · кейс 01 · алюминий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Физически согласованный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суррогат уравнения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состояния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42432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6E7A6C"/>
                </a:solidFill>
                <a:latin typeface="Arial"/>
              </a:rPr>
              <a:t>PINN вместо таблицы: P(ρ,T), e(ρ,T) и c_s. 0,10 МБ, 0,43 % нарушений физики.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576072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F5C43"/>
                </a:solidFill>
                <a:latin typeface="Arial"/>
              </a:rPr>
              <a:t>0,43 %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0533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6E7A6C"/>
                </a:solidFill>
                <a:latin typeface="Arial"/>
              </a:rPr>
              <a:t>нарушений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1" y="576072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F5C43"/>
                </a:solidFill>
                <a:latin typeface="Arial"/>
              </a:rPr>
              <a:t>×84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60533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6E7A6C"/>
                </a:solidFill>
                <a:latin typeface="Arial"/>
              </a:rPr>
              <a:t>к vanilla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576072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F5C43"/>
                </a:solidFill>
                <a:latin typeface="Arial"/>
              </a:rPr>
              <a:t>0,10 МБ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60533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6E7A6C"/>
                </a:solidFill>
                <a:latin typeface="Arial"/>
              </a:rPr>
              <a:t>вес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3576" y="576072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F5C43"/>
                </a:solidFill>
                <a:latin typeface="Arial"/>
              </a:rPr>
              <a:t>0,96 мкс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23576" y="60533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6E7A6C"/>
                </a:solidFill>
                <a:latin typeface="Arial"/>
              </a:rPr>
              <a:t>запрос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465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Автор: &lt;имя&gt; · команда: &lt;состав&gt;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ПОСТАНОВКА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Что требовалось в кейсе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Три требования кейса: точность по таблице, знаки производных, габарит модели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240280"/>
            <a:ext cx="64008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2459736"/>
            <a:ext cx="512064" cy="512064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569464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4231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Точность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706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6E7A6C"/>
                </a:solidFill>
                <a:latin typeface="Arial"/>
              </a:rPr>
              <a:t>P и e по всей фазовой диаграмме, а не только в узлах сетки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64008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005840" y="3602736"/>
            <a:ext cx="512064" cy="512064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05840" y="3712464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661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Физика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9136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6E7A6C"/>
                </a:solidFill>
                <a:latin typeface="Arial"/>
              </a:rPr>
              <a:t>∂P/∂ρ &gt; 0, ∂e/∂T &gt; 0, 0 &lt; c_s &lt; c в каждой точке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26280"/>
            <a:ext cx="64008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005840" y="4745736"/>
            <a:ext cx="512064" cy="512064"/>
          </a:xfrm>
          <a:prstGeom prst="ellipse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5840" y="4855464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7091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Габарит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0566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6E7A6C"/>
                </a:solidFill>
                <a:latin typeface="Arial"/>
              </a:rPr>
              <a:t>модель до 10 МБ, ответ за микросекунды, без GPU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44383" y="2157984"/>
            <a:ext cx="3547872" cy="3410712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photo_lab.jpg"/>
          <p:cNvPicPr>
            <a:picLocks noChangeAspect="1"/>
          </p:cNvPicPr>
          <p:nvPr/>
        </p:nvPicPr>
        <p:blipFill>
          <a:blip r:embed="rId2"/>
          <a:srcRect l="21575" r="21575"/>
          <a:stretch>
            <a:fillRect/>
          </a:stretch>
        </p:blipFill>
        <p:spPr>
          <a:xfrm>
            <a:off x="7726679" y="2240280"/>
            <a:ext cx="3383280" cy="3246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44383" y="5614416"/>
            <a:ext cx="3547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Гидрокод и его уравнения — заказчик суррогата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 i="0">
                <a:solidFill>
                  <a:srgbClr val="1F5C43"/>
                </a:solidFill>
                <a:latin typeface="Arial"/>
              </a:rPr>
              <a:t>Оцениваем не только MSE, но и долю точек, где нарушена физика.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КРИТЕРИИ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Как закрыт чек-лист на 100 баллов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Девять критериев финального задания — по 100 баллов в сумме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945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78408" y="23957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4414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377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Погружение в предметную область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724912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разбор УРС, фазовой диаграммы и роли c_s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945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590288" y="23957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24414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377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Обработка данных и 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724912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1,13 млн точек, карты P и e, 20 регионов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1945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202168" y="23957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02168" y="24414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23774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Baseline: билинейная интерполяция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724912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20 RegularGridInterpolator + метрики и скорость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5661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37673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8408" y="38130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374903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Обучение моделей и оценка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4096511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Vanilla MLP: R² = 0,999, кривые обучения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5661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590288" y="37673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90288" y="38130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374903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PINN и физические ограничения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4096511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physics-лосс на autograd, нарушений 0,43 %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35661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02168" y="37673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02168" y="38130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14232" y="374903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Инференс и упаковка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14232" y="4096511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EOSSurrogate: predict / sound_speed / check_physics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9377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78408" y="51389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78408" y="51846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0472" y="51206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Сжатие и скорость работы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0472" y="5468112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TorchScript и int8: −69 % размера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49377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590288" y="51389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590288" y="51846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2" y="51206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Выступление и презентация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02352" y="5468112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эта презентация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0" y="4937760"/>
            <a:ext cx="3401568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8202168" y="5138928"/>
            <a:ext cx="384048" cy="384048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202168" y="518464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4232" y="51206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 i="0">
                <a:solidFill>
                  <a:srgbClr val="1E2A22"/>
                </a:solidFill>
                <a:latin typeface="Arial"/>
              </a:rPr>
              <a:t>Документация и оформление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14232" y="5468112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README, docstrings Google-style, normalization.json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Итого 100 / 100 — каждый пункт подтверждается артефактом в репозитории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molten.jpg"/>
          <p:cNvPicPr>
            <a:picLocks noChangeAspect="1"/>
          </p:cNvPicPr>
          <p:nvPr/>
        </p:nvPicPr>
        <p:blipFill>
          <a:blip r:embed="rId2"/>
          <a:srcRect t="31697" b="38740"/>
          <a:stretch>
            <a:fillRect/>
          </a:stretch>
        </p:blipFill>
        <p:spPr>
          <a:xfrm>
            <a:off x="0" y="0"/>
            <a:ext cx="12191695" cy="1965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14251C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45720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80">
                <a:solidFill>
                  <a:srgbClr val="FFFFFF"/>
                </a:solidFill>
                <a:latin typeface="Arial"/>
              </a:rPr>
              <a:t>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4980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Georgia"/>
              </a:rPr>
              <a:t>20 региональных сеток, 1 130 053 строки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Четыре диапазона плотности × пять диапазонов температуры; внутри региона — сетка 300 × 300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77440"/>
            <a:ext cx="248716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2542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1F5C43"/>
                </a:solidFill>
                <a:latin typeface="Georgia"/>
              </a:rPr>
              <a:t>1 130 053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992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точки в датасете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377440"/>
            <a:ext cx="248716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75888" y="2542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1F5C43"/>
                </a:solidFill>
                <a:latin typeface="Georgia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9992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региональных сеток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377440"/>
            <a:ext cx="248716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3368" y="2542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1F5C43"/>
                </a:solidFill>
                <a:latin typeface="Georgia"/>
              </a:rPr>
              <a:t>300 × 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9992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узлов в сетке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377440"/>
            <a:ext cx="2487168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70848" y="25420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1F5C43"/>
                </a:solidFill>
                <a:latin typeface="Georgia"/>
              </a:rPr>
              <a:t>226 011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9992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точек в тесте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Внутри региона таблица гладкая, на стыках значения не согласованы.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9,5 % узлов полной сетки дают нефизичные производные ещё до модели.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Тест — 20 % стратифицированной выборки.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840480"/>
            <a:ext cx="493776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29400" y="402336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 spc="150">
                <a:solidFill>
                  <a:srgbClr val="1F5C43"/>
                </a:solidFill>
                <a:latin typeface="Arial"/>
              </a:rPr>
              <a:t>ЧТО ЭТО ЗНАЧИТ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343400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6E7A6C"/>
                </a:solidFill>
                <a:latin typeface="Arial"/>
              </a:rPr>
              <a:t>Разрывы производных — главная сложность задачи. Гладкая модель сглаживает стыки и возвращает корректные производные, но платит точностью в узлах.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Что видно в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Давление и энергия меняются на 12 порядков — это задаёт нормировку и архитектуру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758952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da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20" y="2286000"/>
            <a:ext cx="7097159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6235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log₁₀ P и знаковый логарифм e; белые полосы — стыки регионов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19" y="224028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ДАВЛЕНИЕ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25146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1E2A22"/>
                </a:solidFill>
                <a:latin typeface="Arial"/>
              </a:rPr>
              <a:t>12 порядков → логарифм на входе и выходе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32519" y="3200400"/>
            <a:ext cx="3017520" cy="0"/>
          </a:xfrm>
          <a:prstGeom prst="line">
            <a:avLst/>
          </a:prstGeom>
          <a:ln w="12700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32519" y="344728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ЭНЕРГИЯ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372160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1E2A22"/>
                </a:solidFill>
                <a:latin typeface="Arial"/>
              </a:rPr>
              <a:t>проходит через ноль → линейный выход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32519" y="4407408"/>
            <a:ext cx="3017520" cy="0"/>
          </a:xfrm>
          <a:prstGeom prst="line">
            <a:avLst/>
          </a:prstGeom>
          <a:ln w="12700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32519" y="465429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РАЗРЫВЫ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19" y="4928616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1E2A22"/>
                </a:solidFill>
                <a:latin typeface="Arial"/>
              </a:rPr>
              <a:t>видны как полосы на картах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19" y="5614416"/>
            <a:ext cx="3017520" cy="0"/>
          </a:xfrm>
          <a:prstGeom prst="line">
            <a:avLst/>
          </a:prstGeom>
          <a:ln w="12700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ПОДГОТОВКА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Нормализация и цифровой паспорт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normalization.json — цифровой паспорт модели: проверяющий воспроизводит инференс без нашего кода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9456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2377440"/>
            <a:ext cx="411480" cy="411480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43687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5059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6E7A6C"/>
                </a:solidFill>
                <a:latin typeface="Arial"/>
              </a:rPr>
              <a:t>ВХОД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1E2A22"/>
                </a:solidFill>
                <a:latin typeface="Consolas"/>
              </a:rPr>
              <a:t>x = (log₁₀ρ − a) / (b − 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log₁₀ρ ∈ [−3, 4] · log₁₀T ∈ [−1, 7]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9456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617720" y="2377440"/>
            <a:ext cx="411480" cy="411480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17720" y="243687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45059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6E7A6C"/>
                </a:solidFill>
                <a:latin typeface="Arial"/>
              </a:rPr>
              <a:t>ВЫХОД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926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1E2A22"/>
                </a:solidFill>
                <a:latin typeface="Consolas"/>
              </a:rPr>
              <a:t>log₁₀P, затем 10^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P ∈ [10⁻⁶, 10⁶] ГПа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194560"/>
            <a:ext cx="33832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229600" y="2377440"/>
            <a:ext cx="411480" cy="411480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0" y="243687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45059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6E7A6C"/>
                </a:solidFill>
                <a:latin typeface="Arial"/>
              </a:rPr>
              <a:t>ВЫХОД 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26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1E2A22"/>
                </a:solidFill>
                <a:latin typeface="Consolas"/>
              </a:rPr>
              <a:t>линейно, кДж/г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e ∈ [−0,2, 10³]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Все константы, единицы и границы области определения описаны в одном файле. В коде инференса нет ни одного «магического» числа — это и требование кейса, и страховка от расхождений при проверке.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Билинейная интерполяция как эталон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20 интерполяторов RegularGridInterpolator, та же тестовая выборка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704088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60120" y="2331720"/>
          <a:ext cx="6675117" cy="1920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092201"/>
                <a:gridCol w="1095915"/>
                <a:gridCol w="1195543"/>
                <a:gridCol w="1095915"/>
                <a:gridCol w="119554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Покрытие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A22"/>
                          </a:solidFill>
                          <a:latin typeface="Arial"/>
                        </a:rPr>
                        <a:t>Полная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A22"/>
                          </a:solidFill>
                          <a:latin typeface="Arial"/>
                        </a:rPr>
                        <a:t>Прорежена ×2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4,3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0,0002 %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99,4 %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3,1 %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A22"/>
                          </a:solidFill>
                          <a:latin typeface="Arial"/>
                        </a:rPr>
                        <a:t>Прорежена ×4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1,1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0,0016 %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98,7 %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4,4 %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A22"/>
                          </a:solidFill>
                          <a:latin typeface="Arial"/>
                        </a:rPr>
                        <a:t>Прорежена ×8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0,28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0,0075 %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96,7 %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7,9 %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60120" y="44348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6E7A6C"/>
                </a:solidFill>
                <a:latin typeface="Arial"/>
              </a:rPr>
              <a:t>В узлах интерполяция точна — по MSE её не обогнать. Цена: 17 МБ и разрывные производные.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2402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 spc="150">
                <a:solidFill>
                  <a:srgbClr val="1F5C43"/>
                </a:solidFill>
                <a:latin typeface="Arial"/>
              </a:rPr>
              <a:t>РОЛЬ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51460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00" b="0" i="0">
                <a:solidFill>
                  <a:srgbClr val="1E2A22"/>
                </a:solidFill>
                <a:latin typeface="Arial"/>
              </a:rPr>
              <a:t>Эталон точности в узлах сетки.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00" b="0" i="0">
                <a:solidFill>
                  <a:srgbClr val="1E2A22"/>
                </a:solidFill>
                <a:latin typeface="Arial"/>
              </a:rPr>
              <a:t>Ориентир по памяти: 17 МБ против 0,10 МБ у сети.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00" b="0" i="0">
                <a:solidFill>
                  <a:srgbClr val="1E2A22"/>
                </a:solidFill>
                <a:latin typeface="Arial"/>
              </a:rPr>
              <a:t>Показывает, что прореживание не спасает: таблица теряет покрытие.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5029200"/>
            <a:ext cx="3566160" cy="914400"/>
          </a:xfrm>
          <a:prstGeom prst="roundRect">
            <a:avLst>
              <a:gd name="adj" fmla="val 5000"/>
            </a:avLst>
          </a:prstGeom>
          <a:solidFill>
            <a:srgbClr val="F4F0E7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0" y="51389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F5C43"/>
                </a:solidFill>
                <a:latin typeface="Georgia"/>
              </a:rPr>
              <a:t>×170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532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во столько таблица тяжелее модели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ПОЧЕМУ НЕ ТАБЛИЦА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Почему таблицы недостаточно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Даже идеальная по точности таблица даёт нефизичные производные на стыках сеток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1945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800" b="0" i="0">
                <a:solidFill>
                  <a:srgbClr val="1F5C43"/>
                </a:solidFill>
                <a:latin typeface="Georgia"/>
              </a:rPr>
              <a:t>9,5 %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E2A22"/>
                </a:solidFill>
                <a:latin typeface="Arial"/>
              </a:rPr>
              <a:t>узлов полной таблицы дают c_s² ≤ 0, ∂P/∂ρ ≤ 0 или ∂e/∂T ≤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4480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6E7A6C"/>
                </a:solidFill>
                <a:latin typeface="Arial"/>
              </a:rPr>
              <a:t>Пример: при ρ = 2,7 г/см³ и T ≈ 140 К энергия падает с 0,128 до 0,093 кДж/г за две ячейки — конечная разность даёт мнимое c_s.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32704" y="2157984"/>
            <a:ext cx="3822191" cy="3273552"/>
          </a:xfrm>
          <a:prstGeom prst="rect">
            <a:avLst/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hoto_micro.jpg"/>
          <p:cNvPicPr>
            <a:picLocks noChangeAspect="1"/>
          </p:cNvPicPr>
          <p:nvPr/>
        </p:nvPicPr>
        <p:blipFill>
          <a:blip r:embed="rId2"/>
          <a:srcRect l="17914" r="17914"/>
          <a:stretch>
            <a:fillRect/>
          </a:stretch>
        </p:blipFill>
        <p:spPr>
          <a:xfrm>
            <a:off x="5715000" y="2240280"/>
            <a:ext cx="3657600" cy="3108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32704" y="5477255"/>
            <a:ext cx="38221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Микроструктура сплава — иллюстрация, не данные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2240280"/>
            <a:ext cx="2377440" cy="3108960"/>
          </a:xfrm>
          <a:prstGeom prst="roundRect">
            <a:avLst>
              <a:gd name="adj" fmla="val 5000"/>
            </a:avLst>
          </a:prstGeom>
          <a:solidFill>
            <a:srgbClr val="1F5C43"/>
          </a:solidFill>
          <a:ln w="9525">
            <a:solidFill>
              <a:srgbClr val="1F5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966960" y="2423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1" i="0" spc="150">
                <a:solidFill>
                  <a:srgbClr val="FFFFFF"/>
                </a:solidFill>
                <a:latin typeface="Arial"/>
              </a:rPr>
              <a:t>ВЫВОД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788920"/>
            <a:ext cx="2057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Нужна гладкая модель, которая восстанавливает производные между узлами таблицы.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МОДЕЛЬ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Vanilla MLP: точность без физики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2 → 128 → 128 → 64 → 2, tanh, 25 282 параметра, 150 эпох, OneCycle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640080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09" y="2286000"/>
            <a:ext cx="5135661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46811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Кривые train/test — Vanilla MLP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24028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26679" y="236829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R²(P)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58775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0,99874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108960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26679" y="32369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Медиана 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45643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9,17 %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977639"/>
            <a:ext cx="329184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26679" y="4105655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R²(e)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325112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0,99926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892040"/>
            <a:ext cx="3291840" cy="1005840"/>
          </a:xfrm>
          <a:prstGeom prst="roundRect">
            <a:avLst>
              <a:gd name="adj" fmla="val 5000"/>
            </a:avLst>
          </a:prstGeom>
          <a:solidFill>
            <a:srgbClr val="C4622D"/>
          </a:solidFill>
          <a:ln w="9525">
            <a:solidFill>
              <a:srgbClr val="C462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26679" y="5029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Arial"/>
              </a:rPr>
              <a:t>Нарушений физики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2852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Georgia"/>
              </a:rPr>
              <a:t>36,17 %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МОДЕЛЬ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PINN: та же сеть плюс физика в лоссе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Та же архитектура; в лосс добавлены производные, посчитанные автоградиентом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9456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E2A22"/>
                </a:solidFill>
                <a:latin typeface="Arial"/>
              </a:rPr>
              <a:t>log₁₀ 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E2A22"/>
                </a:solidFill>
                <a:latin typeface="Arial"/>
              </a:rPr>
              <a:t>log₁₀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651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F5C43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19456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СЕТЬ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E2A22"/>
                </a:solidFill>
                <a:latin typeface="Arial"/>
              </a:rPr>
              <a:t>2 → 128 → 128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E2A22"/>
                </a:solidFill>
                <a:latin typeface="Arial"/>
              </a:rPr>
              <a:t>→ 64 →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2651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F5C43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194560"/>
            <a:ext cx="292608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ВЫХОД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60604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E2A22"/>
                </a:solidFill>
                <a:latin typeface="Arial"/>
              </a:rPr>
              <a:t>log₁₀ P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1E2A22"/>
                </a:solidFill>
                <a:latin typeface="Arial"/>
              </a:rPr>
              <a:t>e, кДж/г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9966960" cy="1600200"/>
          </a:xfrm>
          <a:prstGeom prst="roundRect">
            <a:avLst>
              <a:gd name="adj" fmla="val 5000"/>
            </a:avLst>
          </a:prstGeom>
          <a:solidFill>
            <a:srgbClr val="1F5C43"/>
          </a:solidFill>
          <a:ln w="9525">
            <a:solidFill>
              <a:srgbClr val="1F5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1560" y="384048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50">
                <a:solidFill>
                  <a:srgbClr val="FFFFFF"/>
                </a:solidFill>
                <a:latin typeface="Arial"/>
              </a:rPr>
              <a:t>ФУНКЦИЯ ПОТЕРЬ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114800"/>
            <a:ext cx="9326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L = L_data + γ · (L_stab + L_cap + L_cs),  γ = 0,03. Производные берутся автоградиентом в том же графе вычислений, штрафы нормируются на медианный масштаб.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7784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E7A6C"/>
                </a:solidFill>
                <a:latin typeface="Arial"/>
              </a:rPr>
              <a:t>Данные дают точность, физика — корректность производных.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Три ограничения — и в лоссе, и в проверке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Формулировки из постановки кейса; проверки выполняются в системе СГС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10424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2441448"/>
            <a:ext cx="457200" cy="457200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5237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22951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2A22"/>
                </a:solidFill>
                <a:latin typeface="Arial"/>
              </a:rPr>
              <a:t>Термодинамическая устойчивость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26517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Изотермическая сжимаемость положительна: вещество не схлопывается само по себе.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231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1F5C43"/>
                </a:solidFill>
                <a:latin typeface="Consolas"/>
              </a:rPr>
              <a:t>∂P/∂ρ &gt;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47288"/>
            <a:ext cx="10424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005840" y="3739896"/>
            <a:ext cx="457200" cy="457200"/>
          </a:xfrm>
          <a:prstGeom prst="ellipse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3822191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35935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2A22"/>
                </a:solidFill>
                <a:latin typeface="Arial"/>
              </a:rPr>
              <a:t>Положительная теплоёмкость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395020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Энергия растёт с температурой: c_v &gt; 0, иначе нарушается второе начало.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721608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1F5C43"/>
                </a:solidFill>
                <a:latin typeface="Consolas"/>
              </a:rPr>
              <a:t>∂e/∂T &gt;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45736"/>
            <a:ext cx="10424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05840" y="5038344"/>
            <a:ext cx="457200" cy="457200"/>
          </a:xfrm>
          <a:prstGeom prst="ellipse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5120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3352" y="4892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1E2A22"/>
                </a:solidFill>
                <a:latin typeface="Arial"/>
              </a:rPr>
              <a:t>Скорость звука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5248655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Вещественная и дорелятивистская: 0 &lt; c_s &lt; c, где c — скорость света.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020055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1F5C43"/>
                </a:solidFill>
                <a:latin typeface="Consolas"/>
              </a:rPr>
              <a:t>c_s² = (∂P/∂ρ)_T + T·(∂P/∂T)²_ρ / (ρ²·∂e/∂T)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Как производные попадают в лосс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Производные в том же графе: ни численного дифференцирования, ни второй сети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40" y="2148840"/>
            <a:ext cx="6309360" cy="3840480"/>
          </a:xfrm>
          <a:prstGeom prst="rect">
            <a:avLst/>
          </a:prstGeom>
          <a:solidFill>
            <a:srgbClr val="1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50292" cy="3840480"/>
          </a:xfrm>
          <a:prstGeom prst="rect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289657"/>
            <a:ext cx="5907024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x.requires_grad_(True)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out = model(x)              # log10P, e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gP = autograd.grad(out[:, 0].sum(), x,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                  create_graph=True,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                  retain_graph=True)[0]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8FA99A"/>
                </a:solidFill>
                <a:latin typeface="Consolas"/>
              </a:rPr>
              <a:t># цепное правило: log10 -&gt; физические единицы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dP_drho = P * gP[:, 0] * span_lp / span_lr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                    / (rho * ln10)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de_dT   = ge[:, 1] * span_e / span_lt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                    / (T * ln10)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8FA99A"/>
                </a:solidFill>
                <a:latin typeface="Consolas"/>
              </a:rPr>
              <a:t># безразмерные штрафы по ReLU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EAF3EC"/>
                </a:solidFill>
                <a:latin typeface="Consolas"/>
              </a:rPr>
              <a:t>loss_stab = relu(-dP_drho / s_p).mean()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EAF3EC"/>
                </a:solidFill>
                <a:latin typeface="Consolas"/>
              </a:rPr>
              <a:t>loss_cap  = relu(-de_dT   / s_e).mean()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EAF3EC"/>
                </a:solidFill>
                <a:latin typeface="Consolas"/>
              </a:rPr>
              <a:t>loss_cs   = relu(-cs2/c**2) + relu(cs2/c**2 - 1)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286000"/>
            <a:ext cx="3840480" cy="960120"/>
          </a:xfrm>
          <a:prstGeom prst="roundRect">
            <a:avLst>
              <a:gd name="adj" fmla="val 5000"/>
            </a:avLst>
          </a:prstGeom>
          <a:solidFill>
            <a:srgbClr val="F4F0E7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89520" y="241401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Γ = 0,03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68833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Arial"/>
              </a:rPr>
              <a:t>больше — физика ломает регрессию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3429000"/>
            <a:ext cx="3840480" cy="960120"/>
          </a:xfrm>
          <a:prstGeom prst="roundRect">
            <a:avLst>
              <a:gd name="adj" fmla="val 5000"/>
            </a:avLst>
          </a:prstGeom>
          <a:solidFill>
            <a:srgbClr val="F4F0E7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89520" y="355701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МАСШТАБ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83133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Arial"/>
              </a:rPr>
              <a:t>делим штраф на медиану |∂P/∂ρ|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572000"/>
            <a:ext cx="3840480" cy="960120"/>
          </a:xfrm>
          <a:prstGeom prst="roundRect">
            <a:avLst>
              <a:gd name="adj" fmla="val 5000"/>
            </a:avLst>
          </a:prstGeom>
          <a:solidFill>
            <a:srgbClr val="F4F0E7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20" y="4700016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МАСКА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974336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Arial"/>
              </a:rPr>
              <a:t>физика там, где таблица физична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Два этапа: данные, затем физика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Разделение этапов убирает главную проблему PINN — борьбу градиентов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9456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2377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ЭТАП 1 · 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150 эпох, OneCycle, 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1F5C43"/>
                </a:solidFill>
                <a:latin typeface="Georgia"/>
              </a:rPr>
              <a:t>R²(P) ≈ 0,999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6E7A6C"/>
                </a:solidFill>
                <a:latin typeface="Arial"/>
              </a:rPr>
              <a:t>быстро и устойчиво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4937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1F5C43"/>
                </a:solidFill>
                <a:latin typeface="Arial"/>
              </a:rPr>
              <a:t>ЭТАП 2 · ФИЗИКА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γ = 0,03, маска разрывов, lr/10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1F5C43"/>
                </a:solidFill>
                <a:latin typeface="Georgia"/>
              </a:rPr>
              <a:t>36,17 % → 0,43 %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31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6E7A6C"/>
                </a:solidFill>
                <a:latin typeface="Arial"/>
              </a:rPr>
              <a:t>чинит производные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8346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F5C43"/>
                </a:solidFill>
                <a:latin typeface="Arial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Совместное обучение по двум лоссам сразу разваливало точность: градиенты физики забивали сигнал данных. Разделение этапов — главный инженерный приём работы; повторная физическая стадия улучшения не давала.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Итоговое сравнение трёх подходов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226 011 точек теста, все метрики посчитаны одним скриптом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1063721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60120" y="2286000"/>
          <a:ext cx="10271449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651"/>
                <a:gridCol w="1141272"/>
                <a:gridCol w="1236378"/>
                <a:gridCol w="1046166"/>
                <a:gridCol w="1141272"/>
                <a:gridCol w="1331484"/>
                <a:gridCol w="1141272"/>
                <a:gridCol w="85595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Подход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R²(P)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p95 P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R²(e)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A22"/>
                          </a:solidFill>
                          <a:latin typeface="Arial"/>
                        </a:rPr>
                        <a:t>Baseline (таблица)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0,54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A22"/>
                          </a:solidFill>
                          <a:latin typeface="Arial"/>
                        </a:rPr>
                        <a:t>Vanilla MLP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0,99874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9,17 %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28,67 %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0,99926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36,17 %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0,98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A22"/>
                          </a:solidFill>
                          <a:latin typeface="Arial"/>
                        </a:rPr>
                        <a:t>PINN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0,99865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8,94 %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28,25 %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0,99953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0,43 %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A22"/>
                          </a:solidFill>
                          <a:latin typeface="Arial"/>
                        </a:rPr>
                        <a:t>0,96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46634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00" b="0" i="0">
                <a:solidFill>
                  <a:srgbClr val="1E2A22"/>
                </a:solidFill>
                <a:latin typeface="Arial"/>
              </a:rPr>
              <a:t>Точность практически равна (9,17 % против 8,94 % по медиане), но нарушений в 84 раза меньше у PINN. Размер и скорость — в пределах требований кейса.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4617720"/>
            <a:ext cx="3749039" cy="1051560"/>
          </a:xfrm>
          <a:prstGeom prst="roundRect">
            <a:avLst>
              <a:gd name="adj" fmla="val 5000"/>
            </a:avLst>
          </a:prstGeom>
          <a:solidFill>
            <a:srgbClr val="F4F0E7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63840" y="473659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40">
                <a:solidFill>
                  <a:srgbClr val="6E7A6C"/>
                </a:solidFill>
                <a:latin typeface="Arial"/>
              </a:rPr>
              <a:t>ГЛАВНОЕ ЧИСЛО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983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F5C43"/>
                </a:solidFill>
                <a:latin typeface="Georgia"/>
              </a:rPr>
              <a:t>×84 меньше нарушений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Где модель ошибается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Относительная ошибка P на сетке 240 × 320 точек по всей диаграмме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7498079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rror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40" y="2286000"/>
            <a:ext cx="5936879" cy="3246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96128"/>
            <a:ext cx="7223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Слева Vanilla, справа PINN; логарифмическая шкала, ≥ 100 % обрезано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240280"/>
            <a:ext cx="30632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23960" y="235000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Разрывы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569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E2A22"/>
                </a:solidFill>
                <a:latin typeface="Georgia"/>
              </a:rPr>
              <a:t>13,4 %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063240"/>
            <a:ext cx="30632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823960" y="317296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Гладкие зоны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39242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E2A22"/>
                </a:solidFill>
                <a:latin typeface="Georgia"/>
              </a:rPr>
              <a:t>8,1 %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886200"/>
            <a:ext cx="30632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23960" y="3995928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Медиана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21538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E2A22"/>
                </a:solidFill>
                <a:latin typeface="Georgia"/>
              </a:rPr>
              <a:t>8,94 %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8920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Ошибка выше в 1,7 раза именно на стыках регионов — это честная граница гладкой регрессии.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Карта нарушений: физика под контролем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Флаги нарушений в каждой точке диаграммы — это и есть check_physics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658368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iol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0440"/>
            <a:ext cx="6309360" cy="2931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59552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Площадь нарушений: Vanilla 40 %, PINN 0,7 %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148840"/>
            <a:ext cx="4023360" cy="3794760"/>
          </a:xfrm>
          <a:prstGeom prst="roundRect">
            <a:avLst>
              <a:gd name="adj" fmla="val 5000"/>
            </a:avLst>
          </a:prstGeom>
          <a:solidFill>
            <a:srgbClr val="F4F0E7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violation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806" y="2286000"/>
            <a:ext cx="3696226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18120" y="45262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Arial"/>
              </a:rPr>
              <a:t>Vanilla: 36,17 % точек. PINN: 0,43 %. Остаток — тонкая полоса на стыке регионов, где разрывна сама таблица. Точек с c_s ≥ c нет ни у одной модели.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Скорость звука: сверка с таблицей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Самая чувствительная к производным величина: сверка с табличными конечными разностями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576072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388" y="2286000"/>
            <a:ext cx="3910422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5955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c_s по PINN против табличной c_s, км/с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2194560"/>
            <a:ext cx="3840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32320" y="23225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R² в лог-шкале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5603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0,94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108960"/>
            <a:ext cx="3840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0" y="32369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Медианное отклонение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4747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13,0 %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023360"/>
            <a:ext cx="3840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0" y="41513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p95 отклонения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3891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65 %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937760"/>
            <a:ext cx="384048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0" y="506577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E7A6C"/>
                </a:solidFill>
                <a:latin typeface="Arial"/>
              </a:rPr>
              <a:t>Точек с c_s ≥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303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E2A22"/>
                </a:solidFill>
                <a:latin typeface="Georgia"/>
              </a:rPr>
              <a:t>0 %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УПАКОВКА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EOSSurrogate: три метода и файл на 0,1 МБ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Класс-обёртка на 90 строк: docstrings Google-style, проверка области определения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7240" y="2148840"/>
            <a:ext cx="6126480" cy="3794760"/>
          </a:xfrm>
          <a:prstGeom prst="rect">
            <a:avLst/>
          </a:prstGeom>
          <a:solidFill>
            <a:srgbClr val="1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50292" cy="3794760"/>
          </a:xfrm>
          <a:prstGeom prst="rect">
            <a:avLst/>
          </a:prstGeom>
          <a:solidFill>
            <a:srgbClr val="1F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289657"/>
            <a:ext cx="5724144" cy="3593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from eos_surrogate import EOSSurrogate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eos = EOSSurrogate("pinn_best_physics.pt",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                  "normalization.json")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P, e = eos.predict(rho, T)       # ГПа, кДж/г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cs   = eos.sound_speed(rho, T)   # см/с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flags = eos.check_physics(rho, T)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8FA99A"/>
                </a:solidFill>
                <a:latin typeface="Consolas"/>
              </a:rPr>
              <a:t>#   stable, positive_heat_capacity,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8FA99A"/>
                </a:solidFill>
                <a:latin typeface="Consolas"/>
              </a:rPr>
              <a:t>#   causal_sound_speed, in_domain, ok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&gt;&gt;&gt; P, e = eos.predict(2.7, 1e4)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&gt;&gt;&gt; flags["ok"]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EAF3EC"/>
                </a:solidFill>
                <a:latin typeface="Consolas"/>
              </a:rPr>
              <a:t>array([ True])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2240280"/>
            <a:ext cx="3977639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0" y="235000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Consolas"/>
              </a:rP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6243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векторный инференс P и 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3063240"/>
            <a:ext cx="3977639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06640" y="317296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Consolas"/>
              </a:rPr>
              <a:t>sound_speed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4472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autograd внутри, СГС на выходе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3886200"/>
            <a:ext cx="3977639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06640" y="399592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Consolas"/>
              </a:rPr>
              <a:t>check_physics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27024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маски нарушений и флаг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4709160"/>
            <a:ext cx="3977639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0" y="4818888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1E2A22"/>
                </a:solidFill>
                <a:latin typeface="Consolas"/>
              </a:rPr>
              <a:t>in_domain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0932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6E7A6C"/>
                </a:solidFill>
                <a:latin typeface="Arial"/>
              </a:rPr>
              <a:t>границы области определения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55778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>
                <a:solidFill>
                  <a:srgbClr val="1F5C43"/>
                </a:solidFill>
                <a:latin typeface="Arial"/>
              </a:rPr>
              <a:t>10⁵ запросов — 0,13 с на CPU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60">
                <a:solidFill>
                  <a:srgbClr val="1F5C43"/>
                </a:solidFill>
                <a:latin typeface="Arial"/>
              </a:rPr>
              <a:t>ОПТИМИЗАЦИЯ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1415" y="4206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DCD3C3"/>
                </a:solidFill>
                <a:latin typeface="Georgia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E2A22"/>
                </a:solidFill>
                <a:latin typeface="Georgia"/>
              </a:rPr>
              <a:t>Сжатие и скорость: TorchScript и int8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8991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E7A6C"/>
                </a:solidFill>
                <a:latin typeface="Arial"/>
              </a:rPr>
              <a:t>Дополнительный этап кейса: измеримый эффект оптимизации модели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1938528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48840"/>
            <a:ext cx="585216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iz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32727"/>
            <a:ext cx="5577840" cy="2306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559552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1">
                <a:solidFill>
                  <a:srgbClr val="6E7A6C"/>
                </a:solidFill>
                <a:latin typeface="Arial"/>
              </a:rPr>
              <a:t>Размер весов и время одиночного запроса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148840"/>
            <a:ext cx="420624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E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32320" y="2286000"/>
          <a:ext cx="3840480" cy="1600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06880"/>
                <a:gridCol w="1280160"/>
                <a:gridCol w="853440"/>
              </a:tblGrid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6E7A6C"/>
                          </a:solidFill>
                          <a:latin typeface="Arial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solidFill>
                      <a:srgbClr val="F4F0E7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A22"/>
                          </a:solidFill>
                          <a:latin typeface="Arial"/>
                        </a:rPr>
                        <a:t>fp32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A22"/>
                          </a:solidFill>
                          <a:latin typeface="Arial"/>
                        </a:rPr>
                        <a:t>0,099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A22"/>
                          </a:solidFill>
                          <a:latin typeface="Arial"/>
                        </a:rPr>
                        <a:t>47,7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A22"/>
                          </a:solidFill>
                          <a:latin typeface="Arial"/>
                        </a:rPr>
                        <a:t>TorchScript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A22"/>
                          </a:solidFill>
                          <a:latin typeface="Arial"/>
                        </a:rPr>
                        <a:t>0,107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A22"/>
                          </a:solidFill>
                          <a:latin typeface="Arial"/>
                        </a:rPr>
                        <a:t>29,7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A22"/>
                          </a:solidFill>
                          <a:latin typeface="Arial"/>
                        </a:rPr>
                        <a:t>int8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A22"/>
                          </a:solidFill>
                          <a:latin typeface="Arial"/>
                        </a:rPr>
                        <a:t>0,031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E2A22"/>
                          </a:solidFill>
                          <a:latin typeface="Arial"/>
                        </a:rPr>
                        <a:t>130,9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949440" y="420624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950" b="0" i="0">
                <a:solidFill>
                  <a:srgbClr val="6E7A6C"/>
                </a:solidFill>
                <a:latin typeface="Arial"/>
              </a:rPr>
              <a:t>TorchScript ускоряет batch-1 в 1,6 раза без потери точности.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950" b="0" i="0">
                <a:solidFill>
                  <a:srgbClr val="6E7A6C"/>
                </a:solidFill>
                <a:latin typeface="Arial"/>
              </a:rPr>
              <a:t>int8 сжимает веса в 3,2 раза, p99 отклонения 0,031.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950" b="0" i="0">
                <a:solidFill>
                  <a:srgbClr val="6E7A6C"/>
                </a:solidFill>
                <a:latin typeface="Arial"/>
              </a:rPr>
              <a:t>Для гидрокода выбираем TorchScript.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455664"/>
            <a:ext cx="10637215" cy="0"/>
          </a:xfrm>
          <a:prstGeom prst="line">
            <a:avLst/>
          </a:prstGeom>
          <a:ln w="9525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528816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Физически согласованный суррогат УРС алюминия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1255" y="65288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>
                <a:solidFill>
                  <a:srgbClr val="6E7A6C"/>
                </a:solidFill>
                <a:latin typeface="Arial"/>
              </a:rPr>
              <a:t>ИТ КоР · трек ML · кейс 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photo_turbine.jpg"/>
          <p:cNvPicPr>
            <a:picLocks noChangeAspect="1"/>
          </p:cNvPicPr>
          <p:nvPr/>
        </p:nvPicPr>
        <p:blipFill>
          <a:blip r:embed="rId2"/>
          <a:srcRect t="32812" b="32812"/>
          <a:stretch>
            <a:fillRect/>
          </a:stretch>
        </p:blipFill>
        <p:spPr>
          <a:xfrm>
            <a:off x="0" y="0"/>
            <a:ext cx="12191695" cy="228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4251C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 i="0" spc="180">
                <a:solidFill>
                  <a:srgbClr val="FFFFFF"/>
                </a:solidFill>
                <a:latin typeface="Arial"/>
              </a:rPr>
              <a:t>ИТОГИ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Georgia"/>
              </a:rPr>
              <a:t>Решение закрывает чек-лист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Ограничения честно названы, план развития — ниже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50">
                <a:solidFill>
                  <a:srgbClr val="1F5C43"/>
                </a:solidFill>
                <a:latin typeface="Arial"/>
              </a:rPr>
              <a:t>СДЕЛАНО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880360"/>
            <a:ext cx="3246119" cy="0"/>
          </a:xfrm>
          <a:prstGeom prst="line">
            <a:avLst/>
          </a:prstGeom>
          <a:ln w="15240">
            <a:solidFill>
              <a:srgbClr val="1F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017520"/>
            <a:ext cx="32461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Пайплайн на 1 130 053 точках, EDA и baseline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Vanilla MLP: R²(P) = 0,99874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PINN: 0,43 % нарушений вместо 36 %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EOSSurrogate + TorchScript/int8, 0,10 МБ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Карты ошибок и нарушений, README и docstrings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060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50">
                <a:solidFill>
                  <a:srgbClr val="6E7A6C"/>
                </a:solidFill>
                <a:latin typeface="Arial"/>
              </a:rPr>
              <a:t>ОГРАНИЧЕНИЯ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97680" y="2880360"/>
            <a:ext cx="3246120" cy="0"/>
          </a:xfrm>
          <a:prstGeom prst="line">
            <a:avLst/>
          </a:prstGeom>
          <a:ln w="15240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97680" y="3017520"/>
            <a:ext cx="32461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Точность упирается в разрывы исходной таблицы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На стыках регионов ошибка выше средней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Физика проверяется по точечным производным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Обучение на CPU: 4 минуты, качество соответствующее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06040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50">
                <a:solidFill>
                  <a:srgbClr val="6E7A6C"/>
                </a:solidFill>
                <a:latin typeface="Arial"/>
              </a:rPr>
              <a:t>ДАЛЬШЕ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2880360"/>
            <a:ext cx="3246120" cy="0"/>
          </a:xfrm>
          <a:prstGeom prst="line">
            <a:avLst/>
          </a:prstGeom>
          <a:ln w="15240">
            <a:solidFill>
              <a:srgbClr val="E7E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8120" y="3017520"/>
            <a:ext cx="32461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Фурье-признаки и кусочно-гладкие активации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Обучение на сглаженной по регионам таблице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Один ансамбль на несколько веществ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1">
                <a:solidFill>
                  <a:srgbClr val="1F5C43"/>
                </a:solidFill>
                <a:latin typeface="Arial"/>
              </a:rPr>
              <a:t>·  </a:t>
            </a:r>
            <a:r>
              <a:rPr sz="950" b="0" i="0">
                <a:solidFill>
                  <a:srgbClr val="1E2A22"/>
                </a:solidFill>
                <a:latin typeface="Arial"/>
              </a:rPr>
              <a:t>Экспорт в ONNX и замер в гидрокоде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5852160"/>
            <a:ext cx="10637215" cy="0"/>
          </a:xfrm>
          <a:prstGeom prst="line">
            <a:avLst/>
          </a:prstGeom>
          <a:ln w="12700">
            <a:solidFill>
              <a:srgbClr val="DCD3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59893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1" i="0" spc="150">
                <a:solidFill>
                  <a:srgbClr val="6E7A6C"/>
                </a:solidFill>
                <a:latin typeface="Arial"/>
              </a:rPr>
              <a:t>АРТЕФАКТЫ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989320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>
                <a:solidFill>
                  <a:srgbClr val="1E2A22"/>
                </a:solidFill>
                <a:latin typeface="Consolas"/>
              </a:rPr>
              <a:t>Case_one.ipynb · eos_surrogate.py · normalization.json · pinn_best_physics.pt · comparison_table.csv · error_heatmap_scientific.png ·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