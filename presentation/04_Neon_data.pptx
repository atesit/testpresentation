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— заменить табличное уравнение состояния алюминия быстрым и физически корректным суррогатом. Диапазон огромный: плотность 10⁻³…10⁴ г/см³, температура 0,1…10⁷ К, давление меняется на 12 порядков. Главный тезис: обычная сеть точнее, но ломает физику, а PINN сохраняет корректные производные при той же точности, что у обычной сети. Вес модели — 0,1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регрессию, а термодинамически согласованный суррогат: нужны производные и скорость звука. Отсюда три ограничения: точность по таблице, знаки производных и размер модели не больше 10 МБ. Сразу подчеркнуть жюри: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закрыт каждый пункт.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сеток. Внутри региона сетка регулярная, но стыки регионов не согласованы — из этой особенности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воспроизводит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ρ = 2,7, T ≈ 140 К, где энергия скачет с 0,128 до 0,093 кДж/г. Гладкая сеть это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0,999. Но 36 % точек нефизичны: в 33 % отрицательная теплоёмкость, в 11 %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Данные дают точность, физика — корректность,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постановки.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приёма,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главный инженерный приём. Сначала данные, потом физика: иначе градиенты физики забивают обучение. Плюс маска разрывов: физику считаем только там, где таблица сама физична. Физический лосс падает на шесть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Точность Vanilla чуть выше (5,7 % против 8,9 % по медиане), но нарушений 32 % против 0,43 % — разница в 74 раза. Размер одинаковый,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Ошибка концентрируется узкой полосой вдоль разрывов, там она в 1,7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Vanilla — целые области нарушений,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табличными конечными разностями: R² = 0,90, медианное отклонение 11,7 %. Расхождения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— векторный инференс, sound_speed — autograd внутри, check_physics — маски нарушений. 10⁵ запросов за 0,13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TorchScript ускоряет одиночный запрос в 1,6 раза, int8 сжимает веса в 3,2 раза ценой p99 отклонения 0,034 в нормированных единицах.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Закрыты все пункты чек-листа. Честно про ограничения: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1695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2339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5085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678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0847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0171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3186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3561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525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1695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78647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034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02037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6373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25428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87123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761695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52339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285085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04678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80847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570171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33186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093561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525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photo_network.jpg"/>
          <p:cNvPicPr>
            <a:picLocks noChangeAspect="1"/>
          </p:cNvPicPr>
          <p:nvPr/>
        </p:nvPicPr>
        <p:blipFill>
          <a:blip r:embed="rId2"/>
          <a:srcRect l="34880" r="28538"/>
          <a:stretch>
            <a:fillRect/>
          </a:stretch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25E0C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05070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585216" y="502920"/>
            <a:ext cx="228600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5216" y="502920"/>
            <a:ext cx="0" cy="22860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37976" y="502920"/>
            <a:ext cx="228600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66576" y="502920"/>
            <a:ext cx="0" cy="22860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" y="6263640"/>
            <a:ext cx="228600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5216" y="6035040"/>
            <a:ext cx="0" cy="22860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37976" y="6263640"/>
            <a:ext cx="228600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466576" y="6035040"/>
            <a:ext cx="0" cy="22860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86868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200">
                <a:solidFill>
                  <a:srgbClr val="25E0C0"/>
                </a:solidFill>
                <a:latin typeface="Consolas"/>
              </a:rPr>
              <a:t>fizika v losse · al · 12 poryadkov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234440"/>
            <a:ext cx="7863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 spc="-60">
                <a:solidFill>
                  <a:srgbClr val="E8F1FF"/>
                </a:solidFill>
                <a:latin typeface="Arial"/>
              </a:rPr>
              <a:t>Суррогат уравнения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 spc="-60">
                <a:solidFill>
                  <a:srgbClr val="E8F1FF"/>
                </a:solidFill>
                <a:latin typeface="Arial"/>
              </a:rPr>
              <a:t>состояния алюминия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 spc="-60">
                <a:solidFill>
                  <a:srgbClr val="E8F1FF"/>
                </a:solidFill>
                <a:latin typeface="Arial"/>
              </a:rPr>
              <a:t>на физическом лоссе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977639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7B8FAC"/>
                </a:solidFill>
                <a:latin typeface="Arial"/>
              </a:rPr>
              <a:t>P(ρ,T), e(ρ,T) и c_s. Ошибка по медиане 8,9 %, нарушений физики 0,43 %, вес модели 0,10 МБ.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12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5E0C0"/>
                </a:solidFill>
                <a:latin typeface="Consolas"/>
              </a:rPr>
              <a:t>0,43 %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VIOLATIONS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212080"/>
            <a:ext cx="0" cy="658368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337560" y="5212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5E0C0"/>
                </a:solidFill>
                <a:latin typeface="Consolas"/>
              </a:rPr>
              <a:t>×84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56692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VS VANILLA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154680" y="5212080"/>
            <a:ext cx="0" cy="658368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0" y="5212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5E0C0"/>
                </a:solidFill>
                <a:latin typeface="Consolas"/>
              </a:rPr>
              <a:t>0,10 МБ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6692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WEIGHTS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760720" y="5212080"/>
            <a:ext cx="0" cy="658368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49640" y="5212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5E0C0"/>
                </a:solidFill>
                <a:latin typeface="Consolas"/>
              </a:rPr>
              <a:t>0,95 мкс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6692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PER QUERY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366760" y="5212080"/>
            <a:ext cx="0" cy="658368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1520" y="630936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40">
                <a:solidFill>
                  <a:srgbClr val="7B8FAC"/>
                </a:solidFill>
                <a:latin typeface="Consolas"/>
              </a:rPr>
              <a:t>ИТ КоР · ТРЕК MACHINE LEARNING · КЕЙС 01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ПОСТАНОВКА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201168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Что требовалось в кейсе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Организатор — Росатом, трек ML; кейс «нейросетевая аппроксимация широкодиапазонного УРС»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246120" cy="192024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3246120" cy="3657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060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20">
                <a:solidFill>
                  <a:srgbClr val="E8F1FF"/>
                </a:solidFill>
                <a:latin typeface="Arial"/>
              </a:rPr>
              <a:t>ТОЧНОСТЬ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P и e по всей диаграмме, не только в узлах сетки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148840"/>
            <a:ext cx="3246120" cy="192024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51960" y="2148840"/>
            <a:ext cx="3246120" cy="3657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60" y="233172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20">
                <a:solidFill>
                  <a:srgbClr val="E8F1FF"/>
                </a:solidFill>
                <a:latin typeface="Arial"/>
              </a:rPr>
              <a:t>ФИЗИКА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718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∂P/∂ρ &gt; 0, ∂e/∂T &gt; 0, 0 &lt; c_s &lt;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148840"/>
            <a:ext cx="3246120" cy="192024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772400" y="2148840"/>
            <a:ext cx="3246120" cy="36576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01000" y="233172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6060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spc="120">
                <a:solidFill>
                  <a:srgbClr val="E8F1FF"/>
                </a:solidFill>
                <a:latin typeface="Arial"/>
              </a:rPr>
              <a:t>ГАБАРИТ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97180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до 10 МБ, микросекунды, без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Arial"/>
              </a:rPr>
              <a:t>Гидрокоду нужны не только P и e, но и производные: от них зависит устойчивость численной схемы. Поэтому физика проверяется в лоссе, а не только на защите.</a:t>
            </a:r>
          </a:p>
        </p:txBody>
      </p:sp>
      <p:pic>
        <p:nvPicPr>
          <p:cNvPr id="26" name="Picture 25" descr="photo_compute.jpg"/>
          <p:cNvPicPr>
            <a:picLocks noChangeAspect="1"/>
          </p:cNvPicPr>
          <p:nvPr/>
        </p:nvPicPr>
        <p:blipFill>
          <a:blip r:embed="rId2"/>
          <a:srcRect t="5864" b="5864"/>
          <a:stretch>
            <a:fillRect/>
          </a:stretch>
        </p:blipFill>
        <p:spPr>
          <a:xfrm>
            <a:off x="7772400" y="4297680"/>
            <a:ext cx="3703320" cy="1783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772400" y="4297680"/>
            <a:ext cx="3703320" cy="1783080"/>
          </a:xfrm>
          <a:prstGeom prst="rect">
            <a:avLst/>
          </a:prstGeom>
          <a:solidFill>
            <a:srgbClr val="25E0C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0" y="5989320"/>
            <a:ext cx="3703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25E0C0"/>
                </a:solidFill>
                <a:latin typeface="Consolas"/>
              </a:rPr>
              <a:t>inference target: CPU, batch 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КРИТЕРИИ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301752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Как закрыт чек-лист на 100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Структура ответа повторяет финальное задание: 9 критериев, 100 баллов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Погружение в предметную область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2258568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892040" y="2258568"/>
            <a:ext cx="329184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19456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1284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разбор УРС, фазовой диаграммы и роли c_s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560320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264261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2432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Обработка данных и EDA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688335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92040" y="2688335"/>
            <a:ext cx="658368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20840" y="2624327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642615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1,13 млн точек, карты P и e, 20 регионов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2990087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30723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05409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Baseline: билинейная интерполяция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118103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892040" y="3118103"/>
            <a:ext cx="329184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20840" y="305409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07238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20 RegularGridInterpolator + метрики и скорость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3419856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35021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48386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Обучение моделей и оценка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47872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892040" y="3547872"/>
            <a:ext cx="987552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348386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350215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Vanilla MLP: R² = 0,999, кривые обучения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" y="3849624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1520" y="39319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PINN и физические ограничения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3977639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892040" y="3977639"/>
            <a:ext cx="1645920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20840" y="39136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393192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physics-лосс на autograd, нарушений 0,43 %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1520" y="4279392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4361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3434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Инференс и упаковка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4407407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892040" y="4407407"/>
            <a:ext cx="658368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20840" y="43434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0" y="43616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EOSSurrogate: predict / sound_speed / check_physics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1520" y="4709159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1520" y="47914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7731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Сжатие и скорость работы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4837176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892040" y="4837176"/>
            <a:ext cx="658368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720840" y="477316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479145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TorchScript и int8: −69 % размера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1520" y="5138928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1520" y="52212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20293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Выступление и презентация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92040" y="5266944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892040" y="5266944"/>
            <a:ext cx="658368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720840" y="52029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0" y="52212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эта презентация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1520" y="5568696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31520" y="565099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Consolas"/>
              </a:rP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563270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Документация и оформление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92040" y="5696712"/>
            <a:ext cx="1645920" cy="128016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4892040" y="5696712"/>
            <a:ext cx="658368" cy="12801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720840" y="56327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0" y="565099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README, docstrings Google-style, normalization.json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31520" y="5998464"/>
            <a:ext cx="1072865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31520" y="603504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5E0C0"/>
                </a:solidFill>
                <a:latin typeface="Consolas"/>
              </a:rPr>
              <a:t>// total 100 / 100 · все артефакты в репозитории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ДАННЫЕ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402336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20 сеток · 1 130 053 строки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4 диапазона ρ × 5 диапазонов T; внутри региона — регулярная сетка 300 ×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E8F1FF"/>
                </a:solidFill>
                <a:latin typeface="Consolas"/>
              </a:rPr>
              <a:t>1 130 053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20">
                <a:solidFill>
                  <a:srgbClr val="25E0C0"/>
                </a:solidFill>
                <a:latin typeface="Consolas"/>
              </a:rPr>
              <a:t>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19456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11880" y="235915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E8F1FF"/>
                </a:solidFill>
                <a:latin typeface="Consola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8950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20">
                <a:solidFill>
                  <a:srgbClr val="25E0C0"/>
                </a:solidFill>
                <a:latin typeface="Consolas"/>
              </a:rPr>
              <a:t>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9456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E8F1FF"/>
                </a:solidFill>
                <a:latin typeface="Consolas"/>
              </a:rPr>
              <a:t>300 ×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950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20">
                <a:solidFill>
                  <a:srgbClr val="25E0C0"/>
                </a:solidFill>
                <a:latin typeface="Consolas"/>
              </a:rPr>
              <a:t>GRID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194560"/>
            <a:ext cx="246888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06840" y="235915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E8F1FF"/>
                </a:solidFill>
                <a:latin typeface="Consolas"/>
              </a:rPr>
              <a:t>226 011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88950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20">
                <a:solidFill>
                  <a:srgbClr val="25E0C0"/>
                </a:solidFill>
                <a:latin typeface="Consolas"/>
              </a:rPr>
              <a:t>TEST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00" b="0" i="0">
                <a:solidFill>
                  <a:srgbClr val="7B8FAC"/>
                </a:solidFill>
                <a:latin typeface="Arial"/>
              </a:rPr>
              <a:t>20 независимых таблиц: внутри региона гладко, на стыках несогласованно.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00" b="0" i="0">
                <a:solidFill>
                  <a:srgbClr val="7B8FAC"/>
                </a:solidFill>
                <a:latin typeface="Arial"/>
              </a:rPr>
              <a:t>9,5 % узлов полной сетки дают нефизичные производные — до всякой модели.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00" b="0" i="0">
                <a:solidFill>
                  <a:srgbClr val="7B8FAC"/>
                </a:solidFill>
                <a:latin typeface="Arial"/>
              </a:rPr>
              <a:t>Тест — 20 % стратифицированной выборки.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3657600"/>
            <a:ext cx="4892040" cy="228600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able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361" y="3749039"/>
            <a:ext cx="2197237" cy="18836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65975" y="5705856"/>
            <a:ext cx="4636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c_s по таблице, км/с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502920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Что видно в данных: поля P и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Давление и энергия меняются на 12 порядков — это задаёт нормировку и архитектуру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30352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eda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7511"/>
            <a:ext cx="5120640" cy="2375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5047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P и e на полной сетке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P меняется на 12 порядков → log на входе и на выходе.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e проходит через ноль → линейный выход, без логарифма.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Скачки на картах — стыки регионов, а не шум.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5080" y="3246120"/>
            <a:ext cx="4572000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55080" y="4251960"/>
            <a:ext cx="4572000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ПОДГОТОВКА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603504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Нормализация и цифровой паспорт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Все преобразования зафиксированы в normalization.json — инференс воспроизводим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45720" cy="914400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228600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5E0C0"/>
                </a:solidFill>
                <a:latin typeface="Consolas"/>
              </a:rPr>
              <a:t>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x = (log₁₀ρ − a) / (b − 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517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log₁₀ρ ∈ [−3, 4] · log₁₀T ∈ [−1, 7]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45720" cy="914400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7552" y="3383279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5E0C0"/>
                </a:solidFill>
                <a:latin typeface="Consola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36499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log₁₀P → 10^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749039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P ∈ [10⁻⁶, 10⁶] ГПа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45720" cy="914400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7552" y="4480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5E0C0"/>
                </a:solidFill>
                <a:latin typeface="Consola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622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линейно, кДж/г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8463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e ∈ [−0,2, 10³], знак сохраняется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14884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050" b="0" i="0">
                <a:solidFill>
                  <a:srgbClr val="7B8FAC"/>
                </a:solidFill>
                <a:latin typeface="Arial"/>
              </a:rPr>
              <a:t>normalization.json — единственный источник констант.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050" b="0" i="0">
                <a:solidFill>
                  <a:srgbClr val="7B8FAC"/>
                </a:solidFill>
                <a:latin typeface="Arial"/>
              </a:rPr>
              <a:t>Инференс воспроизводим без нашего кода.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050" b="0" i="0">
                <a:solidFill>
                  <a:srgbClr val="7B8FAC"/>
                </a:solidFill>
                <a:latin typeface="Arial"/>
              </a:rPr>
              <a:t>Границы области определения описаны явно.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2148840"/>
            <a:ext cx="0" cy="411480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704088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Билинейная интерполяция как эталон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20 интерполяторов RegularGridInterpolator по регионам, та же тестовая выборка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48840"/>
          <a:ext cx="6949438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95301"/>
                <a:gridCol w="1263534"/>
                <a:gridCol w="1368829"/>
                <a:gridCol w="1158240"/>
                <a:gridCol w="126353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B8FAC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8FA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8FAC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8FAC"/>
                          </a:solidFill>
                          <a:latin typeface="Arial"/>
                        </a:rPr>
                        <a:t>Покрытие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8FAC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Arial"/>
                        </a:rPr>
                        <a:t>Полная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Arial"/>
                        </a:rPr>
                        <a:t>×2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4,3 МБ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0,0002 %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99,4 %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3,1 %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Arial"/>
                        </a:rPr>
                        <a:t>×4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1,1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0,0016 %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98,7 %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4,4 %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Arial"/>
                        </a:rPr>
                        <a:t>×8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0,28 МБ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0,0075 %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96,7 %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7548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В узлах точна → по MSE не обогнать. Но 17 МБ, разрывные производные и 2,86 % нарушений уже в самой таблице.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148840"/>
            <a:ext cx="3337560" cy="288036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826918"/>
            <a:ext cx="3154679" cy="13047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0456" y="4791456"/>
            <a:ext cx="3081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размер и время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16636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5E0C0"/>
                </a:solidFill>
                <a:latin typeface="Consolas"/>
              </a:rPr>
              <a:t>Таблица проигрывает по памяти в 170 раз.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ПОЧЕМУ НЕ ТАБЛИЦА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804672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Разрывы ломают производные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0" b="1" i="0" spc="-200">
                <a:solidFill>
                  <a:srgbClr val="25E0C0"/>
                </a:solidFill>
                <a:latin typeface="Consolas"/>
              </a:rPr>
              <a:t>9,5 %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E8F1FF"/>
                </a:solidFill>
                <a:latin typeface="Arial"/>
              </a:rPr>
              <a:t>узлов полной таблицы дают нефизичные производные: c_s² ≤ 0, ∂P/∂ρ ≤ 0 или ∂e/∂T ≤ 0</a:t>
            </a:r>
          </a:p>
        </p:txBody>
      </p:sp>
      <p:pic>
        <p:nvPicPr>
          <p:cNvPr id="11" name="Picture 10" descr="photo_micro.jpg"/>
          <p:cNvPicPr>
            <a:picLocks noChangeAspect="1"/>
          </p:cNvPicPr>
          <p:nvPr/>
        </p:nvPicPr>
        <p:blipFill>
          <a:blip r:embed="rId2"/>
          <a:srcRect l="18495" r="18495"/>
          <a:stretch>
            <a:fillRect/>
          </a:stretch>
        </p:blipFill>
        <p:spPr>
          <a:xfrm>
            <a:off x="5852159" y="2103120"/>
            <a:ext cx="3063240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52159" y="2103120"/>
            <a:ext cx="3063240" cy="2651760"/>
          </a:xfrm>
          <a:prstGeom prst="rect">
            <a:avLst/>
          </a:prstGeom>
          <a:solidFill>
            <a:srgbClr val="25E0C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52159" y="4828032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AL · MICROSTRUCTURE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2402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950" b="0" i="0">
                <a:solidFill>
                  <a:srgbClr val="E8F1FF"/>
                </a:solidFill>
                <a:latin typeface="Consolas"/>
              </a:rPr>
              <a:t>ρ = 2,7 · T ≈ 140 К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950" b="0" i="0">
                <a:solidFill>
                  <a:srgbClr val="E8F1FF"/>
                </a:solidFill>
                <a:latin typeface="Consolas"/>
              </a:rPr>
              <a:t>e: 0,128 → 0,093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950" b="0" i="0">
                <a:solidFill>
                  <a:srgbClr val="E8F1FF"/>
                </a:solidFill>
                <a:latin typeface="Consolas"/>
              </a:rPr>
              <a:t>перепад 27 % за две ячейки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950" b="0" i="0">
                <a:solidFill>
                  <a:srgbClr val="E8F1FF"/>
                </a:solidFill>
                <a:latin typeface="Consolas"/>
              </a:rPr>
              <a:t>c_s² &lt; 0 — мнимое значение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788920"/>
            <a:ext cx="21945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35440" y="3447287"/>
            <a:ext cx="21945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4105656"/>
            <a:ext cx="21945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35440" y="4764024"/>
            <a:ext cx="21945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МОДЕЛЬ 1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905256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Vanilla MLP: точность без физики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2 → 128 → 128 → 64 → 2, tanh, 25 282 параметра, 150 эпох, OneCycle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67512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72" y="2240280"/>
            <a:ext cx="5301815" cy="3209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6419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train / test, MSE в нормированных единицах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4884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18119" y="227685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5E0C0"/>
                </a:solidFill>
                <a:latin typeface="Consolas"/>
              </a:rPr>
              <a:t>0,99874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26791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R²(P)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06324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8119" y="319125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5E0C0"/>
                </a:solidFill>
                <a:latin typeface="Consolas"/>
              </a:rPr>
              <a:t>9,17 %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3593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MEDIAN 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977639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18119" y="410565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5E0C0"/>
                </a:solidFill>
                <a:latin typeface="Consolas"/>
              </a:rPr>
              <a:t>0,99926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5079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R²(E)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89204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18119" y="502005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3D81"/>
                </a:solidFill>
                <a:latin typeface="Consolas"/>
              </a:rPr>
              <a:t>36,17 %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5422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VIOLATIONS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МОДЕЛЬ 2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005840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PINN: та же сеть плюс физика в лоссе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Производные считаются автоградиентом в графе вычислений и штрафуются в функции потерь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2860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60">
                <a:solidFill>
                  <a:srgbClr val="7B8FAC"/>
                </a:solidFill>
                <a:latin typeface="Consola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603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log₁₀ 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log₁₀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7B8FAC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148840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25E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178807" y="22860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60">
                <a:solidFill>
                  <a:srgbClr val="25E0C0"/>
                </a:solidFill>
                <a:latin typeface="Consolas"/>
              </a:rPr>
              <a:t>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25603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2→128→128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→64→2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26060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7B8FAC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2148840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24927" y="22860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60">
                <a:solidFill>
                  <a:srgbClr val="7B8FAC"/>
                </a:solidFill>
                <a:latin typeface="Consola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5603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log₁₀ P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E8F1FF"/>
                </a:solidFill>
                <a:latin typeface="Consolas"/>
              </a:rPr>
              <a:t>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149840" cy="14173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5E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85800" y="3611880"/>
            <a:ext cx="164592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" y="3611880"/>
            <a:ext cx="0" cy="164592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762488" y="3611880"/>
            <a:ext cx="164592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27080" y="3611880"/>
            <a:ext cx="0" cy="164592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" y="5120640"/>
            <a:ext cx="164592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" y="4956048"/>
            <a:ext cx="0" cy="164592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762488" y="5120640"/>
            <a:ext cx="164592" cy="0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27080" y="4956048"/>
            <a:ext cx="0" cy="164592"/>
          </a:xfrm>
          <a:prstGeom prst="line">
            <a:avLst/>
          </a:prstGeom>
          <a:ln w="20320">
            <a:solidFill>
              <a:srgbClr val="25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3840480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20">
                <a:solidFill>
                  <a:srgbClr val="25E0C0"/>
                </a:solidFill>
                <a:latin typeface="Consolas"/>
              </a:rPr>
              <a:t>LOSS = L_DATA + γ · (L_STAB + L_CAP + L_CS)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33087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autograd.grad по входам → цепное правило до СГС → ReLU-штрафы на ∂P/∂ρ, ∂e/∂T и c_s². γ = 0,03.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B8FAC"/>
                </a:solidFill>
                <a:latin typeface="Arial"/>
              </a:rPr>
              <a:t>Данные отвечают за точность, физика — за корректность производных.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ФИЗИКА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106424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Три ограничения — и в лоссе, и в проверке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Формулировки из постановки кейса; все проверки выполняются в системе СГС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122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5E0C0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93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8F1FF"/>
                </a:solidFill>
                <a:latin typeface="Arial"/>
              </a:rPr>
              <a:t>Термодинамическая устойчивость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12264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5E0C0"/>
                </a:solidFill>
                <a:latin typeface="Consolas"/>
              </a:rPr>
              <a:t>∂P/∂ρ &gt;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7802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16936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B8FAC"/>
                </a:solidFill>
                <a:latin typeface="Consolas"/>
              </a:rPr>
              <a:t>штраф: mean(ReLU(−∂P/∂ρ)) / median|∂P/∂ρ|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246120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4107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5E0C0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92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8F1FF"/>
                </a:solidFill>
                <a:latin typeface="Arial"/>
              </a:rPr>
              <a:t>Положительная теплоёмкость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10712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5E0C0"/>
                </a:solidFill>
                <a:latin typeface="Consolas"/>
              </a:rPr>
              <a:t>∂e/∂T &gt;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7647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15384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B8FAC"/>
                </a:solidFill>
                <a:latin typeface="Consolas"/>
              </a:rPr>
              <a:t>штраф: mean(ReLU(−∂e/∂T)) / median|∂e/∂T|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54456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70915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5E0C0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90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8F1FF"/>
                </a:solidFill>
                <a:latin typeface="Arial"/>
              </a:rPr>
              <a:t>Скорость звука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59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5E0C0"/>
                </a:solidFill>
                <a:latin typeface="Consolas"/>
              </a:rPr>
              <a:t>c_s² = (∂P/∂ρ)_T + T·(∂P/∂T)²_ρ / (ρ²·∂e/∂T)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74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8FAC"/>
                </a:solidFill>
                <a:latin typeface="Arial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13831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7B8FAC"/>
                </a:solidFill>
                <a:latin typeface="Consolas"/>
              </a:rPr>
              <a:t>штраф: ReLU(−c_s²) + ReLU(c_s² − c²)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584301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system: cgs · checks run per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РЕАЛИЗАЦИЯ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207008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Как производные попадают в лосс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torch.autograd.grad по входам сети, цепное правило до физических единиц, устойчивые штрафы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400800" cy="379476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50292" cy="3794760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289657"/>
            <a:ext cx="5998464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x.requires_grad_(True)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out = model(x)              # log10P, e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gP = autograd.grad(out[:, 0].sum(), x,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                  create_graph=True,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                  retain_graph=True)[0]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7B8FAC"/>
                </a:solidFill>
                <a:latin typeface="Consolas"/>
              </a:rPr>
              <a:t># цепное правило: log10 -&gt; физические единицы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dP_drho = P * gP[:, 0] * span_lp / span_lr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                    / (rho * ln10)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de_dT   = ge[:, 1] * span_e / span_lt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                    / (T * ln10)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7B8FAC"/>
                </a:solidFill>
                <a:latin typeface="Consolas"/>
              </a:rPr>
              <a:t># безразмерные штрафы по ReLU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E8F1FF"/>
                </a:solidFill>
                <a:latin typeface="Consolas"/>
              </a:rPr>
              <a:t>loss_stab = relu(-dP_drho / s_p).mean()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E8F1FF"/>
                </a:solidFill>
                <a:latin typeface="Consolas"/>
              </a:rPr>
              <a:t>loss_cap  = relu(-de_dT   / s_e).mean()</a:t>
            </a:r>
          </a:p>
          <a:p>
            <a:pPr>
              <a:lnSpc>
                <a:spcPct val="122000"/>
              </a:lnSpc>
            </a:pPr>
            <a:r>
              <a:rPr sz="1000" b="1">
                <a:solidFill>
                  <a:srgbClr val="E8F1FF"/>
                </a:solidFill>
                <a:latin typeface="Consolas"/>
              </a:rPr>
              <a:t>loss_cs   = relu(-cs2/c**2) + relu(cs2/c**2 - 1)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8600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40">
                <a:solidFill>
                  <a:srgbClr val="25E0C0"/>
                </a:solidFill>
                <a:latin typeface="Consolas"/>
              </a:rPr>
              <a:t>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420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E8F1FF"/>
                </a:solidFill>
                <a:latin typeface="Arial"/>
              </a:rPr>
              <a:t>0,03 — больше ломает регрессию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3200400"/>
            <a:ext cx="329184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42900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40">
                <a:solidFill>
                  <a:srgbClr val="25E0C0"/>
                </a:solidFill>
                <a:latin typeface="Consolas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6850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E8F1FF"/>
                </a:solidFill>
                <a:latin typeface="Arial"/>
              </a:rPr>
              <a:t>штраф делится на медиану |∂P/∂ρ|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4343400"/>
            <a:ext cx="329184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457200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40">
                <a:solidFill>
                  <a:srgbClr val="25E0C0"/>
                </a:solidFill>
                <a:latin typeface="Consolas"/>
              </a:rPr>
              <a:t>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8280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E8F1FF"/>
                </a:solidFill>
                <a:latin typeface="Arial"/>
              </a:rPr>
              <a:t>физика там, где таблица физична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5486400"/>
            <a:ext cx="329184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physics loss · pytorch autograd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ОБУЧЕНИЕ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307592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Два этапа: данные, затем физика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Разделение этапов убирает главную проблему PINN — борьбу градиентов данных и физики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4892040" cy="2148840"/>
          </a:xfrm>
          <a:prstGeom prst="roundRect">
            <a:avLst>
              <a:gd name="adj" fmla="val 6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4892040" cy="36576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23317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25E0C0"/>
                </a:solidFill>
                <a:latin typeface="Consolas"/>
              </a:rPr>
              <a:t>STAGE 1 ·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606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8F1FF"/>
                </a:solidFill>
                <a:latin typeface="Arial"/>
              </a:rPr>
              <a:t>150 эпох, OneCycle, 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63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E8F1FF"/>
                </a:solidFill>
                <a:latin typeface="Consolas"/>
              </a:rPr>
              <a:t>R²(P) ≈ 0,999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118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быстро и устойчиво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2148840"/>
            <a:ext cx="4892040" cy="2148840"/>
          </a:xfrm>
          <a:prstGeom prst="roundRect">
            <a:avLst>
              <a:gd name="adj" fmla="val 6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80759" y="2148840"/>
            <a:ext cx="4892040" cy="36576"/>
          </a:xfrm>
          <a:prstGeom prst="rect">
            <a:avLst/>
          </a:prstGeom>
          <a:solidFill>
            <a:srgbClr val="FF3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36792" y="23317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FF3D81"/>
                </a:solidFill>
                <a:latin typeface="Consolas"/>
              </a:rPr>
              <a:t>STAGE 2 · 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06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E8F1FF"/>
                </a:solidFill>
                <a:latin typeface="Arial"/>
              </a:rPr>
              <a:t>γ = 0,03, маска, lr/10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063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E8F1FF"/>
                </a:solidFill>
                <a:latin typeface="Consolas"/>
              </a:rPr>
              <a:t>36,17 % → 0,43 %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6118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чинит производные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51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5E0C0"/>
                </a:solidFill>
                <a:latin typeface="Consola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Совместное обучение по двум лоссам сразу разваливало точность: градиенты физики забивали сигнал данных. Разделение этапов — главный инженерный приём работы. Повторная физическая стадия не улучшала результат.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408176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Итоговое сравнение трёх подходов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226 011 точек, все метрики посчитаны одним скриптом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48840"/>
          <a:ext cx="10728650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83484"/>
                <a:gridCol w="1192072"/>
                <a:gridCol w="1291412"/>
                <a:gridCol w="1092733"/>
                <a:gridCol w="1192072"/>
                <a:gridCol w="1390751"/>
                <a:gridCol w="1192072"/>
                <a:gridCol w="894054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ПОДХОД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R²(P)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P95 P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R²(E)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0,54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Consolas"/>
                        </a:rPr>
                        <a:t>Vanilla MLP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0,99874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9,17 %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28,67 %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0,99926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36,17 %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0,98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8F1FF"/>
                          </a:solidFill>
                          <a:latin typeface="Consolas"/>
                        </a:rPr>
                        <a:t>PINN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0,99865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8,94 %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28,25 %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0,99953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0,43 %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F1FF"/>
                          </a:solidFill>
                          <a:latin typeface="Consolas"/>
                        </a:rPr>
                        <a:t>0,96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709160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E8F1FF"/>
                </a:solidFill>
                <a:latin typeface="Arial"/>
              </a:rPr>
              <a:t>Точность практически равна (9,17 % против 8,94 %), но нарушений в 84 раза больше.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6634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19" y="4791455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5E0C0"/>
                </a:solidFill>
                <a:latin typeface="Consolas"/>
              </a:rPr>
              <a:t>0,43 %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51937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PINN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466344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72600" y="4791455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3D81"/>
                </a:solidFill>
                <a:latin typeface="Consolas"/>
              </a:rPr>
              <a:t>36,17 %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193792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 spc="100">
                <a:solidFill>
                  <a:srgbClr val="7B8FAC"/>
                </a:solidFill>
                <a:latin typeface="Consolas"/>
              </a:rPr>
              <a:t>VANILLA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ДИАГНОСТИКА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508760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Где модель ошибается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Относительная ошибка P на сетке 220 × 300 точек по всей диаграмме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768096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007" y="2240280"/>
            <a:ext cx="5869985" cy="3209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7424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Vanilla слева, PINN справа · |ΔP| / P,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2402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РАЗРЫВЫ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4414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13,4 %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898648"/>
            <a:ext cx="274320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06324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ГЛАДКИЕ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26440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8,1 %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2520" y="3721608"/>
            <a:ext cx="274320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32520" y="38862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МЕДИАНА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0873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8,94 %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2520" y="4544568"/>
            <a:ext cx="274320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32520" y="47091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ДОЛЯ РАЗРЫВОВ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91032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16,3 %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2520" y="5367528"/>
            <a:ext cx="274320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ДИАГНОСТИКА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609344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Карта нарушений: физика под контролем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Флаги нарушений в каждой точке диаграммы — это и есть check_physics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94360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io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06749"/>
            <a:ext cx="5760720" cy="26766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5687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карта нарушений по площади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2148840"/>
            <a:ext cx="4526280" cy="20116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violation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651" y="2240280"/>
            <a:ext cx="2828416" cy="1609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31736" y="3922776"/>
            <a:ext cx="4270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нарушения по типам, %</a:t>
            </a:r>
          </a:p>
        </p:txBody>
      </p:sp>
      <p:pic>
        <p:nvPicPr>
          <p:cNvPr id="16" name="Picture 15" descr="photo_shock.jpg"/>
          <p:cNvPicPr>
            <a:picLocks noChangeAspect="1"/>
          </p:cNvPicPr>
          <p:nvPr/>
        </p:nvPicPr>
        <p:blipFill>
          <a:blip r:embed="rId4"/>
          <a:srcRect t="22222" b="22222"/>
          <a:stretch>
            <a:fillRect/>
          </a:stretch>
        </p:blipFill>
        <p:spPr>
          <a:xfrm>
            <a:off x="6903720" y="4343400"/>
            <a:ext cx="4526280" cy="1371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903720" y="4343400"/>
            <a:ext cx="4526280" cy="1371600"/>
          </a:xfrm>
          <a:prstGeom prst="rect">
            <a:avLst/>
          </a:prstGeom>
          <a:solidFill>
            <a:srgbClr val="25E0C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03720" y="5806440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E8F1FF"/>
                </a:solidFill>
                <a:latin typeface="Consolas"/>
              </a:rPr>
              <a:t>SHOCK / INTERFERENCE — ILLUSTRATION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ФИЗИКА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709928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Скорость звука: сверка с таблицей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c_s — самая чувствительная к производным величина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76656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002" y="2240280"/>
            <a:ext cx="3921595" cy="3209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6510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c_s PINN против табличной, км/с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2402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R²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414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0,94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2898648"/>
            <a:ext cx="26517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3063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МЕДИАНА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264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13,0 %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18120" y="3721608"/>
            <a:ext cx="26517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18120" y="38862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P95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0873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65 %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8120" y="4544568"/>
            <a:ext cx="26517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47091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8FAC"/>
                </a:solidFill>
                <a:latin typeface="Consolas"/>
              </a:rPr>
              <a:t>c_s ≥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9103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5E0C0"/>
                </a:solidFill>
                <a:latin typeface="Consolas"/>
              </a:rPr>
              <a:t>0 %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5367528"/>
            <a:ext cx="265176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УПАКОВКА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810512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EOSSurrogate: три метода и файл на 0,1 МБ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Класс-обёртка, docstrings Google-style, проверка области определения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400800" cy="379476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50292" cy="3794760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289657"/>
            <a:ext cx="5998464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from eos_surrogate import EOSSurrogate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eos = EOSSurrogate("pinn_best_physics.pt",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                  "normalization.json")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P, e = eos.predict(rho, T)       # ГПа, кДж/г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cs   = eos.sound_speed(rho, T)   # см/с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flags = eos.check_physics(rho, T)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7B8FAC"/>
                </a:solidFill>
                <a:latin typeface="Consolas"/>
              </a:rPr>
              <a:t>#   stable, positive_heat_capacity,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7B8FAC"/>
                </a:solidFill>
                <a:latin typeface="Consolas"/>
              </a:rPr>
              <a:t>#   causal_sound_speed, in_domain, ok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&gt;&gt;&gt; P, e = eos.predict(2.7, 1e4)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&gt;&gt;&gt; flags["ok"]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E8F1FF"/>
                </a:solidFill>
                <a:latin typeface="Consolas"/>
              </a:rPr>
              <a:t>array([ True])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0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P и e батчем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807208"/>
            <a:ext cx="338328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0175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sound_speed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0175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autograd, СГС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3584448"/>
            <a:ext cx="338328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37947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check_physics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794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маски и флаг 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4361688"/>
            <a:ext cx="338328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45720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in_domain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5720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B8FAC"/>
                </a:solidFill>
                <a:latin typeface="Arial"/>
              </a:rPr>
              <a:t>границы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5138928"/>
            <a:ext cx="338328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5486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E8F1FF"/>
                </a:solidFill>
                <a:latin typeface="Consolas"/>
              </a:rPr>
              <a:t>10⁵ запросов · 0,13 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5E0C0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7B8FAC"/>
                </a:solidFill>
                <a:latin typeface="Consolas"/>
              </a:rPr>
              <a:t>ОПТИМИЗАЦИЯ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448495" y="402336"/>
            <a:ext cx="2011680" cy="32004"/>
          </a:xfrm>
          <a:prstGeom prst="rect">
            <a:avLst/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48495" y="402336"/>
            <a:ext cx="1911096" cy="32004"/>
          </a:xfrm>
          <a:prstGeom prst="rect">
            <a:avLst/>
          </a:prstGeom>
          <a:solidFill>
            <a:srgbClr val="25E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73152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spc="-60">
                <a:solidFill>
                  <a:srgbClr val="E8F1FF"/>
                </a:solidFill>
                <a:latin typeface="Arial"/>
              </a:rPr>
              <a:t>Сжатие и скорость: TorchScript и 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7B8FAC"/>
                </a:solidFill>
                <a:latin typeface="Arial"/>
              </a:rPr>
              <a:t>Дополнительный этап кейса — измеримый эффект оптимизации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6035040" cy="3611880"/>
          </a:xfrm>
          <a:prstGeom prst="rect">
            <a:avLst/>
          </a:prstGeom>
          <a:solidFill>
            <a:srgbClr val="0B1120"/>
          </a:solidFill>
          <a:ln w="9525">
            <a:solidFill>
              <a:srgbClr val="1B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34851"/>
            <a:ext cx="5852159" cy="24204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" y="5522976"/>
            <a:ext cx="57790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7B8FAC"/>
                </a:solidFill>
                <a:latin typeface="Consolas"/>
              </a:rPr>
              <a:t>размер, МБ · мкс на запрос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40880" y="2148840"/>
          <a:ext cx="3566160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84960"/>
                <a:gridCol w="1188720"/>
                <a:gridCol w="79248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7B8FAC"/>
                          </a:solidFill>
                          <a:latin typeface="Consolas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E8F1FF"/>
                          </a:solidFill>
                          <a:latin typeface="Consolas"/>
                        </a:rPr>
                        <a:t>fp32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0,099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47,7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E8F1FF"/>
                          </a:solidFill>
                          <a:latin typeface="Consolas"/>
                        </a:rPr>
                        <a:t>TorchScript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0,107 МБ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29,7</a:t>
                      </a:r>
                    </a:p>
                  </a:txBody>
                  <a:tcPr marL="91440" marR="73152" marT="36576" marB="36576" anchor="ctr">
                    <a:solidFill>
                      <a:srgbClr val="05070E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E8F1FF"/>
                          </a:solidFill>
                          <a:latin typeface="Consolas"/>
                        </a:rPr>
                        <a:t>int8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0,031 МБ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E8F1FF"/>
                          </a:solidFill>
                          <a:latin typeface="Consolas"/>
                        </a:rPr>
                        <a:t>130,9</a:t>
                      </a:r>
                    </a:p>
                  </a:txBody>
                  <a:tcPr marL="91440" marR="73152" marT="36576" marB="36576" anchor="ctr"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40880" y="4069080"/>
            <a:ext cx="3657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7B8FAC"/>
                </a:solidFill>
                <a:latin typeface="Arial"/>
              </a:rPr>
              <a:t>TorchScript — ×1,6 к скорости batch-1.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7B8FAC"/>
                </a:solidFill>
                <a:latin typeface="Arial"/>
              </a:rPr>
              <a:t>int8 — веса в 3,2 раза меньше, p99 отклонения 0,031.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7B8FAC"/>
                </a:solidFill>
                <a:latin typeface="Arial"/>
              </a:rPr>
              <a:t>Для гидрокода выбираем TorchScript.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6437376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6510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pinn / eos al / ρt-grid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5105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7B8FAC"/>
                </a:solidFill>
                <a:latin typeface="Consolas"/>
              </a:rPr>
              <a:t>ИТ КоР · ML · КЕЙС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1695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2339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5085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6780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0847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0171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3186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3561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5256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1695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78647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034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02037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63732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25428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187123" y="0"/>
            <a:ext cx="0" cy="685800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761695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52339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285085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046780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380847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570171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33186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093561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5256"/>
            <a:ext cx="12191695" cy="0"/>
          </a:xfrm>
          <a:prstGeom prst="line">
            <a:avLst/>
          </a:prstGeom>
          <a:ln w="6350">
            <a:solidFill>
              <a:srgbClr val="142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029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60">
                <a:solidFill>
                  <a:srgbClr val="25E0C0"/>
                </a:solidFill>
                <a:latin typeface="Consolas"/>
              </a:rPr>
              <a:t>20 /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229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 spc="-60">
                <a:solidFill>
                  <a:srgbClr val="E8F1FF"/>
                </a:solidFill>
                <a:latin typeface="Arial"/>
              </a:rPr>
              <a:t>Физика под контролем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1554480"/>
            <a:ext cx="10728655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182880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25E0C0"/>
                </a:solidFill>
                <a:latin typeface="Consolas"/>
              </a:rPr>
              <a:t>ВЫПОЛНЕНО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2057400"/>
            <a:ext cx="3246119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219456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Пайплайн на 1 130 053 точках, EDA и baseline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Vanilla MLP: R²(P) = 0,99874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PINN: 0,43 % нарушений вместо 36 %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EOSSurrogate + TorchScript/int8, 0,10 МБ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Карты ошибок и нарушений, README и docstrings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182880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8FAC"/>
                </a:solidFill>
                <a:latin typeface="Consolas"/>
              </a:rPr>
              <a:t>ОГРАНИЧЕНИЯ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97680" y="2057400"/>
            <a:ext cx="3246120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297680" y="219456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Точность упирается в разрывы исходной таблицы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На стыках регионов ошибка выше средней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Физика проверяется по точечным производным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Обучение на CPU: 4 минуты, качество соответствующее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182880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8FAC"/>
                </a:solidFill>
                <a:latin typeface="Consolas"/>
              </a:rPr>
              <a:t>ДАЛЬШЕ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3840" y="2057400"/>
            <a:ext cx="3246119" cy="0"/>
          </a:xfrm>
          <a:prstGeom prst="line">
            <a:avLst/>
          </a:prstGeom>
          <a:ln w="9525">
            <a:solidFill>
              <a:srgbClr val="1B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863840" y="219456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Фурье-признаки и кусочно-гладкие активации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Обучение на сглаженной по регионам таблице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Один ансамбль на несколько веществ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950" b="1">
                <a:solidFill>
                  <a:srgbClr val="25E0C0"/>
                </a:solidFill>
                <a:latin typeface="Arial"/>
              </a:rPr>
              <a:t>▸  </a:t>
            </a:r>
            <a:r>
              <a:rPr sz="950" b="0" i="0">
                <a:solidFill>
                  <a:srgbClr val="E8F1FF"/>
                </a:solidFill>
                <a:latin typeface="Arial"/>
              </a:rPr>
              <a:t>Экспорт в ONNX и замер в гидрокоде</a:t>
            </a:r>
          </a:p>
        </p:txBody>
      </p:sp>
      <p:pic>
        <p:nvPicPr>
          <p:cNvPr id="43" name="Picture 42" descr="photo_plasma.jpg"/>
          <p:cNvPicPr>
            <a:picLocks noChangeAspect="1"/>
          </p:cNvPicPr>
          <p:nvPr/>
        </p:nvPicPr>
        <p:blipFill>
          <a:blip r:embed="rId2"/>
          <a:srcRect t="37884" b="46303"/>
          <a:stretch>
            <a:fillRect/>
          </a:stretch>
        </p:blipFill>
        <p:spPr>
          <a:xfrm>
            <a:off x="0" y="5074920"/>
            <a:ext cx="12191695" cy="105156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5074920"/>
            <a:ext cx="12191695" cy="1051560"/>
          </a:xfrm>
          <a:prstGeom prst="rect">
            <a:avLst/>
          </a:prstGeom>
          <a:solidFill>
            <a:srgbClr val="25E0C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3152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F1FF"/>
                </a:solidFill>
                <a:latin typeface="Consolas"/>
              </a:rPr>
              <a:t>P(ρ,T) · e(ρ,T) · c_s · check_physics · 0,10 МБ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8064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8F1FF"/>
                </a:solidFill>
                <a:latin typeface="Consolas"/>
              </a:rPr>
              <a:t>Case_one.ipynb · eos_surrogate.py · normalization.json · pinn_best_physics.pt · comparison_table.csv · error_heatmap_scientific.png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