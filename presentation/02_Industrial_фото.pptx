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— заменить табличное уравнение состояния алюминия быстрым и физически корректным суррогатом. Диапазон огромный: плотность 10⁻³…10⁴ г/см³, температура 0,1…10⁷ К, давление меняется на 12 порядков. Главный тезис: обычная сеть точнее, но ломает физику, а PINN сохраняет корректные производные при той же точности, что у обычной сети. Вес модели — 0,1 МБ при лимите 10 МБ.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требует не регрессию, а термодинамически согласованный суррогат: нужны производные и скорость звука. Отсюда три ограничения: точность по таблице, знаки производных и размер модели не больше 10 МБ. Сразу подчеркнуть жюри: оценивать будем не только MSE, но и долю точек с нарушением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Показываем, что закрыт каждый пункт. Самый дорогой критерий — PINN и физика, 25 баллов. Все артефакты лежат в репозитории, каждый шаг воспроизводим.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пришли как 20 региональных сеток. Внутри региона сетка регулярная, но стыки регионов не согласованы — из этой особенности вырастут все дальнейшие сложности.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Давление и энергия покрывают 12 порядков, энергия меняет знак. Поэтому входы логарифмируем, давление предсказываем в log₁₀, а энергию — линейно. Уже в данных 8 % точек дают нефизичные производные: это следствие разрывов, а не ошибка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normalization.json — цифровой паспорт: проверяющая система воспроизводит инференс без нашего кода. Это и требование кейса, и страховка от расхождений.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— билинейная интерполяция по 20 регионам. В узлах сетки она точна, поэтому по MSE победить её нельзя. Но: полная таблица 17 МБ, производные разрывны, а на прореженных таблицах видно, как быстро растёт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в пользу нейросети: на стыках регионов и фазовых переходов конечные разности таблицы дают нефизичные значения. Пример: ρ = 2,7, T ≈ 140 К, где энергия скачет с 0,128 до 0,093 кДж/г. Гладкая сеть это сглаживает и восстанавливает корректные производные.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MLP: 25 282 параметра, обучение за пару минут на CPU, R² = 0,999. Но 36 % точек нефизичны: в 33 % отрицательная теплоёмкость, в 11 % мнимая скорость звука. Это и есть шум градиентов, о котором предупреждали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PINN — та же архитектура, но в лосс добавлены производные. Данные дают точность, физика — корректность, вес γ управляет балансом.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ограничения из постановки. Проверяем и знак, и причинность (c_s &lt; c), и делаем это в СГС, чтобы единицы совпадали с гидрокодом.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код: autograd по входам, цепное правило до физических единиц, безразмерные ReLU-штрафы. Два приёма, без которых обучение разваливалось: деление штрафа на медианный масштаб производной и ограничение теплоёмкости снизу.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Двухэтапная схема — главный инженерный приём. Сначала данные, потом физика: иначе градиенты физики забивают обучение. Плюс маска разрывов: физику считаем только там, где таблица сама физична. Физический лосс падает на шесть порядков.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таблица. Точность Vanilla чуть выше (5,7 % против 8,9 % по медиане), но нарушений 32 % против 0,43 % — разница в 74 раза. Размер одинаковый, скорость около микросекунды.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Ошибка концентрируется узкой полосой вдоль разрывов, там она в 1,7 раза выше. В гладких зонах — единицы процентов. Холодная ветвь тяжелее всего из-за смены знака энергии. Это честная граница гладкой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Vanilla — целые области нарушений, у PINN — тонкая полоса на стыке регионов, где сама таблица разрывна. Ни в одной точке нет c_s ≥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Сверяем с табличными конечными разностями: R² = 0,90, медианное отклонение 11,7 %. Расхождения там, где табличная c_s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— векторный инференс, sound_speed — autograd внутри, check_physics — маски нарушений. 10⁵ запросов за 0,13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TorchScript ускоряет одиночный запрос в 1,6 раза, int8 сжимает веса в 3,2 раза ценой p99 отклонения 0,034 в нормированных единицах.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Закрыты все пункты чек-листа. Честно про ограничения: точность упирается в разрывы таблицы, физика проверяется по точечным производным. Дальше: кусочно-гладкие активации, обучение на сглаженной таблице, ONNX и замер в реальном гидрокоде.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ingots.jpg"/>
          <p:cNvPicPr>
            <a:picLocks noChangeAspect="1"/>
          </p:cNvPicPr>
          <p:nvPr/>
        </p:nvPicPr>
        <p:blipFill>
          <a:blip r:embed="rId2"/>
          <a:srcRect l="1516" r="15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07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384048" y="384048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23599" y="384048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4048" y="6446520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23599" y="6446520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3716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260">
                <a:solidFill>
                  <a:srgbClr val="F0A02A"/>
                </a:solidFill>
                <a:latin typeface="Consolas"/>
              </a:rPr>
              <a:t>ИТ КоР · ТРЕК ML · КЕЙС 01 · АЛЮМИНИЙ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9692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00">
                <a:solidFill>
                  <a:srgbClr val="F6F1E6"/>
                </a:solidFill>
                <a:latin typeface="Arial"/>
              </a:rPr>
              <a:t>СУРРОГАТ УРАВНЕНИЯ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00">
                <a:solidFill>
                  <a:srgbClr val="F6F1E6"/>
                </a:solidFill>
                <a:latin typeface="Arial"/>
              </a:rPr>
              <a:t>СОСТОЯНИЯ, КОТОРЫЙ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00">
                <a:solidFill>
                  <a:srgbClr val="F6F1E6"/>
                </a:solidFill>
                <a:latin typeface="Arial"/>
              </a:rPr>
              <a:t>НЕ ЛОМАЕТ ФИЗИКУ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0520"/>
            <a:ext cx="1371600" cy="4572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F6F1E6"/>
                </a:solidFill>
                <a:latin typeface="Arial"/>
              </a:rPr>
              <a:t>PINN вместо таблицы: P(ρ,T), e(ρ,T) и c_s на 12 порядках давления, 0,10 МБ, 0,95 мкс на запрос.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86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F0A02A"/>
                </a:solidFill>
                <a:latin typeface="Arial"/>
              </a:rPr>
              <a:t>0,43 %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533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20">
                <a:solidFill>
                  <a:srgbClr val="A79C8C"/>
                </a:solidFill>
                <a:latin typeface="Consolas"/>
              </a:rPr>
              <a:t>НАРУШЕНИЙ ФИЗИКИ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5486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F0A02A"/>
                </a:solidFill>
                <a:latin typeface="Arial"/>
              </a:rPr>
              <a:t>×84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60533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20">
                <a:solidFill>
                  <a:srgbClr val="A79C8C"/>
                </a:solidFill>
                <a:latin typeface="Consolas"/>
              </a:rPr>
              <a:t>ЛУЧШЕ НЕЙРОСЕТИ БЕЗ ФИЗИКИ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486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F0A02A"/>
                </a:solidFill>
                <a:latin typeface="Arial"/>
              </a:rPr>
              <a:t>0,10 МБ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60533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20">
                <a:solidFill>
                  <a:srgbClr val="A79C8C"/>
                </a:solidFill>
                <a:latin typeface="Consolas"/>
              </a:rPr>
              <a:t>ВЕС МОДЕЛИ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5486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F0A02A"/>
                </a:solidFill>
                <a:latin typeface="Arial"/>
              </a:rPr>
              <a:t>226 011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60533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20">
                <a:solidFill>
                  <a:srgbClr val="A79C8C"/>
                </a:solidFill>
                <a:latin typeface="Consolas"/>
              </a:rPr>
              <a:t>ТОЧЕК ТЕСТА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molten.jpg"/>
          <p:cNvPicPr>
            <a:picLocks noChangeAspect="1"/>
          </p:cNvPicPr>
          <p:nvPr/>
        </p:nvPicPr>
        <p:blipFill>
          <a:blip r:embed="rId2"/>
          <a:srcRect l="30109" r="36800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090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160520" y="0"/>
            <a:ext cx="36576" cy="685800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234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0A02A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16128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6F1E6"/>
                </a:solidFill>
                <a:latin typeface="Arial"/>
              </a:rPr>
              <a:t>Точность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1848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Воспроизвести P и e по всей диаграмме, а не только в узлах сетки.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2404872"/>
            <a:ext cx="640080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6320" y="2834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0A02A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76148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6F1E6"/>
                </a:solidFill>
                <a:latin typeface="Arial"/>
              </a:rPr>
              <a:t>Физика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1868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∂P/∂ρ &gt; 0, ∂e/∂T &gt; 0 и 0 &lt; c_s &lt; c — в каждой точке.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4005072"/>
            <a:ext cx="640080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0" y="4434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0A02A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36168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6F1E6"/>
                </a:solidFill>
                <a:latin typeface="Arial"/>
              </a:rPr>
              <a:t>Габарит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81888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Модель до 10 МБ, ответ за микросекунды, без GPU.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5605272"/>
            <a:ext cx="640080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46320" y="59893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6F1E6"/>
                </a:solidFill>
                <a:latin typeface="Consolas"/>
              </a:rPr>
              <a:t>Гидрокоду нужны производные: от них зависит устойчивость схемы.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micro.jpg"/>
          <p:cNvPicPr>
            <a:picLocks noChangeAspect="1"/>
          </p:cNvPicPr>
          <p:nvPr/>
        </p:nvPicPr>
        <p:blipFill>
          <a:blip r:embed="rId2"/>
          <a:srcRect l="38727" r="38727"/>
          <a:stretch>
            <a:fillRect/>
          </a:stretch>
        </p:blipFill>
        <p:spPr>
          <a:xfrm>
            <a:off x="9357055" y="0"/>
            <a:ext cx="2834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57055" y="0"/>
            <a:ext cx="2834640" cy="6858000"/>
          </a:xfrm>
          <a:prstGeom prst="rect">
            <a:avLst/>
          </a:prstGeom>
          <a:solidFill>
            <a:srgbClr val="0B090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КРИТЕРИИ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Как закрыт чек-лист на 100 баллов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Структура ответа повторяет финальное задание: 9 критериев на 100 баллов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57055" y="0"/>
            <a:ext cx="0" cy="6858000"/>
          </a:xfrm>
          <a:prstGeom prst="line">
            <a:avLst/>
          </a:prstGeom>
          <a:ln w="1524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1579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13969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Погружение в предметную область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57984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разбор УРС, фазовой диаграммы и роли c_s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2505456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257860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25603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Обработка данных и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57860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1,13 млн точек, карты P и e, 20 регионов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2926079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2999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298094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Baseline: билинейная интерполяция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99923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20 RegularGridInterpolator + метрики и скорость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3346703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41985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40156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Обучение моделей и оценка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419856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Vanilla MLP: R² = 0,999, кривые обучения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3767328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382219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PINN и физические ограничения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840480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physics-лосс на autograd, нарушений 0,43 %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4187952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426110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19" y="424281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Инференс и упаковка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261104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EOSSurrogate: predict / sound_speed / check_physics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4608576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468172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6634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Сжатие и скорость работы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68172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TorchScript и int8: −69 % размера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7240" y="5029200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77240" y="51023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508406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Выступление и презентация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510235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эта презентация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5449824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552297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0A02A"/>
                </a:solidFill>
                <a:latin typeface="Consola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550468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6F1E6"/>
                </a:solidFill>
                <a:latin typeface="Arial"/>
              </a:rPr>
              <a:t>Документация и оформление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5522976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README, docstrings Google-style, normalization.json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77240" y="5870448"/>
            <a:ext cx="8138160" cy="0"/>
          </a:xfrm>
          <a:prstGeom prst="line">
            <a:avLst/>
          </a:prstGeom>
          <a:ln w="9525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7240" y="5989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20">
                <a:solidFill>
                  <a:srgbClr val="F0A02A"/>
                </a:solidFill>
                <a:latin typeface="Consolas"/>
              </a:rPr>
              <a:t>ИТОГО 100 / 100 — ПОДТВЕРЖДЕНО АРТЕФАКТАМИ В РЕПОЗИТОРИИ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plasma.jpg"/>
          <p:cNvPicPr>
            <a:picLocks noChangeAspect="1"/>
          </p:cNvPicPr>
          <p:nvPr/>
        </p:nvPicPr>
        <p:blipFill>
          <a:blip r:embed="rId2"/>
          <a:srcRect l="1516" r="15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0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20 сеток, 1 130 053 строки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Четыре диапазона ρ × пять диапазонов T; внутри региона — регулярная сетка 300 × 300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148840"/>
            <a:ext cx="5850468" cy="0"/>
          </a:xfrm>
          <a:prstGeom prst="line">
            <a:avLst/>
          </a:prstGeom>
          <a:ln w="2540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 spc="-80">
                <a:solidFill>
                  <a:srgbClr val="F6F1E6"/>
                </a:solidFill>
                <a:latin typeface="Arial"/>
              </a:rPr>
              <a:t>1 130 053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6243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Arial"/>
              </a:rPr>
              <a:t>точки датасета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 spc="-80">
                <a:solidFill>
                  <a:srgbClr val="F6F1E6"/>
                </a:solidFill>
                <a:latin typeface="Arial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Arial"/>
              </a:rPr>
              <a:t>региональных сеток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0682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 spc="-80">
                <a:solidFill>
                  <a:srgbClr val="F6F1E6"/>
                </a:solidFill>
                <a:latin typeface="Arial"/>
              </a:rPr>
              <a:t>300 ×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416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Arial"/>
              </a:rPr>
              <a:t>узлов в каждой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02936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 spc="-80">
                <a:solidFill>
                  <a:srgbClr val="F6F1E6"/>
                </a:solidFill>
                <a:latin typeface="Arial"/>
              </a:rPr>
              <a:t>9,5 %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53126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Arial"/>
              </a:rPr>
              <a:t>узлов с нефизичными производными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514600"/>
            <a:ext cx="42062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Регионы не согласованы между собой: на стыках P и e скачут.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Отсюда разрывы производных — и главная сложность задачи.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Тест — 20 % стратифицированной выборки, 226 011 точек.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Что видно в данных: поля P и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Давление и энергия меняются на 12 порядков — это задаёт нормировку и архитектуру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7772400" cy="361188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5550407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log₁₀ P и знаковый логарифм e на полной сетке</a:t>
            </a:r>
          </a:p>
        </p:txBody>
      </p:sp>
      <p:pic>
        <p:nvPicPr>
          <p:cNvPr id="11" name="Picture 10" descr="eda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003" y="2286000"/>
            <a:ext cx="6702872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0" y="22402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ЧТО ВИДНО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560320"/>
            <a:ext cx="23317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000" b="0" i="0">
                <a:solidFill>
                  <a:srgbClr val="F6F1E6"/>
                </a:solidFill>
                <a:latin typeface="Arial"/>
              </a:rPr>
              <a:t>Давление — 12 порядков: логарифмируем вход и выход.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000" b="0" i="0">
                <a:solidFill>
                  <a:srgbClr val="F6F1E6"/>
                </a:solidFill>
                <a:latin typeface="Arial"/>
              </a:rPr>
              <a:t>Энергия проходит через ноль: предсказываем линейно.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000" b="0" i="0">
                <a:solidFill>
                  <a:srgbClr val="F6F1E6"/>
                </a:solidFill>
                <a:latin typeface="Arial"/>
              </a:rPr>
              <a:t>Белые полосы — стыки регионов.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network.jpg"/>
          <p:cNvPicPr>
            <a:picLocks noChangeAspect="1"/>
          </p:cNvPicPr>
          <p:nvPr/>
        </p:nvPicPr>
        <p:blipFill>
          <a:blip r:embed="rId2"/>
          <a:srcRect l="27782" r="41673"/>
          <a:stretch>
            <a:fillRect/>
          </a:stretch>
        </p:blipFill>
        <p:spPr>
          <a:xfrm>
            <a:off x="8351215" y="0"/>
            <a:ext cx="38404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0B0907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ПОДГОТОВКА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Нормализация и цифровой паспорт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normalization.json — цифровой паспорт модели для проверяющей системы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12848"/>
            <a:ext cx="6766560" cy="1024128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77240" y="2212848"/>
            <a:ext cx="45720" cy="1024128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235915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F0A02A"/>
                </a:solidFill>
                <a:latin typeface="Consolas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591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6F1E6"/>
                </a:solidFill>
                <a:latin typeface="Consolas"/>
              </a:rPr>
              <a:t>x = (log₁₀ρ − a) / (b −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797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log₁₀ρ ∈ [−3, 4] · log₁₀T ∈ [−1, 7]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19856"/>
            <a:ext cx="6766560" cy="1024128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7240" y="3419856"/>
            <a:ext cx="45720" cy="1024128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356616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F0A02A"/>
                </a:solidFill>
                <a:latin typeface="Consolas"/>
              </a:rPr>
              <a:t>ВЫХОД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566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6F1E6"/>
                </a:solidFill>
                <a:latin typeface="Consolas"/>
              </a:rPr>
              <a:t>log₁₀P → 10^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P ∈ [10⁻⁶, 10⁶] ГПа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626864"/>
            <a:ext cx="6766560" cy="1024128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77240" y="4626864"/>
            <a:ext cx="45720" cy="1024128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47731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F0A02A"/>
                </a:solidFill>
                <a:latin typeface="Consolas"/>
              </a:rPr>
              <a:t>ВЫХОД 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7731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6F1E6"/>
                </a:solidFill>
                <a:latin typeface="Consolas"/>
              </a:rPr>
              <a:t>линейно, кДж/г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1937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e ∈ [−0,2, 10³], знак сохраняется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79C8C"/>
                </a:solidFill>
                <a:latin typeface="Consolas"/>
              </a:rPr>
              <a:t>Ни одного «магического» числа в коде инференса.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Билинейная интерполяция: эталон памяти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20 интерполяторов RegularGridInterpolator по регионам, проверка на том же тесте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194560"/>
          <a:ext cx="7223760" cy="228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7260"/>
                <a:gridCol w="1203960"/>
                <a:gridCol w="1304290"/>
                <a:gridCol w="1203960"/>
                <a:gridCol w="130429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Покрытие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Полная таблица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Прорежена ×2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4,3 МБ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0,0002 %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99,4 %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3,1 %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Прорежена ×4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1,1 МБ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0,0016 %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98,7 %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4,4 %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Прорежена ×8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0,28 МБ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0,0075 %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96,7 %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7,9 %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800600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Arial"/>
              </a:rPr>
              <a:t>В узлах таблица точна, поэтому по MSE её не обогнать. Но 17 МБ, разрывные производные и рост ошибки при прореживании — цена.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194560"/>
            <a:ext cx="3108960" cy="310896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30767" y="5047488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c_s по таблице, км/с</a:t>
            </a:r>
          </a:p>
        </p:txBody>
      </p:sp>
      <p:pic>
        <p:nvPicPr>
          <p:cNvPr id="13" name="Picture 12" descr="table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403354"/>
            <a:ext cx="2926080" cy="2508491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8138160" y="2194560"/>
            <a:ext cx="0" cy="3931919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shock.jpg"/>
          <p:cNvPicPr>
            <a:picLocks noChangeAspect="1"/>
          </p:cNvPicPr>
          <p:nvPr/>
        </p:nvPicPr>
        <p:blipFill>
          <a:blip r:embed="rId2"/>
          <a:srcRect l="1516" r="15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07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384048" y="384048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23599" y="384048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4048" y="6446520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23599" y="6446520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ПОЧЕМУ НЕ ХВАТИТ ТАБЛИЦЫ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64008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400" b="1" i="0" spc="-300">
                <a:solidFill>
                  <a:srgbClr val="F0A02A"/>
                </a:solidFill>
                <a:latin typeface="Arial"/>
              </a:rPr>
              <a:t>9,5 %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F6F1E6"/>
                </a:solidFill>
                <a:latin typeface="Arial"/>
              </a:rPr>
              <a:t>узлов полной таблицы дают нефизичные производные: c_s² ≤ 0, ∂P/∂ρ ≤ 0 или ∂e/∂T ≤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554480"/>
            <a:ext cx="36576" cy="402336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452360" y="1554480"/>
            <a:ext cx="3931920" cy="4023360"/>
          </a:xfrm>
          <a:prstGeom prst="rect">
            <a:avLst/>
          </a:prstGeom>
          <a:solidFill>
            <a:srgbClr val="0B090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26679" y="1783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F0A02A"/>
                </a:solidFill>
                <a:latin typeface="Consolas"/>
              </a:rPr>
              <a:t>ПРИМЕР: ρ = 2,7 · T ≈ 140 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14884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F6F1E6"/>
                </a:solidFill>
                <a:latin typeface="Arial"/>
              </a:rPr>
              <a:t>e падает с 0,128 до 0,093 кДж/г за две ячейки.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2004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F0A02A"/>
                </a:solidFill>
                <a:latin typeface="Arial"/>
              </a:rPr>
              <a:t>c_s² &lt; 0 — мнимое значение в гидрокоде.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1605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Arial"/>
              </a:rPr>
              <a:t>Сеть сглаживает скачок и возвращает корректные производные — ценой нескольких процентов точности.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МОДЕЛЬ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Vanilla MLP: точность без физики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2 → 128 → 128 → 64 → 2, tanh, 25 282 параметра, 150 эпох, OneCycle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6400800" cy="384048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5779007"/>
            <a:ext cx="6181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Кривые train/test — Vanilla MLP</a:t>
            </a:r>
          </a:p>
        </p:txBody>
      </p:sp>
      <p:pic>
        <p:nvPicPr>
          <p:cNvPr id="11" name="Picture 10" descr="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760" y="2286000"/>
            <a:ext cx="5437759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2240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R²(P)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21854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6F1E6"/>
                </a:solidFill>
                <a:latin typeface="Consolas"/>
              </a:rPr>
              <a:t>0,99874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2679192"/>
            <a:ext cx="356616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89520" y="28986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медиана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19" y="28437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6F1E6"/>
                </a:solidFill>
                <a:latin typeface="Consolas"/>
              </a:rPr>
              <a:t>9,17 %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3337560"/>
            <a:ext cx="356616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89520" y="35570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R²(e)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350215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6F1E6"/>
                </a:solidFill>
                <a:latin typeface="Consolas"/>
              </a:rPr>
              <a:t>0,99926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0" y="3995928"/>
            <a:ext cx="356616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89520" y="42153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нарушений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416052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6F1E6"/>
                </a:solidFill>
                <a:latin typeface="Consolas"/>
              </a:rPr>
              <a:t>36,17 %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4654296"/>
            <a:ext cx="3566160" cy="0"/>
          </a:xfrm>
          <a:prstGeom prst="line">
            <a:avLst/>
          </a:prstGeom>
          <a:ln w="1270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89520" y="50749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F0A02A"/>
                </a:solidFill>
                <a:latin typeface="Arial"/>
              </a:rPr>
              <a:t>Точность высокая. Физика разрушена: каждая третья точка нефизична.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60920" y="2194560"/>
            <a:ext cx="0" cy="384048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МОДЕЛЬ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PINN: та же сеть плюс физика в лоссе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Та же сеть; в функцию потерь добавлены производные, посчитанные автоградиентом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2651760" cy="1371600"/>
          </a:xfrm>
          <a:prstGeom prst="rect">
            <a:avLst/>
          </a:prstGeom>
          <a:solidFill>
            <a:srgbClr val="1C1917"/>
          </a:solidFill>
          <a:ln w="1524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ВХОД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log₁₀ 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log₁₀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0A02A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240280"/>
            <a:ext cx="2651760" cy="1371600"/>
          </a:xfrm>
          <a:prstGeom prst="rect">
            <a:avLst/>
          </a:prstGeom>
          <a:solidFill>
            <a:srgbClr val="1C1917"/>
          </a:solidFill>
          <a:ln w="1524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7680" y="239572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2 → 128 → 128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→ 64 → 2, tanh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97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0A02A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240280"/>
            <a:ext cx="2651760" cy="1371600"/>
          </a:xfrm>
          <a:prstGeom prst="rect">
            <a:avLst/>
          </a:prstGeom>
          <a:solidFill>
            <a:srgbClr val="1C1917"/>
          </a:solidFill>
          <a:ln w="1524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0" y="239572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ВЫХОД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log₁₀ P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e, кДж/г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977639"/>
            <a:ext cx="10149840" cy="1554480"/>
          </a:xfrm>
          <a:prstGeom prst="rect">
            <a:avLst/>
          </a:prstGeom>
          <a:noFill/>
          <a:ln w="17780">
            <a:solidFill>
              <a:srgbClr val="F0A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4160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ФИЗИЧЕСКИЙ ЛОСС ЧЕРЕЗ ПРОИЗВОДНЫЕ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8056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F6F1E6"/>
                </a:solidFill>
                <a:latin typeface="Arial"/>
              </a:rPr>
              <a:t>autograd.grad по входам → цепное правило до СГС → ReLU-штрафы на ∂P/∂ρ, ∂e/∂T и c_s².  L = L_data + γ · L_phys,  γ = 0,03.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79C8C"/>
                </a:solidFill>
                <a:latin typeface="Consolas"/>
              </a:rPr>
              <a:t>Данные дают точность, физика — корректность производных.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Три ограничения — и в лоссе, и в проверке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Формулировки из постановки кейса; все проверки выполняются в системе СГС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154680" cy="3703320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240280"/>
            <a:ext cx="3154680" cy="4572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33271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0A02A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76148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6F1E6"/>
                </a:solidFill>
                <a:latin typeface="Arial"/>
              </a:rPr>
              <a:t>Термодинамическая устойчивость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3520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F0A02A"/>
                </a:solidFill>
                <a:latin typeface="Consolas"/>
              </a:rPr>
              <a:t>∂P/∂ρ &gt;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4348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Изотермическая сжимаемость положительна: вещество не схлопывается само по себе.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53949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штраф: mean(ReLU(−∂P/∂ρ)) / median|∂P/∂ρ|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240280"/>
            <a:ext cx="3154680" cy="3703320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206240" y="2240280"/>
            <a:ext cx="3154680" cy="4572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62272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0A02A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76148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6F1E6"/>
                </a:solidFill>
                <a:latin typeface="Arial"/>
              </a:rPr>
              <a:t>Положительная теплоёмкость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520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F0A02A"/>
                </a:solidFill>
                <a:latin typeface="Consolas"/>
              </a:rPr>
              <a:t>∂e/∂T &gt;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4348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Энергия растёт с температурой: c_v &gt; 0, иначе нарушается второе начало.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3949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штраф: mean(ReLU(−∂e/∂T)) / median|∂e/∂T|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240280"/>
            <a:ext cx="3154680" cy="3703320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5240" y="2240280"/>
            <a:ext cx="3154680" cy="45720"/>
          </a:xfrm>
          <a:prstGeom prst="rect">
            <a:avLst/>
          </a:prstGeom>
          <a:solidFill>
            <a:srgbClr val="C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91271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0A02A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1" y="276148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6F1E6"/>
                </a:solidFill>
                <a:latin typeface="Arial"/>
              </a:rPr>
              <a:t>Скорость звука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1" y="3520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F0A02A"/>
                </a:solidFill>
                <a:latin typeface="Consolas"/>
              </a:rPr>
              <a:t>c_s² = (∂P/∂ρ)_T + T·(∂P/∂T)²_ρ / (ρ²·∂e/∂T)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1" y="44348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Вещественная и дорелятивистская: 0 &lt; c_s &lt; c, где c — скорость света.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1" y="53949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штраф: ReLU(−c_s²) + ReLU(c_s² − c²)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807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200">
                <a:solidFill>
                  <a:srgbClr val="F0A02A"/>
                </a:solidFill>
                <a:latin typeface="Consolas"/>
              </a:rPr>
              <a:t>ПРОВЕРКИ В СГС — КАК В ГИДРОКОДЕ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Как производные попадают в лосс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Производные берутся в том же графе вычислений — без численного дифференцирования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6217920" cy="384048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212848"/>
            <a:ext cx="50292" cy="384048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78408" y="2353665"/>
            <a:ext cx="5815583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x.requires_grad_(True)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out = model(x)              # log10P, e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gP = autograd.grad(out[:, 0].sum(), x,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                  create_graph=True,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                  retain_graph=True)[0]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A79C8C"/>
                </a:solidFill>
                <a:latin typeface="Consolas"/>
              </a:rPr>
              <a:t># цепное правило: log10 -&gt; физические единицы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dP_drho = P * gP[:, 0] * span_lp / span_lr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                    / (rho * ln10)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de_dT   = ge[:, 1] * span_e / span_lt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                    / (T * ln10)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A79C8C"/>
                </a:solidFill>
                <a:latin typeface="Consolas"/>
              </a:rPr>
              <a:t># безразмерные штрафы по ReLU</a:t>
            </a:r>
          </a:p>
          <a:p>
            <a:pPr>
              <a:lnSpc>
                <a:spcPct val="122000"/>
              </a:lnSpc>
            </a:pPr>
            <a:r>
              <a:rPr sz="1000" b="1">
                <a:solidFill>
                  <a:srgbClr val="F6F1E6"/>
                </a:solidFill>
                <a:latin typeface="Consolas"/>
              </a:rPr>
              <a:t>loss_stab = relu(-dP_drho / s_p).mean()</a:t>
            </a:r>
          </a:p>
          <a:p>
            <a:pPr>
              <a:lnSpc>
                <a:spcPct val="122000"/>
              </a:lnSpc>
            </a:pPr>
            <a:r>
              <a:rPr sz="1000" b="1">
                <a:solidFill>
                  <a:srgbClr val="F6F1E6"/>
                </a:solidFill>
                <a:latin typeface="Consolas"/>
              </a:rPr>
              <a:t>loss_cap  = relu(-de_dT   / s_e).mean()</a:t>
            </a:r>
          </a:p>
          <a:p>
            <a:pPr>
              <a:lnSpc>
                <a:spcPct val="122000"/>
              </a:lnSpc>
            </a:pPr>
            <a:r>
              <a:rPr sz="1000" b="1">
                <a:solidFill>
                  <a:srgbClr val="F6F1E6"/>
                </a:solidFill>
                <a:latin typeface="Consolas"/>
              </a:rPr>
              <a:t>loss_cs   = relu(-cs2/c**2) + relu(cs2/c**2 - 1)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60">
                <a:solidFill>
                  <a:srgbClr val="F0A02A"/>
                </a:solidFill>
                <a:latin typeface="Consolas"/>
              </a:rPr>
              <a:t>Γ = 0,03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70662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больше — физика ломает регрессию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3401568"/>
            <a:ext cx="329184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79" y="3611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60">
                <a:solidFill>
                  <a:srgbClr val="F0A02A"/>
                </a:solidFill>
                <a:latin typeface="Consolas"/>
              </a:rPr>
              <a:t>МАСШТАБ ШТРАФА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94106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делим на медиану |∂P/∂ρ|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4636008"/>
            <a:ext cx="329184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79" y="4846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60">
                <a:solidFill>
                  <a:srgbClr val="F0A02A"/>
                </a:solidFill>
                <a:latin typeface="Consolas"/>
              </a:rPr>
              <a:t>МАСКА РАЗРЫВОВ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17550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физику считаем там, где таблица физична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79" y="5870448"/>
            <a:ext cx="329184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69479" y="2240280"/>
            <a:ext cx="0" cy="374904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ФРАГМЕНТ PHYSICS-ЛОССА · PYTORCH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plasma.jpg"/>
          <p:cNvPicPr>
            <a:picLocks noChangeAspect="1"/>
          </p:cNvPicPr>
          <p:nvPr/>
        </p:nvPicPr>
        <p:blipFill>
          <a:blip r:embed="rId2"/>
          <a:srcRect t="27540" b="51147"/>
          <a:stretch>
            <a:fillRect/>
          </a:stretch>
        </p:blipFill>
        <p:spPr>
          <a:xfrm>
            <a:off x="0" y="0"/>
            <a:ext cx="12191695" cy="141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B0907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 spc="-60">
                <a:solidFill>
                  <a:srgbClr val="F6F1E6"/>
                </a:solidFill>
                <a:latin typeface="Arial"/>
              </a:rPr>
              <a:t>Два этапа вместо одного совместного лосса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4937760" cy="2423160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ЭТАП 1 ·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150 эпох, OneCycle,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 spc="-60">
                <a:solidFill>
                  <a:srgbClr val="F0A02A"/>
                </a:solidFill>
                <a:latin typeface="Arial"/>
              </a:rPr>
              <a:t>R²(P) 0,999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быстро и устойчиво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4937760" cy="2423160"/>
          </a:xfrm>
          <a:prstGeom prst="rect">
            <a:avLst/>
          </a:prstGeom>
          <a:solidFill>
            <a:srgbClr val="1C1917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ЭТАП 2 · ФИЗИКА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F6F1E6"/>
                </a:solidFill>
                <a:latin typeface="Arial"/>
              </a:rPr>
              <a:t>γ = 0,03, маска разрывов, lr/10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 spc="-60">
                <a:solidFill>
                  <a:srgbClr val="F0A02A"/>
                </a:solidFill>
                <a:latin typeface="Arial"/>
              </a:rPr>
              <a:t>нарушения 36 % → 0,4 %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медленнее, но чинит производные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377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0A02A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Совместное обучение сразу по двум лоссам разваливало точность: градиенты физики забивали сигнал данных. Разделение этапов — главный инженерный приём работы. Повторная физическая стадия улучшения не давала.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Итоговое сравнение трёх подходов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226 011 точек теста, все метрики посчитаны одним скриптом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194560"/>
          <a:ext cx="10637211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37317"/>
                <a:gridCol w="1171069"/>
                <a:gridCol w="1268658"/>
                <a:gridCol w="1073480"/>
                <a:gridCol w="1171069"/>
                <a:gridCol w="1366247"/>
                <a:gridCol w="1171069"/>
                <a:gridCol w="87830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Подход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R²(P)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p95 P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R²(e)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6F1E6"/>
                          </a:solidFill>
                          <a:latin typeface="Arial"/>
                        </a:rPr>
                        <a:t>Baseline (таблица)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0,54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6F1E6"/>
                          </a:solidFill>
                          <a:latin typeface="Arial"/>
                        </a:rPr>
                        <a:t>Vanilla MLP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0,99874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9,17 %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28,67 %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0,99926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36,17 %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0,98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6F1E6"/>
                          </a:solidFill>
                          <a:latin typeface="Arial"/>
                        </a:rPr>
                        <a:t>PINN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0,99865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8,94 %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28,25 %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0,99953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0,43 %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F1E6"/>
                          </a:solidFill>
                          <a:latin typeface="Arial"/>
                        </a:rPr>
                        <a:t>0,96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61772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6F1E6"/>
                </a:solidFill>
                <a:latin typeface="Arial"/>
              </a:rPr>
              <a:t>Точность практически равна (9,17 % против 8,94 %), но нарушений в 84 раза больше.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5720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Одна и та же выборка для всех трёх подходов.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A79C8C"/>
                </a:solidFill>
                <a:latin typeface="Arial"/>
              </a:rPr>
              <a:t>Размер — файл весов; мкс — batch 1 на CPU.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Где модель ошибается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Относительная ошибка P на сетке 240 × 320 точек по всей диаграмме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7772400" cy="361188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5568696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Слева Vanilla, справа PINN · |ΔP| / P, %</a:t>
            </a:r>
          </a:p>
        </p:txBody>
      </p:sp>
      <p:pic>
        <p:nvPicPr>
          <p:cNvPr id="11" name="Picture 10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427" y="2286000"/>
            <a:ext cx="5686025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0" y="2240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F0A02A"/>
                </a:solidFill>
                <a:latin typeface="Consolas"/>
              </a:rPr>
              <a:t>НАБЛЮДЕНИЯ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разрывы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5237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6F1E6"/>
                </a:solidFill>
                <a:latin typeface="Consolas"/>
              </a:rPr>
              <a:t>13,4 %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2980944"/>
            <a:ext cx="23317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0" y="321868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гладкие зоны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318211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6F1E6"/>
                </a:solidFill>
                <a:latin typeface="Consolas"/>
              </a:rPr>
              <a:t>8,1 %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9680" y="3639311"/>
            <a:ext cx="23317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69680" y="38770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медиана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6F1E6"/>
                </a:solidFill>
                <a:latin typeface="Consolas"/>
              </a:rPr>
              <a:t>8,94 %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4297680"/>
            <a:ext cx="23317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69680" y="45354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доля разрывов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44988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6F1E6"/>
                </a:solidFill>
                <a:latin typeface="Consolas"/>
              </a:rPr>
              <a:t>16,3 %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0" y="4956048"/>
            <a:ext cx="23317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69680" y="53492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F6F1E6"/>
                </a:solidFill>
                <a:latin typeface="Arial"/>
              </a:rPr>
              <a:t>Ошибка выше в 1,7 раза именно на стыках регионов.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Карта нарушений: физика под контролем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Флаги нарушений в каждой точке диаграммы — это и есть check_physics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5852160" cy="365760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5614416"/>
            <a:ext cx="5632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Карта нарушений: Vanilla / PINN</a:t>
            </a:r>
          </a:p>
        </p:txBody>
      </p:sp>
      <p:pic>
        <p:nvPicPr>
          <p:cNvPr id="11" name="Picture 10" descr="viol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568493"/>
            <a:ext cx="5632704" cy="26171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0" y="2212848"/>
            <a:ext cx="4526280" cy="214884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67728" y="4105655"/>
            <a:ext cx="4306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Нарушения по типам, % точек теста</a:t>
            </a:r>
          </a:p>
        </p:txBody>
      </p:sp>
      <p:pic>
        <p:nvPicPr>
          <p:cNvPr id="14" name="Picture 13" descr="violation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65" y="2304288"/>
            <a:ext cx="3053404" cy="17373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4526280"/>
            <a:ext cx="4526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F6F1E6"/>
                </a:solidFill>
                <a:latin typeface="Arial"/>
              </a:rPr>
              <a:t>Vanilla: 40 % площади. PINN: 0,7 % — тонкая полоса на стыке регионов, где разрывна сама таблица. Точек с c_s ≥ c нет ни у одной модели.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Скорость звука: сверка с таблицей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Самая чувствительная к производным величина: сверка с табличными конечными разностями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6949440" cy="365760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5614416"/>
            <a:ext cx="67299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c_s PINN против табличной c_s, полная диаграмма</a:t>
            </a:r>
          </a:p>
        </p:txBody>
      </p:sp>
      <p:pic>
        <p:nvPicPr>
          <p:cNvPr id="11" name="Picture 10" descr="c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66" y="2304288"/>
            <a:ext cx="3843386" cy="3145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2286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R² (лог-шкала)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23113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0A02A"/>
                </a:solidFill>
                <a:latin typeface="Consolas"/>
              </a:rPr>
              <a:t>0,94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2743200"/>
            <a:ext cx="32461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0" y="29992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медианное отклонение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294436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0A02A"/>
                </a:solidFill>
                <a:latin typeface="Consolas"/>
              </a:rPr>
              <a:t>13,0 %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46720" y="3456432"/>
            <a:ext cx="32461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46720" y="371246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p95 отклонения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36576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0A02A"/>
                </a:solidFill>
                <a:latin typeface="Consolas"/>
              </a:rPr>
              <a:t>65 %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46720" y="4169664"/>
            <a:ext cx="32461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46720" y="44256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c_s ≥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43708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0A02A"/>
                </a:solidFill>
                <a:latin typeface="Consolas"/>
              </a:rPr>
              <a:t>0 % точек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46720" y="4882896"/>
            <a:ext cx="324612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46720" y="5440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Расхождения — там, где табличная c_s не определена.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УПАКОВКА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EOSSurrogate: три метода и файл на 0,1 МБ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Класс-обёртка на 90 строк: docstrings Google-style, проверка области определения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6309360" cy="379476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212848"/>
            <a:ext cx="50292" cy="3794760"/>
          </a:xfrm>
          <a:prstGeom prst="rect">
            <a:avLst/>
          </a:prstGeom>
          <a:solidFill>
            <a:srgbClr val="F0A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78408" y="2353665"/>
            <a:ext cx="5907024" cy="3593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from eos_surrogate import EOSSurrogate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eos = EOSSurrogate("pinn_best_physics.pt",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                  "normalization.json")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P, e = eos.predict(rho, T)       # ГПа, кДж/г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cs   = eos.sound_speed(rho, T)   # см/с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flags = eos.check_physics(rho, T)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A79C8C"/>
                </a:solidFill>
                <a:latin typeface="Consolas"/>
              </a:rPr>
              <a:t>#   stable, positive_heat_capacity,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A79C8C"/>
                </a:solidFill>
                <a:latin typeface="Consolas"/>
              </a:rPr>
              <a:t>#   causal_sound_speed, in_domain, ok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&gt;&gt;&gt; P, e = eos.predict(2.7, 1e4)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&gt;&gt;&gt; flags["ok"]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F6F1E6"/>
                </a:solidFill>
                <a:latin typeface="Consolas"/>
              </a:rPr>
              <a:t>array([ True])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377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0A02A"/>
                </a:solidFill>
                <a:latin typeface="Consolas"/>
              </a:rP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3774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векторный инференс P и 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2944368"/>
            <a:ext cx="365760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43800" y="3154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0A02A"/>
                </a:solidFill>
                <a:latin typeface="Consolas"/>
              </a:rPr>
              <a:t>sound_speed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1546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autograd внутри, СГС на выходе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3800" y="3721608"/>
            <a:ext cx="365760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43800" y="3931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0A02A"/>
                </a:solidFill>
                <a:latin typeface="Consolas"/>
              </a:rPr>
              <a:t>check_physics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9319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маски нарушений и флаг ok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43800" y="4498848"/>
            <a:ext cx="365760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43800" y="47091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0A02A"/>
                </a:solidFill>
                <a:latin typeface="Consolas"/>
              </a:rPr>
              <a:t>in_domain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7091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границы области определения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5276088"/>
            <a:ext cx="3657600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3800" y="5577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6F1E6"/>
                </a:solidFill>
                <a:latin typeface="Consolas"/>
              </a:rPr>
              <a:t>10⁵ запросов — 0,13 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0" y="2240280"/>
            <a:ext cx="0" cy="370332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20">
                <a:solidFill>
                  <a:srgbClr val="F0A02A"/>
                </a:solidFill>
                <a:latin typeface="Consolas"/>
              </a:rPr>
              <a:t>ОПТИМИЗАЦИЯ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57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A79C8C"/>
                </a:solidFill>
                <a:latin typeface="Consola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1415" y="7132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A342B"/>
                </a:solidFill>
                <a:latin typeface="Consolas"/>
              </a:rPr>
              <a:t>—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86384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969264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i="0" spc="-80">
                <a:solidFill>
                  <a:srgbClr val="F6F1E6"/>
                </a:solidFill>
                <a:latin typeface="Arial"/>
              </a:rPr>
              <a:t>Сжатие и скорость: TorchScript и int8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79C8C"/>
                </a:solidFill>
                <a:latin typeface="Arial"/>
              </a:rPr>
              <a:t>Дополнительный этап кейса: измеримый эффект оптимизации модели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6035040" cy="3703320"/>
          </a:xfrm>
          <a:prstGeom prst="rect">
            <a:avLst/>
          </a:prstGeom>
          <a:solidFill>
            <a:srgbClr val="121010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5660136"/>
            <a:ext cx="58155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A79C8C"/>
                </a:solidFill>
                <a:latin typeface="Consolas"/>
              </a:rPr>
              <a:t>Размер и время одиночного запроса</a:t>
            </a:r>
          </a:p>
        </p:txBody>
      </p:sp>
      <p:pic>
        <p:nvPicPr>
          <p:cNvPr id="11" name="Picture 10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92707"/>
            <a:ext cx="5815584" cy="2405273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78040" y="2286000"/>
          <a:ext cx="3840480" cy="1783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4228"/>
                <a:gridCol w="1152144"/>
                <a:gridCol w="864108"/>
              </a:tblGrid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A79C8C"/>
                          </a:solidFill>
                          <a:latin typeface="Arial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fp32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0,099 МБ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47,7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TorchScript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0,107 МБ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91440" marR="73152" marT="36576" marB="36576" anchor="ctr">
                    <a:solidFill>
                      <a:srgbClr val="121010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6F1E6"/>
                          </a:solidFill>
                          <a:latin typeface="Arial"/>
                        </a:rPr>
                        <a:t>int8 (dynamic)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0,031 МБ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6F1E6"/>
                          </a:solidFill>
                          <a:latin typeface="Arial"/>
                        </a:rPr>
                        <a:t>130,9</a:t>
                      </a:r>
                    </a:p>
                  </a:txBody>
                  <a:tcPr marL="91440" marR="73152" marT="36576" marB="36576" anchor="ctr">
                    <a:solidFill>
                      <a:srgbClr val="1C191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78040" y="4343400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TorchScript — ×1,6 к скорости batch-1 без потери точности.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int8 — веса в 3,2 раза меньше, p99 отклонения 0,031.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A79C8C"/>
                </a:solidFill>
                <a:latin typeface="Arial"/>
              </a:rPr>
              <a:t>В гидрокод выбираем TorchScript.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59" y="2240280"/>
            <a:ext cx="0" cy="365760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" y="6428232"/>
            <a:ext cx="10637215" cy="0"/>
          </a:xfrm>
          <a:prstGeom prst="line">
            <a:avLst/>
          </a:prstGeom>
          <a:ln w="12700">
            <a:solidFill>
              <a:srgbClr val="3A3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510528"/>
            <a:ext cx="76587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A79C8C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lab.jpg"/>
          <p:cNvPicPr>
            <a:picLocks noChangeAspect="1"/>
          </p:cNvPicPr>
          <p:nvPr/>
        </p:nvPicPr>
        <p:blipFill>
          <a:blip r:embed="rId2"/>
          <a:srcRect l="1516" r="15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07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384048" y="384048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23599" y="384048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4048" y="6446520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23599" y="6446520"/>
            <a:ext cx="384048" cy="0"/>
          </a:xfrm>
          <a:prstGeom prst="line">
            <a:avLst/>
          </a:prstGeom>
          <a:ln w="1778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240">
                <a:solidFill>
                  <a:srgbClr val="F0A02A"/>
                </a:solidFill>
                <a:latin typeface="Consolas"/>
              </a:rPr>
              <a:t>ИТОГИ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9509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 spc="-80">
                <a:solidFill>
                  <a:srgbClr val="F6F1E6"/>
                </a:solidFill>
                <a:latin typeface="Arial"/>
              </a:rPr>
              <a:t>Физика под контролем, габарит в норме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0698480" cy="3246120"/>
          </a:xfrm>
          <a:prstGeom prst="rect">
            <a:avLst/>
          </a:prstGeom>
          <a:solidFill>
            <a:srgbClr val="0E0C0A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200">
                <a:solidFill>
                  <a:srgbClr val="F0A02A"/>
                </a:solidFill>
                <a:latin typeface="Consolas"/>
              </a:rPr>
              <a:t>СДЕЛАНО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788920"/>
            <a:ext cx="3246119" cy="0"/>
          </a:xfrm>
          <a:prstGeom prst="line">
            <a:avLst/>
          </a:prstGeom>
          <a:ln w="15240">
            <a:solidFill>
              <a:srgbClr val="F0A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92608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Пайплайн на 1 130 053 точках, EDA и baseline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Vanilla MLP: R²(P) = 0,99874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PINN: 0,43 % нарушений вместо 36 %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EOSSurrogate + TorchScript/int8, 0,10 МБ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Карты ошибок и нарушений, README и docstrings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146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200">
                <a:solidFill>
                  <a:srgbClr val="F0A02A"/>
                </a:solidFill>
                <a:latin typeface="Consolas"/>
              </a:rPr>
              <a:t>ОГРАНИЧЕНИЯ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0" y="2788920"/>
            <a:ext cx="3246120" cy="0"/>
          </a:xfrm>
          <a:prstGeom prst="line">
            <a:avLst/>
          </a:prstGeom>
          <a:ln w="1524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97680" y="292608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Точность упирается в разрывы исходной таблицы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На стыках регионов ошибка выше средней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Физика проверяется по точечным производным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Обучение на CPU: 4 минуты, качество соответствующее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5146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200">
                <a:solidFill>
                  <a:srgbClr val="F0A02A"/>
                </a:solidFill>
                <a:latin typeface="Consolas"/>
              </a:rPr>
              <a:t>ДАЛЬШЕ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2788920"/>
            <a:ext cx="3246120" cy="0"/>
          </a:xfrm>
          <a:prstGeom prst="line">
            <a:avLst/>
          </a:prstGeom>
          <a:ln w="15240">
            <a:solidFill>
              <a:srgbClr val="2E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292608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Фурье-признаки и кусочно-гладкие активации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Обучение на сглаженной по регионам таблице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Один ансамбль на несколько веществ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F0A02A"/>
                </a:solidFill>
                <a:latin typeface="Arial"/>
              </a:rPr>
              <a:t>·  </a:t>
            </a:r>
            <a:r>
              <a:rPr sz="950" b="0" i="0">
                <a:solidFill>
                  <a:srgbClr val="F6F1E6"/>
                </a:solidFill>
                <a:latin typeface="Arial"/>
              </a:rPr>
              <a:t>Экспорт в ONNX и замер в гидрокоде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69280"/>
            <a:ext cx="10698480" cy="566928"/>
          </a:xfrm>
          <a:prstGeom prst="rect">
            <a:avLst/>
          </a:prstGeom>
          <a:solidFill>
            <a:srgbClr val="0E0C0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A79C8C"/>
                </a:solidFill>
                <a:latin typeface="Consolas"/>
              </a:rPr>
              <a:t>Case_one.ipynb · eos_surrogate.py · normalization.json · pinn_best_physics.pt · comparison_table.csv · error_heatmap_scientific.png ·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