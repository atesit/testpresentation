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Наша задача — заменить табличное уравнение состояния алюминия быстрым и физически корректным суррогатом. Диапазон: плотность 10⁻³…10⁴ г/см³, температура 0.1…10⁷ К, давление меняется на 12 порядков. Главная мысль выступления: обычная сеть точнее, но ломает физику, а PINN сохраняет корректные производные при потере 3 процентных пунктов точности. Файл модели — 0.1 МБ при лимите 10 МБ.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требует не просто регрессию, а термодинамически согласованный суррогат: нужны производные и скорость звука. Отсюда три жёстких ограничения: точность по таблице, знаки производных и размер модели ≤ 10 МБ. Сразу подчеркнуть: оценивать будем не только MSE, но и долю точек с нарушением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жюри, что закрыт каждый пункт чек-листа. Самый дорогой критерий — PINN и физика, 25 баллов. Все артефакты лежат в репозитории, каждый шаг воспроизводим.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пришли как 20 региональных сеток, 1 130 053 строки. Внутри региона сетка регулярная, но стыки регионов не согласованы — это ключевая особенность, из которой вырастут все дальнейшие сложности.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Давление и энергия покрывают 12 порядков, энергия меняет знак. Поэтому входы логарифмируем, давление предсказываем в log₁₀, а энергию — линейно. Уже в данных 8 % точек дают нефизичные производные: это следствие разрывов, а не ошибка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normalization.json — цифровой паспорт: проверяющая система может воспроизвести инференс без нашего кода. Это и требование кейса, и страховка от расхождений.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— билинейная интерполяция по 20 регионам. В узлах сетки она точна, поэтому по MSE победить её нельзя. Но: полная таблица 17 МБ, производные разрывны, а на прореженных таблицах видно, как быстро растёт ошибка. Вывод: таблица — эталон точности, но не быстрый суррогат.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в пользу нейросети: на стыках регионов и фазовых переходов конечные разности таблицы дают нефизичные значения. Пример: rho = 2.7, T ~ 140 К, где энергия скачет с 0.128 до 0.093 кДж/г. Гладкая сеть такое сглаживает и восстанавливает корректные производные.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MLP: 25 282 параметра, обучение за пару минут на CPU, R² = 0.999. Но 32 % точек нефизичны: в 28 % отрицательная теплоёмкость, в 8.6 % мнимая скорость звука. Это и есть шум градиентов, о котором предупреждали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PINN — та же архитектура, но в лосс добавлены производные. Показываем схему: данные дают точность, физика — корректность. Вес γ управляет балансом.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ограничения из постановки кейса. Важно: мы проверяем и знак, и причинность (c_s &lt; c), и делаем это в СГС, чтобы единицы совпадали с гидрокодом.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код: autograd по входам, цепное правило до физических единиц, безразмерные ReLU-штрафы. Два технических решения, без которых обучение разваливалось: деление штрафа на медианный масштаб производной и ограничение теплоёмкости снизу.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Двухэтапная схема — наш главный инженерный приём. Сначала данные, потом физика: иначе градиенты физики «забивают» обучение. Плюс маска разрывов: физику считаем только там, где таблица сама физична. Физический лосс падает на 6 порядков.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таблица. Читать так: точность Vanilla чуть выше (5.7 % против 8.9 % по медиане), но нарушений 32 % против 0.43 % — разница в 74 раза. Размер одинаковый, 0.1 МБ, скорость около микросекунды.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Где ошибаемся: узкая полоса вдоль разрывов, там ошибка в 1.7 раза выше. В гладких зонах — единицы процентов. Холодная ветвь тяжелее всего из-за смены знака энергии. Это честная граница гладкой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нарушений: у Vanilla — целые области, у PINN — тонкая полоса на стыке регионов, где сама таблица разрывна. Ни в одной точке нет c_s ≥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Скорость звука — самая чувствительная к производным величина. Сверяем с табличными конечными разностями: R² = 0.90, медианное отклонение 11.7 %. Расхождения концентрируются там, где табличная c_s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Упаковка: класс EOSSurrogate с тремя методами и docstrings в Google-style. predict — векторный инференс, sound_speed — autograd внутри, check_physics — маски нарушений. 10⁵ запросов за 0.13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Сжатие: TorchScript ускоряет одиночный запрос в 1.6 раза, int8 сжимает веса в 3.2 раза ценой p99 отклонения 0.034 в нормированных единицах. Показываем эффект численно, как требует кейс.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закрыты все пункты чек-листа. Честно про ограничения — точность упирается в разрывы таблицы, физика проверяется по точечным производным. Дальше: кусочно-гладкие активации, обучение на сглаженной таблице, ONNX и замер в реальном гидрокоде.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452360" y="0"/>
            <a:ext cx="10972" cy="6858000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140">
                <a:solidFill>
                  <a:srgbClr val="3DDCFF"/>
                </a:solidFill>
                <a:latin typeface="Arial"/>
              </a:rPr>
              <a:t>ИТ КоР · ТРЕК MACHINE LEARNING · КЕЙС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92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EAF2FF"/>
                </a:solidFill>
                <a:latin typeface="Arial"/>
              </a:rPr>
              <a:t>Физически согласованный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EAF2FF"/>
                </a:solidFill>
                <a:latin typeface="Arial"/>
              </a:rPr>
              <a:t>суррогат уравнения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EAF2FF"/>
                </a:solidFill>
                <a:latin typeface="Arial"/>
              </a:rPr>
              <a:t>состояния алюминия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611880"/>
            <a:ext cx="1463040" cy="4572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3822191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93A8C6"/>
                </a:solidFill>
                <a:latin typeface="Arial"/>
              </a:rPr>
              <a:t>PINN: P(ρ, T), e(ρ, T) и скорость звука c_s на диапазоне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93A8C6"/>
                </a:solidFill>
                <a:latin typeface="Arial"/>
              </a:rPr>
              <a:t>12 порядков давления — от 5·10⁻⁴ до 1.6·10⁹ ГПа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AF2FF"/>
                </a:solidFill>
                <a:latin typeface="Arial"/>
              </a:rPr>
              <a:t>Команда: &lt;имена участников&gt;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5896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E7493"/>
                </a:solidFill>
                <a:latin typeface="Arial"/>
              </a:rPr>
              <a:t>Хакатон Росатома «ИТ КоР» · октябрь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481328"/>
            <a:ext cx="1883664" cy="120700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818120" y="1481328"/>
            <a:ext cx="45720" cy="120700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01000" y="1627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3DDCFF"/>
                </a:solidFill>
                <a:latin typeface="Arial"/>
              </a:rPr>
              <a:t>1 130 053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76272"/>
            <a:ext cx="16093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строк табличных данных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481328"/>
            <a:ext cx="1883664" cy="120700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875520" y="1481328"/>
            <a:ext cx="45720" cy="1207008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0" y="1627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5CE1B9"/>
                </a:solidFill>
                <a:latin typeface="Arial"/>
              </a:rPr>
              <a:t>25 282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176272"/>
            <a:ext cx="16093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параметра модели (0.10 МБ)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898648"/>
            <a:ext cx="1883664" cy="120700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818120" y="2898648"/>
            <a:ext cx="45720" cy="1207008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304495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B84D"/>
                </a:solidFill>
                <a:latin typeface="Arial"/>
              </a:rPr>
              <a:t>0.43 %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593592"/>
            <a:ext cx="16093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точек с
нарушением физики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2898648"/>
            <a:ext cx="1883664" cy="120700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875520" y="2898648"/>
            <a:ext cx="45720" cy="1207008"/>
          </a:xfrm>
          <a:prstGeom prst="rect">
            <a:avLst/>
          </a:prstGeom>
          <a:solidFill>
            <a:srgbClr val="A7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0" y="304495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A78BFF"/>
                </a:solidFill>
                <a:latin typeface="Arial"/>
              </a:rPr>
              <a:t>0.95 мкс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593592"/>
            <a:ext cx="16093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на запрос P и e (батч)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526280"/>
            <a:ext cx="3931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93A8C6"/>
                </a:solidFill>
                <a:latin typeface="Arial"/>
              </a:rPr>
              <a:t>Репозиторий: Case_one.ipynb,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93A8C6"/>
                </a:solidFill>
                <a:latin typeface="Arial"/>
              </a:rPr>
              <a:t>eos_surrogate.py, normalization.json,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93A8C6"/>
                </a:solidFill>
                <a:latin typeface="Arial"/>
              </a:rPr>
              <a:t>pinn_best_physics.pt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ПОСТАНОВКА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Что требовалось в кейсе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Организатор: Росатом, трек ML · кейс «Нейросетевая аппроксимация широкодиапазонного УРС»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2 /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83080"/>
            <a:ext cx="3454298" cy="27889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1783080"/>
            <a:ext cx="45720" cy="2788920"/>
          </a:xfrm>
          <a:prstGeom prst="rect">
            <a:avLst/>
          </a:prstGeom>
          <a:solidFill>
            <a:srgbClr val="FF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1920240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6E8A"/>
                </a:solidFill>
                <a:latin typeface="Arial"/>
              </a:rPr>
              <a:t>Проблема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304288"/>
            <a:ext cx="304281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F6E8A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УРС вызывается миллионы раз за гидродинамический расчёт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F6E8A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Таблицы точны, но требуют десятки МБ и дают разрывы производных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F6E8A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Аналитические модели ограничены по диапазону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1783080"/>
            <a:ext cx="3454298" cy="27889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68698" y="1783080"/>
            <a:ext cx="45720" cy="278892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8154" y="1920240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DDCFF"/>
                </a:solidFill>
                <a:latin typeface="Arial"/>
              </a:rPr>
              <a:t>Что нужно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8154" y="2304288"/>
            <a:ext cx="304281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3DDCFF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PINN-аппроксимация P(ρ,T) и e(ρ,T) по табличным данным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3DDCFF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Производные ∂P/∂ρ, ∂P/∂T, ∂e/∂T и скорость звука c_s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3DDCFF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Соблюдение термодинамических ограничений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4164" y="1783080"/>
            <a:ext cx="3454298" cy="27889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24164" y="1783080"/>
            <a:ext cx="45720" cy="278892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43620" y="1920240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B84D"/>
                </a:solidFill>
                <a:latin typeface="Arial"/>
              </a:rPr>
              <a:t>Жёсткие рамки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620" y="2304288"/>
            <a:ext cx="304281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FB84D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Вес модели ≤ 10 МБ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FB84D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Скорость на 10⁵ запросах, экспорт TorchScript/ONNX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FB84D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README, docstrings, презентация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800600"/>
            <a:ext cx="10765231" cy="13258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13232" y="4800600"/>
            <a:ext cx="45720" cy="132588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" y="491947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3DDCFF"/>
                </a:solidFill>
                <a:latin typeface="Arial"/>
              </a:rPr>
              <a:t>ВХОД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8920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EAF2FF"/>
                </a:solidFill>
                <a:latin typeface="Arial"/>
              </a:rPr>
              <a:t>ρ ∈ [10⁻³; 10⁴] г/см³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8920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EAF2FF"/>
                </a:solidFill>
                <a:latin typeface="Arial"/>
              </a:rPr>
              <a:t>T ∈ [10⁻¹; 10⁷] 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23036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CE1B9"/>
                </a:solidFill>
                <a:latin typeface="Arial"/>
              </a:rPr>
              <a:t>ВЫХОД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2029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EAF2FF"/>
                </a:solidFill>
                <a:latin typeface="Arial"/>
              </a:rPr>
              <a:t>P ∈ [5·10⁻⁴; 1.6·10⁹] ГПа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52029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EAF2FF"/>
                </a:solidFill>
                <a:latin typeface="Arial"/>
              </a:rPr>
              <a:t>e ∈ [−47; 1.7·10⁵] кДж/г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669280"/>
            <a:ext cx="102165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3A8C6"/>
                </a:solidFill>
                <a:latin typeface="Arial"/>
              </a:rPr>
              <a:t>Ключевое отличие от обычной регрессии: модель оценивают не только по MSE, но и по знаку производных — ∂P/∂ρ &gt; 0, ∂e/∂T &gt; 0, 0 &lt; c_s &lt; 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КРИТЕРИИ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Как закрыт чек-лист на 100 баллов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Та же структура, что в финальном задании: от EDA до упаковки и презентации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3 / 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1755648"/>
          <a:ext cx="10765230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9616"/>
                <a:gridCol w="778761"/>
                <a:gridCol w="604685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Баллы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Артефакт в решении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Погружение в предметную область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разбор УРС, фазовой диаграммы и роли c_s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Обработка данных и EDA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Case_one.ipynb, карты P и e, сечения, 20 регионов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Baseline: билинейная интерполяция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20 RegularGridInterpolator + метрики и скорость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Обучение моделей и оценка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Vanilla MLP: R² = 0.999, кривые обучения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PINN и физические ограничения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physics-лосс на autograd, нарушений 0.43%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Инференс и упаковка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EOSSurrogate: predict / sound_speed / check_physics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Сжатие и скорость работы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TorchScript и int8: −69% размера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Выступление и презентация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этот документ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Документация и оформление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README, docstrings Google-style, normalization.json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3232" y="585216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5E7493"/>
                </a:solidFill>
                <a:latin typeface="Arial"/>
              </a:rPr>
              <a:t>Сумма критериев — 100 баллов; физика и PINN дают четверть оценки (25 из 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Датасет: 20 региональных сеток EOS 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1 130 053 строк, четыре диапазона плотности × пять диапазонов температуры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4 / 20</a:t>
            </a:r>
          </a:p>
        </p:txBody>
      </p:sp>
      <p:pic>
        <p:nvPicPr>
          <p:cNvPr id="12" name="Picture 11" descr="eda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1657"/>
            <a:ext cx="5989320" cy="38370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68312" y="1810512"/>
            <a:ext cx="4318711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80" b="1">
                <a:solidFill>
                  <a:srgbClr val="3DDCFF"/>
                </a:solidFill>
                <a:latin typeface="Arial"/>
              </a:rPr>
              <a:t>—  </a:t>
            </a:r>
            <a:r>
              <a:rPr sz="1080" b="1">
                <a:solidFill>
                  <a:srgbClr val="EAF2FF"/>
                </a:solidFill>
                <a:latin typeface="Arial"/>
              </a:rPr>
              <a:t>Формат</a:t>
            </a:r>
            <a:r>
              <a:rPr sz="1080">
                <a:solidFill>
                  <a:srgbClr val="EAF2FF"/>
                </a:solidFill>
                <a:latin typeface="Arial"/>
              </a:rPr>
              <a:t> — 20 файлов Obl01…Obl20 с шапкой # и колонками ρ, T, P, e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80" b="1">
                <a:solidFill>
                  <a:srgbClr val="3DDCFF"/>
                </a:solidFill>
                <a:latin typeface="Arial"/>
              </a:rPr>
              <a:t>—  </a:t>
            </a:r>
            <a:r>
              <a:rPr sz="1080">
                <a:solidFill>
                  <a:srgbClr val="EAF2FF"/>
                </a:solidFill>
                <a:latin typeface="Arial"/>
              </a:rPr>
              <a:t>Сетки лог-лог: ρ от 10⁻³ до 10⁴ г/см³, T от 0.1 до 10⁷ 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80" b="1">
                <a:solidFill>
                  <a:srgbClr val="3DDCFF"/>
                </a:solidFill>
                <a:latin typeface="Arial"/>
              </a:rPr>
              <a:t>—  </a:t>
            </a:r>
            <a:r>
              <a:rPr sz="1080">
                <a:solidFill>
                  <a:srgbClr val="EAF2FF"/>
                </a:solidFill>
                <a:latin typeface="Arial"/>
              </a:rPr>
              <a:t>Ни одного пропуска внутри регионов, но стыки сеток не согласованы между собой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4041648"/>
            <a:ext cx="2011680" cy="8686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068312" y="4041648"/>
            <a:ext cx="45720" cy="86868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51192" y="418795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DDCFF"/>
                </a:solidFill>
                <a:latin typeface="Arial"/>
              </a:rPr>
              <a:t>1.13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439826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3A8C6"/>
                </a:solidFill>
                <a:latin typeface="Arial"/>
              </a:rPr>
              <a:t>точек в объединённой таблице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4041648"/>
            <a:ext cx="2011680" cy="8686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217152" y="4041648"/>
            <a:ext cx="45720" cy="868680"/>
          </a:xfrm>
          <a:prstGeom prst="rect">
            <a:avLst/>
          </a:prstGeom>
          <a:solidFill>
            <a:srgbClr val="A7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00032" y="418795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A78BFF"/>
                </a:solidFill>
                <a:latin typeface="Arial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439826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3A8C6"/>
                </a:solidFill>
                <a:latin typeface="Arial"/>
              </a:rPr>
              <a:t>файлов-регионов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8312" y="5001768"/>
            <a:ext cx="2011680" cy="8686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068312" y="5001768"/>
            <a:ext cx="45720" cy="86868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51192" y="514807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B84D"/>
                </a:solidFill>
                <a:latin typeface="Arial"/>
              </a:rPr>
              <a:t>12.5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5358383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3A8C6"/>
                </a:solidFill>
                <a:latin typeface="Arial"/>
              </a:rPr>
              <a:t>декад по давлению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17152" y="5001768"/>
            <a:ext cx="2011680" cy="8686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217152" y="5001768"/>
            <a:ext cx="45720" cy="86868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00032" y="514807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5CE1B9"/>
                </a:solidFill>
                <a:latin typeface="Arial"/>
              </a:rPr>
              <a:t>20 %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358383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3A8C6"/>
                </a:solidFill>
                <a:latin typeface="Arial"/>
              </a:rPr>
              <a:t>независимая тестовая выборка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Что видно в данных: поля P и 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Давление и энергия меняются на 12 порядков — это определяет и нормировку, и архитектуру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5 / 20</a:t>
            </a:r>
          </a:p>
        </p:txBody>
      </p:sp>
      <p:pic>
        <p:nvPicPr>
          <p:cNvPr id="12" name="Picture 11" descr="eda_P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02" y="1719072"/>
            <a:ext cx="4885379" cy="3310128"/>
          </a:xfrm>
          <a:prstGeom prst="rect">
            <a:avLst/>
          </a:prstGeom>
        </p:spPr>
      </p:pic>
      <p:pic>
        <p:nvPicPr>
          <p:cNvPr id="13" name="Picture 12" descr="eda_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479" y="1719072"/>
            <a:ext cx="4414904" cy="3310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" y="513892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19" b="1">
                <a:solidFill>
                  <a:srgbClr val="3DDCFF"/>
                </a:solidFill>
                <a:latin typeface="Arial"/>
              </a:rPr>
              <a:t>—  </a:t>
            </a:r>
            <a:r>
              <a:rPr sz="1019">
                <a:solidFill>
                  <a:srgbClr val="EAF2FF"/>
                </a:solidFill>
                <a:latin typeface="Arial"/>
              </a:rPr>
              <a:t>P растёт монотонно, но внутри одного региона различается на 4 порядка; 8.0 % точек таблицы дают нефизичные производные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19" b="1">
                <a:solidFill>
                  <a:srgbClr val="3DDCFF"/>
                </a:solidFill>
                <a:latin typeface="Arial"/>
              </a:rPr>
              <a:t>—  </a:t>
            </a:r>
            <a:r>
              <a:rPr sz="1019" b="1">
                <a:solidFill>
                  <a:srgbClr val="EAF2FF"/>
                </a:solidFill>
                <a:latin typeface="Arial"/>
              </a:rPr>
              <a:t>e меняет знак: холодная ветвь отрицательна, плазменная доходит до 1.7·10⁵ кДж/г</a:t>
            </a:r>
            <a:r>
              <a:rPr sz="1019">
                <a:solidFill>
                  <a:srgbClr val="EAF2FF"/>
                </a:solidFill>
                <a:latin typeface="Arial"/>
              </a:rPr>
              <a:t> — поэтому e нормируется линейно, а P в логарифме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ПОДГОТОВКА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Нормализация и цифровой паспорт модели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Все преобразования зафиксированы в normalization.json — проверяющая система может воспроизвести инференс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6 /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83080"/>
            <a:ext cx="5074920" cy="43434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1783080"/>
            <a:ext cx="45720" cy="434340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1901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5CE1B9"/>
                </a:solidFill>
                <a:latin typeface="Arial"/>
              </a:rPr>
              <a:t>normalization.json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249424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{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"inputs": {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  "log_rho": { "min": -3.0, "max": 4.0 },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  "log_T":   { "min": -1.0, "max": 7.0 }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},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"outputs": {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  "P": { "min": 5.154e-04, "max": 1.5905e+09 },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  "e": { "min": -46.797895, "max": 167860.03 }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  }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00" b="0" i="0">
                <a:solidFill>
                  <a:srgbClr val="EAF2FF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687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5E7493"/>
                </a:solidFill>
                <a:latin typeface="Arial"/>
              </a:rPr>
              <a:t>Файл создаётся кодом и передаётся вместе с весами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810512"/>
            <a:ext cx="5324551" cy="93268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53912" y="1810512"/>
            <a:ext cx="45720" cy="93268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004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AF2FF"/>
                </a:solidFill>
                <a:latin typeface="Arial"/>
              </a:rPr>
              <a:t>Логарифмирование входов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76272"/>
            <a:ext cx="5004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3A8C6"/>
                </a:solidFill>
                <a:latin typeface="Arial"/>
              </a:rPr>
              <a:t>ρ и T покрывают 7 и 8 декад: log₁₀ превращает экспоненциальную сетку в равномерную и не даёт сети «ослепнуть»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843784"/>
            <a:ext cx="5324551" cy="93268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53912" y="2843784"/>
            <a:ext cx="45720" cy="93268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55080" y="2953512"/>
            <a:ext cx="5004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AF2FF"/>
                </a:solidFill>
                <a:latin typeface="Arial"/>
              </a:rPr>
              <a:t>Min-max в [0,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209544"/>
            <a:ext cx="5004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3A8C6"/>
                </a:solidFill>
                <a:latin typeface="Arial"/>
              </a:rPr>
              <a:t>одинаковый масштаб для обеих осей и обоих выходов — стабильные градиенты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877056"/>
            <a:ext cx="5324551" cy="93268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153912" y="3877056"/>
            <a:ext cx="45720" cy="93268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55080" y="3986784"/>
            <a:ext cx="5004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AF2FF"/>
                </a:solidFill>
                <a:latin typeface="Arial"/>
              </a:rPr>
              <a:t>log₁₀P на выходе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42816"/>
            <a:ext cx="5004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3A8C6"/>
                </a:solidFill>
                <a:latin typeface="Arial"/>
              </a:rPr>
              <a:t>давление предсказывается в логарифме: относительная ошибка становится равномерной по диапазону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4910328"/>
            <a:ext cx="5324551" cy="93268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53912" y="4910328"/>
            <a:ext cx="45720" cy="93268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55080" y="5020056"/>
            <a:ext cx="50045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AF2FF"/>
                </a:solidFill>
                <a:latin typeface="Arial"/>
              </a:rPr>
              <a:t>e без логарифма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76088"/>
            <a:ext cx="5004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3A8C6"/>
                </a:solidFill>
                <a:latin typeface="Arial"/>
              </a:rPr>
              <a:t>внутренняя энергия меняет знак, поэтому нормируется линейно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Билинейная интерполяция: эталон точности и памяти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20 интерполяторов по регионам, по одному на файл; проверка на 20% независимой выборки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7 / 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1810512"/>
          <a:ext cx="10765229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0727"/>
                <a:gridCol w="1710363"/>
                <a:gridCol w="1609754"/>
                <a:gridCol w="2112802"/>
                <a:gridCol w="1911583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Вариант таблицы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Узлов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Медиана |ΔP|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p95 |ΔP|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Полная (шаг сетки)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1 130 053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17.2 МБ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Прорежена ×2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283 183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4.32 МБ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0.0002 %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0.008 %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Прорежена ×4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71 430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1.09 МБ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0.0016 %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0.034 %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AF2FF"/>
                          </a:solidFill>
                          <a:latin typeface="Arial"/>
                        </a:rPr>
                        <a:t>Прорежена ×8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18 077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0.28 МБ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0.0075 %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AF2FF"/>
                          </a:solidFill>
                          <a:latin typeface="Arial"/>
                        </a:rPr>
                        <a:t>0.134 %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3232" y="4261104"/>
            <a:ext cx="5943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3DDCFF"/>
                </a:solidFill>
                <a:latin typeface="Arial"/>
              </a:rPr>
              <a:t>—  </a:t>
            </a:r>
            <a:r>
              <a:rPr sz="1050" b="1">
                <a:solidFill>
                  <a:srgbClr val="EAF2FF"/>
                </a:solidFill>
                <a:latin typeface="Arial"/>
              </a:rPr>
              <a:t>В узлах сетки интерполяция точна</a:t>
            </a:r>
            <a:r>
              <a:rPr sz="1050">
                <a:solidFill>
                  <a:srgbClr val="EAF2FF"/>
                </a:solidFill>
                <a:latin typeface="Arial"/>
              </a:rPr>
              <a:t> — её нельзя победить по MSE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3DDCFF"/>
                </a:solidFill>
                <a:latin typeface="Arial"/>
              </a:rPr>
              <a:t>—  </a:t>
            </a:r>
            <a:r>
              <a:rPr sz="1050">
                <a:solidFill>
                  <a:srgbClr val="EAF2FF"/>
                </a:solidFill>
                <a:latin typeface="Arial"/>
              </a:rPr>
              <a:t>Но производные разрывны: конечные разности прыгают на стыках регионов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3DDCFF"/>
                </a:solidFill>
                <a:latin typeface="Arial"/>
              </a:rPr>
              <a:t>—  </a:t>
            </a:r>
            <a:r>
              <a:rPr sz="1050" b="1">
                <a:solidFill>
                  <a:srgbClr val="EAF2FF"/>
                </a:solidFill>
                <a:latin typeface="Arial"/>
              </a:rPr>
              <a:t>Полная таблица</a:t>
            </a:r>
            <a:r>
              <a:rPr sz="1050">
                <a:solidFill>
                  <a:srgbClr val="EAF2FF"/>
                </a:solidFill>
                <a:latin typeface="Arial"/>
              </a:rPr>
              <a:t> — 17.2 МБ, это в 170 раз больше модели и вне лимита по духу задания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4261104"/>
            <a:ext cx="2148840" cy="8686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31152" y="4261104"/>
            <a:ext cx="45720" cy="86868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4032" y="4407408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B84D"/>
                </a:solidFill>
                <a:latin typeface="Arial"/>
              </a:rPr>
              <a:t>0.56 мкс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617720"/>
            <a:ext cx="1874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3A8C6"/>
                </a:solidFill>
                <a:latin typeface="Arial"/>
              </a:rPr>
              <a:t>на запрос (батч 10⁵)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62872" y="4261104"/>
            <a:ext cx="2148840" cy="86868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262872" y="4261104"/>
            <a:ext cx="45720" cy="868680"/>
          </a:xfrm>
          <a:prstGeom prst="rect">
            <a:avLst/>
          </a:prstGeom>
          <a:solidFill>
            <a:srgbClr val="FF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45751" y="4407408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6E8A"/>
                </a:solidFill>
                <a:latin typeface="Arial"/>
              </a:rPr>
              <a:t>2.9 %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1" y="4617720"/>
            <a:ext cx="1874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3A8C6"/>
                </a:solidFill>
                <a:latin typeface="Arial"/>
              </a:rPr>
              <a:t>точек с нарушением физики
при вычислении c_s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53949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93A8C6"/>
                </a:solidFill>
                <a:latin typeface="Arial"/>
              </a:rPr>
              <a:t>Вывод: таблица — эталон точности, но плохой кандидат на роль быстрого и гладкого суррогата.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ПОЧЕМУ НЕ ТАБЛИЦА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Разрывы производных ломают физику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Даже идеальная по точности таблица даёт нефизичные c_s² на стыках сеток и фазовых переходов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8 / 20</a:t>
            </a:r>
          </a:p>
        </p:txBody>
      </p:sp>
      <p:pic>
        <p:nvPicPr>
          <p:cNvPr id="12" name="Picture 11" descr="table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64" y="1737360"/>
            <a:ext cx="8878134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5166360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30" b="1">
                <a:solidFill>
                  <a:srgbClr val="3DDCFF"/>
                </a:solidFill>
                <a:latin typeface="Arial"/>
              </a:rPr>
              <a:t>—  </a:t>
            </a:r>
            <a:r>
              <a:rPr sz="1030">
                <a:solidFill>
                  <a:srgbClr val="EAF2FF"/>
                </a:solidFill>
                <a:latin typeface="Arial"/>
              </a:rPr>
              <a:t>8.0 % узлов таблицы формально нарушают хотя бы одно условие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30" b="1">
                <a:solidFill>
                  <a:srgbClr val="3DDCFF"/>
                </a:solidFill>
                <a:latin typeface="Arial"/>
              </a:rPr>
              <a:t>—  </a:t>
            </a:r>
            <a:r>
              <a:rPr sz="1030" b="1">
                <a:solidFill>
                  <a:srgbClr val="EAF2FF"/>
                </a:solidFill>
                <a:latin typeface="Arial"/>
              </a:rPr>
              <a:t>Причина</a:t>
            </a:r>
            <a:r>
              <a:rPr sz="1030">
                <a:solidFill>
                  <a:srgbClr val="EAF2FF"/>
                </a:solidFill>
                <a:latin typeface="Arial"/>
              </a:rPr>
              <a:t> — скачки e и P на границах регионов: пример Obl12, T ≈ 140 K, где e падает с 0.128 до 0.093 кДж/г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30" b="1">
                <a:solidFill>
                  <a:srgbClr val="3DDCFF"/>
                </a:solidFill>
                <a:latin typeface="Arial"/>
              </a:rPr>
              <a:t>—  </a:t>
            </a:r>
            <a:r>
              <a:rPr sz="1030">
                <a:solidFill>
                  <a:srgbClr val="EAF2FF"/>
                </a:solidFill>
                <a:latin typeface="Arial"/>
              </a:rPr>
              <a:t>Гладкая нейросеть сглаживает скачок: теряет доли процента точности, но восстанавливает корректные производные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МОДЕЛЬ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Vanilla MLP: точность без физики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Базовая архитектура: 2 → 128 → 128 → 64 → 2, tanh, 25 282 параметра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9 / 20</a:t>
            </a:r>
          </a:p>
        </p:txBody>
      </p:sp>
      <p:pic>
        <p:nvPicPr>
          <p:cNvPr id="12" name="Picture 11" descr="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166" y="1783080"/>
            <a:ext cx="5553810" cy="30632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3232" y="1783080"/>
            <a:ext cx="4983480" cy="30175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13232" y="1783080"/>
            <a:ext cx="45720" cy="301752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1832" y="1901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3DDCFF"/>
                </a:solidFill>
                <a:latin typeface="Arial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24028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 b="1">
                <a:solidFill>
                  <a:srgbClr val="3DDCFF"/>
                </a:solidFill>
                <a:latin typeface="Arial"/>
              </a:rPr>
              <a:t>—  </a:t>
            </a:r>
            <a:r>
              <a:rPr sz="1000">
                <a:solidFill>
                  <a:srgbClr val="EAF2FF"/>
                </a:solidFill>
                <a:latin typeface="Arial"/>
              </a:rPr>
              <a:t>60 эпох (из 120 при дообучении), Adam + OneCycle, batch 8192, ~2 с/эпоха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 b="1">
                <a:solidFill>
                  <a:srgbClr val="3DDCFF"/>
                </a:solidFill>
                <a:latin typeface="Arial"/>
              </a:rPr>
              <a:t>—  </a:t>
            </a:r>
            <a:r>
              <a:rPr sz="1000">
                <a:solidFill>
                  <a:srgbClr val="EAF2FF"/>
                </a:solidFill>
                <a:latin typeface="Arial"/>
              </a:rPr>
              <a:t>R² по P = 0.99915, R² по e = 0.99979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 b="1">
                <a:solidFill>
                  <a:srgbClr val="3DDCFF"/>
                </a:solidFill>
                <a:latin typeface="Arial"/>
              </a:rPr>
              <a:t>—  </a:t>
            </a:r>
            <a:r>
              <a:rPr sz="1000">
                <a:solidFill>
                  <a:srgbClr val="EAF2FF"/>
                </a:solidFill>
                <a:latin typeface="Arial"/>
              </a:rPr>
              <a:t>медианная ошибка P = 5.69 %, p95 = 25.3 %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 b="1">
                <a:solidFill>
                  <a:srgbClr val="3DDCFF"/>
                </a:solidFill>
                <a:latin typeface="Arial"/>
              </a:rPr>
              <a:t>—  </a:t>
            </a:r>
            <a:r>
              <a:rPr sz="1000">
                <a:solidFill>
                  <a:srgbClr val="EAF2FF"/>
                </a:solidFill>
                <a:latin typeface="Arial"/>
              </a:rPr>
              <a:t>Производные никто не контролирует: сеть оптимизирует только MSE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00" b="1">
                <a:solidFill>
                  <a:srgbClr val="3DDCFF"/>
                </a:solidFill>
                <a:latin typeface="Arial"/>
              </a:rPr>
              <a:t>—  </a:t>
            </a:r>
            <a:r>
              <a:rPr sz="1000" b="1">
                <a:solidFill>
                  <a:srgbClr val="EAF2FF"/>
                </a:solidFill>
                <a:latin typeface="Arial"/>
              </a:rPr>
              <a:t>Архитектура и режим обучения совпадают с PINN</a:t>
            </a:r>
            <a:r>
              <a:rPr sz="1000">
                <a:solidFill>
                  <a:srgbClr val="EAF2FF"/>
                </a:solidFill>
                <a:latin typeface="Arial"/>
              </a:rPr>
              <a:t> — разница только в функции потерь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029200"/>
            <a:ext cx="2560320" cy="105156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13232" y="5029200"/>
            <a:ext cx="45720" cy="1051560"/>
          </a:xfrm>
          <a:prstGeom prst="rect">
            <a:avLst/>
          </a:prstGeom>
          <a:solidFill>
            <a:srgbClr val="FF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6E8A"/>
                </a:solidFill>
                <a:latin typeface="Arial"/>
              </a:rPr>
              <a:t>31.9 %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6869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точек с нарушением физики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56432" y="5029200"/>
            <a:ext cx="2560320" cy="105156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456432" y="5029200"/>
            <a:ext cx="45720" cy="105156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39312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B84D"/>
                </a:solidFill>
                <a:latin typeface="Arial"/>
              </a:rPr>
              <a:t>28.0 %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556869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точек с ∂e/∂T &lt; 0 (отрицательная теплоёмкость)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29200"/>
            <a:ext cx="2560320" cy="105156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199632" y="5029200"/>
            <a:ext cx="45720" cy="1051560"/>
          </a:xfrm>
          <a:prstGeom prst="rect">
            <a:avLst/>
          </a:prstGeom>
          <a:solidFill>
            <a:srgbClr val="A7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82512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A78BFF"/>
                </a:solidFill>
                <a:latin typeface="Arial"/>
              </a:rPr>
              <a:t>6.1 %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556869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точек с ∂P/∂ρ &lt; 0 (потеря устойчивости)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2832" y="5029200"/>
            <a:ext cx="2514600" cy="105156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942832" y="5029200"/>
            <a:ext cx="45720" cy="105156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25711" y="517550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5CE1B9"/>
                </a:solidFill>
                <a:latin typeface="Arial"/>
              </a:rPr>
              <a:t>0.10 МБ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1" y="5568696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93A8C6"/>
                </a:solidFill>
                <a:latin typeface="Arial"/>
              </a:rPr>
              <a:t>размер весов при лимите 10 МБ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МОДЕЛЬ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PINN: та же сеть плюс физика в лоссе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Производные считаются автоградиентом прямо в графе вычислений и штрафуются в функции потерь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10 / 20</a:t>
            </a:r>
          </a:p>
        </p:txBody>
      </p:sp>
      <p:pic>
        <p:nvPicPr>
          <p:cNvPr id="12" name="Picture 11" descr="pinn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948" y="1691640"/>
            <a:ext cx="8672766" cy="2788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3232" y="4617720"/>
            <a:ext cx="3454298" cy="14173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13232" y="4617720"/>
            <a:ext cx="45720" cy="141732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73659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B84D"/>
                </a:solidFill>
                <a:latin typeface="Consolas"/>
              </a:rPr>
              <a:t>Data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074920"/>
            <a:ext cx="30428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>
                <a:solidFill>
                  <a:srgbClr val="93A8C6"/>
                </a:solidFill>
                <a:latin typeface="Arial"/>
              </a:rPr>
              <a:t>MSE между предсказаниями и таблицей в нормированном пространстве log₁₀P и 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8698" y="4617720"/>
            <a:ext cx="3454298" cy="14173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68698" y="4617720"/>
            <a:ext cx="45720" cy="1417320"/>
          </a:xfrm>
          <a:prstGeom prst="rect">
            <a:avLst/>
          </a:prstGeom>
          <a:solidFill>
            <a:srgbClr val="FF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88154" y="473659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6E8A"/>
                </a:solidFill>
                <a:latin typeface="Consolas"/>
              </a:rPr>
              <a:t>Physics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8154" y="5074920"/>
            <a:ext cx="30428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>
                <a:solidFill>
                  <a:srgbClr val="93A8C6"/>
                </a:solidFill>
                <a:latin typeface="Arial"/>
              </a:rPr>
              <a:t>ReLU-штрафы за неверный знак ∂P/∂ρ и ∂e/∂T и за выход c_s² из (0, c²)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4164" y="4617720"/>
            <a:ext cx="3454298" cy="141732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24164" y="4617720"/>
            <a:ext cx="45720" cy="141732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43620" y="473659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5CE1B9"/>
                </a:solidFill>
                <a:latin typeface="Consolas"/>
              </a:rPr>
              <a:t>Σ = data + γ·physics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3620" y="5074920"/>
            <a:ext cx="30428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>
                <a:solidFill>
                  <a:srgbClr val="93A8C6"/>
                </a:solidFill>
                <a:latin typeface="Arial"/>
              </a:rPr>
              <a:t>γ = 0.3…0.12 на этапе калибровки: физика заметна, но данные не забываются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ФИЗИКА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Три ограничения: их проверяет и лосс, и жюри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Формулировки взяты из постановки кейса; все проверки выполняются в системе СГС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11 /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83080"/>
            <a:ext cx="10765231" cy="1316736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1783080"/>
            <a:ext cx="45720" cy="1316736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191109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3DDCFF"/>
                </a:solidFill>
                <a:latin typeface="Arial"/>
              </a:rPr>
              <a:t>Термодинамическая устойчивость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2402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AF2FF"/>
                </a:solidFill>
                <a:latin typeface="Consolas"/>
              </a:rPr>
              <a:t>∂P/∂ρ &gt;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6974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5E7493"/>
                </a:solidFill>
                <a:latin typeface="Consolas"/>
              </a:rPr>
              <a:t>Штраф: mean(ReLU(−∂P/∂ρ)) / median|∂P/∂ρ|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02536"/>
            <a:ext cx="47301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93A8C6"/>
                </a:solidFill>
                <a:latin typeface="Arial"/>
              </a:rPr>
              <a:t>Изотермическая сжимаемость положительна: вещество не схлопывается само по себе.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4408"/>
            <a:ext cx="10765231" cy="1316736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13232" y="3264408"/>
            <a:ext cx="45720" cy="1316736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9264" y="33924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CE1B9"/>
                </a:solidFill>
                <a:latin typeface="Arial"/>
              </a:rPr>
              <a:t>Положительная теплоёмкость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72160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AF2FF"/>
                </a:solidFill>
                <a:latin typeface="Consolas"/>
              </a:rPr>
              <a:t>∂e/∂T &gt;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17880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5E7493"/>
                </a:solidFill>
                <a:latin typeface="Consolas"/>
              </a:rPr>
              <a:t>Штраф: mean(ReLU(−∂e/∂T)) / median|∂e/∂T|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483864"/>
            <a:ext cx="47301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93A8C6"/>
                </a:solidFill>
                <a:latin typeface="Arial"/>
              </a:rPr>
              <a:t>Энергия растёт с температурой: c_v &gt; 0, иначе нарушается второе начало.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745736"/>
            <a:ext cx="10765231" cy="1316736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13232" y="4745736"/>
            <a:ext cx="45720" cy="1316736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" y="48737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B84D"/>
                </a:solidFill>
                <a:latin typeface="Arial"/>
              </a:rPr>
              <a:t>Скорость звука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0293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AF2FF"/>
                </a:solidFill>
                <a:latin typeface="Consolas"/>
              </a:rPr>
              <a:t>c_s² = (∂P/∂ρ)_T + T·(∂P/∂T)²_ρ / (ρ²·∂e/∂T)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6601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5E7493"/>
                </a:solidFill>
                <a:latin typeface="Consolas"/>
              </a:rPr>
              <a:t>Штраф: ReLU(−c_s²) + ReLU(c_s² − c²)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965192"/>
            <a:ext cx="47301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93A8C6"/>
                </a:solidFill>
                <a:latin typeface="Arial"/>
              </a:rPr>
              <a:t>Вещественная и дорелятивистская: 0 &lt; c_s &lt; c, где c — скорость света.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263640"/>
            <a:ext cx="10765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1">
                <a:solidFill>
                  <a:srgbClr val="5E7493"/>
                </a:solidFill>
                <a:latin typeface="Arial"/>
              </a:rPr>
              <a:t>Все величины пересчитаны в СГС: 1 ГПа = 10¹⁰ эрг/см³, 1 кДж/г = 10¹⁰ см²/с².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РЕАЛИЗАЦИЯ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Как производные попадают в лосс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torch.autograd.grad по входам сети, цепное правило до физических единиц, устойчивые штрафы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12 /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83080"/>
            <a:ext cx="5989320" cy="431596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1783080"/>
            <a:ext cx="45720" cy="4315968"/>
          </a:xfrm>
          <a:prstGeom prst="rect">
            <a:avLst/>
          </a:prstGeom>
          <a:solidFill>
            <a:srgbClr val="A7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18836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A78BFF"/>
                </a:solidFill>
                <a:latin typeface="Arial"/>
              </a:rPr>
              <a:t>Фрагмент physics-лосса (Case_one.ipynb, блок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194560"/>
            <a:ext cx="553212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x.requires_grad_(True)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out = model(x)                 # log10P, 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gP = autograd.grad(out[:, 0].sum(), x,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                   create_graph=True,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                   retain_graph=True)[0]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# цепное правило: log10 -&gt; физические единицы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dP_drho = P * gP[:, 0] * span_lp / span_lr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                      / (rho * ln10)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de_dT   = ge[:, 1] * span_e / span_lt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                      / (T * ln10)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# безразмерные штрафы по ReLU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loss_stab = relu(-dP_drho / s_p).mean()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loss_cap  = relu(-de_dT   / s_e).mean()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EAF2FF"/>
                </a:solidFill>
                <a:latin typeface="Consolas"/>
              </a:rPr>
              <a:t>loss_cs   = relu(-cs2/c**2) + relu(cs2/c**2 - 1)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1810512"/>
            <a:ext cx="4410151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30" b="1">
                <a:solidFill>
                  <a:srgbClr val="3DDCFF"/>
                </a:solidFill>
                <a:latin typeface="Arial"/>
              </a:rPr>
              <a:t>—  </a:t>
            </a:r>
            <a:r>
              <a:rPr sz="1030">
                <a:solidFill>
                  <a:srgbClr val="EAF2FF"/>
                </a:solidFill>
                <a:latin typeface="Arial"/>
              </a:rPr>
              <a:t>Два прохода вперёд на батч: по данным и по случайным точкам для физики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30" b="1">
                <a:solidFill>
                  <a:srgbClr val="3DDCFF"/>
                </a:solidFill>
                <a:latin typeface="Arial"/>
              </a:rPr>
              <a:t>—  </a:t>
            </a:r>
            <a:r>
              <a:rPr sz="1030" b="1">
                <a:solidFill>
                  <a:srgbClr val="EAF2FF"/>
                </a:solidFill>
                <a:latin typeface="Arial"/>
              </a:rPr>
              <a:t>Штрафы делятся на медианный масштаб производной</a:t>
            </a:r>
            <a:r>
              <a:rPr sz="1030">
                <a:solidFill>
                  <a:srgbClr val="EAF2FF"/>
                </a:solidFill>
                <a:latin typeface="Arial"/>
              </a:rPr>
              <a:t> — иначе лосс взрывается на плазме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030" b="1">
                <a:solidFill>
                  <a:srgbClr val="3DDCFF"/>
                </a:solidFill>
                <a:latin typeface="Arial"/>
              </a:rPr>
              <a:t>—  </a:t>
            </a:r>
            <a:r>
              <a:rPr sz="1030">
                <a:solidFill>
                  <a:srgbClr val="EAF2FF"/>
                </a:solidFill>
                <a:latin typeface="Arial"/>
              </a:rPr>
              <a:t>c_s² ограничен снизу и сверху, а не только по знаку: проверяется причинность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592" y="4343400"/>
            <a:ext cx="2103120" cy="100584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022592" y="4343400"/>
            <a:ext cx="45720" cy="100584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05472" y="4489704"/>
            <a:ext cx="18287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5CE1B9"/>
                </a:solidFill>
                <a:latin typeface="Arial"/>
              </a:rPr>
              <a:t>3.3·10⁻⁷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837175"/>
            <a:ext cx="182879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93A8C6"/>
                </a:solidFill>
                <a:latin typeface="Arial"/>
              </a:rPr>
              <a:t>финальный physics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08592" y="4343400"/>
            <a:ext cx="2103120" cy="100584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308592" y="4343400"/>
            <a:ext cx="45720" cy="100584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91472" y="4489704"/>
            <a:ext cx="18287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B84D"/>
                </a:solidFill>
                <a:latin typeface="Arial"/>
              </a:rPr>
              <a:t>0.43 %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4837175"/>
            <a:ext cx="182879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93A8C6"/>
                </a:solidFill>
                <a:latin typeface="Arial"/>
              </a:rPr>
              <a:t>нарушений на тесте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553212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1">
                <a:solidFill>
                  <a:srgbClr val="5E7493"/>
                </a:solidFill>
                <a:latin typeface="Arial"/>
              </a:rPr>
              <a:t>Без нормировки штрафов обучение расходилось в NaN — помогли деление на медиану,
ограничение c_v снизу и отбрасывание нефинитных шагов.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Двухэтапная схема: сначала данные, потом физика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Разделение этапов убирает главную проблему PINN — борьбу градиентов данных и физики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13 / 20</a:t>
            </a:r>
          </a:p>
        </p:txBody>
      </p:sp>
      <p:pic>
        <p:nvPicPr>
          <p:cNvPr id="12" name="Picture 11" descr="physics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867" y="1755648"/>
            <a:ext cx="5279329" cy="3017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3232" y="1783080"/>
            <a:ext cx="5257800" cy="129844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13232" y="1783080"/>
            <a:ext cx="45720" cy="12984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189280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3DDCFF"/>
                </a:solidFill>
                <a:latin typeface="Arial"/>
              </a:rPr>
              <a:t>Этап 1 ·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203704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>
                <a:solidFill>
                  <a:srgbClr val="93A8C6"/>
                </a:solidFill>
                <a:latin typeface="Arial"/>
              </a:rPr>
              <a:t>120 эпох (60 + 60 дообучения), MSE по log₁₀P и e: R² ≈ 0.999, сеть запоминает топологию таблицы.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200400"/>
            <a:ext cx="5257800" cy="129844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13232" y="3200400"/>
            <a:ext cx="45720" cy="1298448"/>
          </a:xfrm>
          <a:prstGeom prst="rect">
            <a:avLst/>
          </a:prstGeom>
          <a:solidFill>
            <a:srgbClr val="FF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1012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6E8A"/>
                </a:solidFill>
                <a:latin typeface="Arial"/>
              </a:rPr>
              <a:t>Этап 2 · калибровка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621024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>
                <a:solidFill>
                  <a:srgbClr val="93A8C6"/>
                </a:solidFill>
                <a:latin typeface="Arial"/>
              </a:rPr>
              <a:t>44 эпохи с γ = 0.3…0.12 и lr ≤ 3·10⁻⁴: включаются ReLU-штрафы, нарушения падают до 0.4 %.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617720"/>
            <a:ext cx="5257800" cy="129844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13232" y="4617720"/>
            <a:ext cx="45720" cy="1298448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72744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5CE1B9"/>
                </a:solidFill>
                <a:latin typeface="Arial"/>
              </a:rPr>
              <a:t>Стабилизация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038344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>
                <a:solidFill>
                  <a:srgbClr val="93A8C6"/>
                </a:solidFill>
                <a:latin typeface="Arial"/>
              </a:rPr>
              <a:t>Физика считается только вне разрывов таблицы, OneCycle, клиппинг градиента, откат шага при NaN.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9893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1">
                <a:solidFill>
                  <a:srgbClr val="5E7493"/>
                </a:solidFill>
                <a:latin typeface="Arial"/>
              </a:rPr>
              <a:t>Полное обучение: ≈ 4 минуты на 2 ядрах CPU, воспроизводится из ноутбука.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4846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93A8C6"/>
                </a:solidFill>
                <a:latin typeface="Arial"/>
              </a:rPr>
              <a:t>Физический лосс падает с 4·10⁻² до 8·10⁻⁸, доля нарушений — с 4 % до 0.4 %.
Маска разрывов (9.6 % точек) не даёт физике «воевать» с нефизичными стыками таблицы.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Итоговое сравнение трёх подходов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Одна и та же тестовая выборка — 226 011 точек, стратифицированная по всей фазовой диаграмме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14 / 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1755648"/>
          <a:ext cx="10765227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2273"/>
                <a:gridCol w="1150131"/>
                <a:gridCol w="1380157"/>
                <a:gridCol w="1150131"/>
                <a:gridCol w="1150131"/>
                <a:gridCol w="1610184"/>
                <a:gridCol w="966110"/>
                <a:gridCol w="9661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R² (P)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Медиана |ΔP|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p95 |ΔP|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R² (e)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Нарушений физики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Время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2FF"/>
                          </a:solidFill>
                          <a:latin typeface="Arial"/>
                        </a:rPr>
                        <a:t>Baseline: интерполяция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1.00000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1.00000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2.86 %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17.2 МБ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0.55 мкс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2FF"/>
                          </a:solidFill>
                          <a:latin typeface="Arial"/>
                        </a:rPr>
                        <a:t>Vanilla MLP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0.99915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5.69 %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25.3 %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0.99979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31.87 %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0.10 МБ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0.91 мкс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2FF"/>
                          </a:solidFill>
                          <a:latin typeface="Arial"/>
                        </a:rPr>
                        <a:t>PINN с физикой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0.99865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8.94 %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28.2 %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0.99953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0.43 %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0.10 МБ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AF2FF"/>
                          </a:solidFill>
                          <a:latin typeface="Arial"/>
                        </a:rPr>
                        <a:t>0.95 мкс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3232" y="4096512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5E7493"/>
                </a:solidFill>
                <a:latin typeface="Arial"/>
              </a:rPr>
              <a:t>Ошибки P — в процентах от давления; нарушения считаются по autograd-производным на 100 тыс. точек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07408"/>
            <a:ext cx="3454298" cy="1627632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13232" y="4407408"/>
            <a:ext cx="45720" cy="1627632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535424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5CE1B9"/>
                </a:solidFill>
                <a:latin typeface="Arial"/>
              </a:rPr>
              <a:t>PINN в 74 раз реже нарушает физику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029200"/>
            <a:ext cx="304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0" i="0">
                <a:solidFill>
                  <a:srgbClr val="93A8C6"/>
                </a:solidFill>
                <a:latin typeface="Arial"/>
              </a:rPr>
              <a:t>32 % → 0.43 % при потере 3.2 п.п. медианной точности 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4407408"/>
            <a:ext cx="3454298" cy="1627632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68698" y="4407408"/>
            <a:ext cx="45720" cy="162763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88154" y="4535424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3DDCFF"/>
                </a:solidFill>
                <a:latin typeface="Arial"/>
              </a:rPr>
              <a:t>Модель в 173 раз компактнее таблицы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8154" y="5029200"/>
            <a:ext cx="304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0" i="0">
                <a:solidFill>
                  <a:srgbClr val="93A8C6"/>
                </a:solidFill>
                <a:latin typeface="Arial"/>
              </a:rPr>
              <a:t>0.10 МБ против 17.2 МБ при скорости около 1 мкс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4164" y="4407408"/>
            <a:ext cx="3454298" cy="1627632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24164" y="4407408"/>
            <a:ext cx="45720" cy="1627632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43620" y="4535424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B84D"/>
                </a:solidFill>
                <a:latin typeface="Arial"/>
              </a:rPr>
              <a:t>Точность ограничена разрывами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620" y="5029200"/>
            <a:ext cx="304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0" i="0">
                <a:solidFill>
                  <a:srgbClr val="93A8C6"/>
                </a:solidFill>
                <a:latin typeface="Arial"/>
              </a:rPr>
              <a:t>Вблизи стыков сеток ошибка выше в 1.7 раза — это потолок гладкой регрессии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ДИАГНОСТИКА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Где модель ошибается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Относительная ошибка P на сетке 220 × 300 точек по всей фазовой диаграмме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15 / 20</a:t>
            </a:r>
          </a:p>
        </p:txBody>
      </p:sp>
      <p:pic>
        <p:nvPicPr>
          <p:cNvPr id="12" name="Picture 11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88" y="1719071"/>
            <a:ext cx="6512887" cy="3154680"/>
          </a:xfrm>
          <a:prstGeom prst="rect">
            <a:avLst/>
          </a:prstGeom>
        </p:spPr>
      </p:pic>
      <p:pic>
        <p:nvPicPr>
          <p:cNvPr id="13" name="Picture 12" descr="error_by_z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336" y="4919472"/>
            <a:ext cx="3269511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33872" y="4892040"/>
            <a:ext cx="56445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>
                <a:solidFill>
                  <a:srgbClr val="EAF2FF"/>
                </a:solidFill>
                <a:latin typeface="Arial"/>
              </a:rPr>
              <a:t>Вблизи разрывов ошибка 1.7× выше, чем в гладких зонах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>
                <a:solidFill>
                  <a:srgbClr val="EAF2FF"/>
                </a:solidFill>
                <a:latin typeface="Arial"/>
              </a:rPr>
              <a:t>Холодная ветвь T &lt; 10³ К тяжелее всего: там e меняет знак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 b="1">
                <a:solidFill>
                  <a:srgbClr val="EAF2FF"/>
                </a:solidFill>
                <a:latin typeface="Arial"/>
              </a:rPr>
              <a:t>Высокотемпературная плазма аппроксимируется точнее</a:t>
            </a:r>
            <a:r>
              <a:rPr sz="960">
                <a:solidFill>
                  <a:srgbClr val="EAF2FF"/>
                </a:solidFill>
                <a:latin typeface="Arial"/>
              </a:rPr>
              <a:t> — около 7 %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ДИАГНОСТИКА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Карта нарушений: физика под контролем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Флаги нарушений в каждой точке диаграммы — то, что в кейсе названо check_physics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16 / 20</a:t>
            </a:r>
          </a:p>
        </p:txBody>
      </p:sp>
      <p:pic>
        <p:nvPicPr>
          <p:cNvPr id="12" name="Picture 11" descr="violation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52" y="1719072"/>
            <a:ext cx="5678640" cy="2514600"/>
          </a:xfrm>
          <a:prstGeom prst="rect">
            <a:avLst/>
          </a:prstGeom>
        </p:spPr>
      </p:pic>
      <p:pic>
        <p:nvPicPr>
          <p:cNvPr id="13" name="Picture 12" descr="violation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213" y="1691639"/>
            <a:ext cx="3588716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" y="4462272"/>
            <a:ext cx="5989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90" b="1">
                <a:solidFill>
                  <a:srgbClr val="3DDCFF"/>
                </a:solidFill>
                <a:latin typeface="Arial"/>
              </a:rPr>
              <a:t>—  </a:t>
            </a:r>
            <a:r>
              <a:rPr sz="990" b="1">
                <a:solidFill>
                  <a:srgbClr val="EAF2FF"/>
                </a:solidFill>
                <a:latin typeface="Arial"/>
              </a:rPr>
              <a:t>У Vanilla MLP треть точек нефизична: отрицательная теплоёмкость и потеря устойчивости</a:t>
            </a:r>
            <a:r>
              <a:rPr sz="990">
                <a:solidFill>
                  <a:srgbClr val="EAF2FF"/>
                </a:solidFill>
                <a:latin typeface="Arial"/>
              </a:rPr>
              <a:t> — шум градиентов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90" b="1">
                <a:solidFill>
                  <a:srgbClr val="3DDCFF"/>
                </a:solidFill>
                <a:latin typeface="Arial"/>
              </a:rPr>
              <a:t>—  </a:t>
            </a:r>
            <a:r>
              <a:rPr sz="990">
                <a:solidFill>
                  <a:srgbClr val="EAF2FF"/>
                </a:solidFill>
                <a:latin typeface="Arial"/>
              </a:rPr>
              <a:t>PINN оставляет 0.43 %: узкая полоса на стыке регионов, где таблица сама разрывна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90" b="1">
                <a:solidFill>
                  <a:srgbClr val="3DDCFF"/>
                </a:solidFill>
                <a:latin typeface="Arial"/>
              </a:rPr>
              <a:t>—  </a:t>
            </a:r>
            <a:r>
              <a:rPr sz="990">
                <a:solidFill>
                  <a:srgbClr val="EAF2FF"/>
                </a:solidFill>
                <a:latin typeface="Arial"/>
              </a:rPr>
              <a:t>Требование «0 &lt; c_s &lt; c» выполнено: релятивистских выбросов нет ни в одной точке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ФИЗИКА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Скорость звука: сверка с таблицей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c_s — самая чувствительная к производным величина: именно здесь видна разница между моделями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17 / 20</a:t>
            </a:r>
          </a:p>
        </p:txBody>
      </p:sp>
      <p:pic>
        <p:nvPicPr>
          <p:cNvPr id="12" name="Picture 11" descr="c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03268"/>
            <a:ext cx="7498079" cy="28777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39911" y="1783080"/>
            <a:ext cx="2992831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 b="1">
                <a:solidFill>
                  <a:srgbClr val="EAF2FF"/>
                </a:solidFill>
                <a:latin typeface="Arial"/>
              </a:rPr>
              <a:t>Медианное отклонение</a:t>
            </a:r>
            <a:r>
              <a:rPr sz="980">
                <a:solidFill>
                  <a:srgbClr val="EAF2FF"/>
                </a:solidFill>
                <a:latin typeface="Arial"/>
              </a:rPr>
              <a:t> — 11.7 % от табличной c_s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Скачки точности приходятся на разрывы сетки: там c_s из таблицы сама не определена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 b="1">
                <a:solidFill>
                  <a:srgbClr val="EAF2FF"/>
                </a:solidFill>
                <a:latin typeface="Arial"/>
              </a:rPr>
              <a:t>У Vanilla MLP медиана ниже (8.4 %), но c_s² &lt; 0 в 8.6 % точек</a:t>
            </a:r>
            <a:r>
              <a:rPr sz="980">
                <a:solidFill>
                  <a:srgbClr val="EAF2FF"/>
                </a:solidFill>
                <a:latin typeface="Arial"/>
              </a:rPr>
              <a:t> — скорость звука мнимая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138928"/>
            <a:ext cx="3429000" cy="102412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13232" y="5138928"/>
            <a:ext cx="45720" cy="1024128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28523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5CE1B9"/>
                </a:solidFill>
                <a:latin typeface="Arial"/>
              </a:rPr>
              <a:t>R² = 0.90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650992"/>
            <a:ext cx="3154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93A8C6"/>
                </a:solidFill>
                <a:latin typeface="Arial"/>
              </a:rPr>
              <a:t>по log₁₀ c_s на тестовой выборке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5138928"/>
            <a:ext cx="3429000" cy="102412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25112" y="5138928"/>
            <a:ext cx="45720" cy="1024128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07992" y="528523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B84D"/>
                </a:solidFill>
                <a:latin typeface="Arial"/>
              </a:rPr>
              <a:t>83 %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5650992"/>
            <a:ext cx="3154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93A8C6"/>
                </a:solidFill>
                <a:latin typeface="Arial"/>
              </a:rPr>
              <a:t>p95 относительного отклонения c_s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5138928"/>
            <a:ext cx="3520440" cy="102412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936992" y="5138928"/>
            <a:ext cx="45720" cy="102412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19871" y="5285232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3DDCFF"/>
                </a:solidFill>
                <a:latin typeface="Arial"/>
              </a:rPr>
              <a:t>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5650992"/>
            <a:ext cx="3246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 i="0">
                <a:solidFill>
                  <a:srgbClr val="93A8C6"/>
                </a:solidFill>
                <a:latin typeface="Arial"/>
              </a:rPr>
              <a:t>точек с c_s ≥ c, причинность не нарушена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УПАКОВКА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EOSSurrogate: три метода и файл на 0.1 МБ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Класс-обёртка с docstrings в Google-style, готовая к встраиванию в гидрокод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18 /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83080"/>
            <a:ext cx="6583680" cy="431596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1783080"/>
            <a:ext cx="45720" cy="4315968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1920240"/>
            <a:ext cx="61264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from eos_surrogate import EOSSurrogate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eos = EOSSurrogate("pinn_best_physics.pt",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                   "normalization.json")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P, e = eos.predict(rho, T)        # ГПа, кДж/г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cs   = eos.sound_speed(rho, T)    # см/с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flags = eos.check_physics(rho, T)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#   stable, positive_heat_capacity,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#   causal_sound_speed, in_domain, ok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&gt;&gt;&gt; P, e = eos.predict(2.7, 1e4)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&gt;&gt;&gt; flags["ok"]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 i="0">
                <a:solidFill>
                  <a:srgbClr val="EAF2FF"/>
                </a:solidFill>
                <a:latin typeface="Consolas"/>
              </a:rPr>
              <a:t>array([ True])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783080"/>
            <a:ext cx="3907231" cy="111556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571231" y="1783080"/>
            <a:ext cx="45720" cy="111556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1892807"/>
            <a:ext cx="35871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3DDCFF"/>
                </a:solidFill>
                <a:latin typeface="Consolas"/>
              </a:rPr>
              <a:t>predict(ρ, T) → P,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85416"/>
            <a:ext cx="35414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>
                <a:solidFill>
                  <a:srgbClr val="93A8C6"/>
                </a:solidFill>
                <a:latin typeface="Arial"/>
              </a:rPr>
              <a:t>Векторизованный инференс, батч 10⁵ запросов за 0.1 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71231" y="2990088"/>
            <a:ext cx="3907231" cy="111556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571231" y="2990088"/>
            <a:ext cx="45720" cy="1115568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0" y="3099816"/>
            <a:ext cx="35871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5CE1B9"/>
                </a:solidFill>
                <a:latin typeface="Consolas"/>
              </a:rPr>
              <a:t>sound_speed(ρ, T) → c_s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392424"/>
            <a:ext cx="35414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>
                <a:solidFill>
                  <a:srgbClr val="93A8C6"/>
                </a:solidFill>
                <a:latin typeface="Arial"/>
              </a:rPr>
              <a:t>Autograd-производные внутри, единицы СГС, проверка ветвления c_s²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1" y="4197096"/>
            <a:ext cx="3907231" cy="111556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571231" y="4197096"/>
            <a:ext cx="45720" cy="1115568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0" y="4306824"/>
            <a:ext cx="35871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B84D"/>
                </a:solidFill>
                <a:latin typeface="Consolas"/>
              </a:rPr>
              <a:t>check_physics(ρ, T) → флаги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599432"/>
            <a:ext cx="35414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>
                <a:solidFill>
                  <a:srgbClr val="93A8C6"/>
                </a:solidFill>
                <a:latin typeface="Arial"/>
              </a:rPr>
              <a:t>Маски нарушений и выхода за пределы табличного диапазона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413248"/>
            <a:ext cx="1600200" cy="9144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13232" y="5413248"/>
            <a:ext cx="45720" cy="91440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96112" y="5559552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5CE1B9"/>
                </a:solidFill>
                <a:latin typeface="Arial"/>
              </a:rPr>
              <a:t>0.10 МБ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815583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93A8C6"/>
                </a:solidFill>
                <a:latin typeface="Arial"/>
              </a:rPr>
              <a:t>state_dict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96312" y="5413248"/>
            <a:ext cx="1600200" cy="9144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496312" y="5413248"/>
            <a:ext cx="45720" cy="91440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679192" y="5559552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DDCFF"/>
                </a:solidFill>
                <a:latin typeface="Arial"/>
              </a:rPr>
              <a:t>1.0 мкс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9192" y="5815583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93A8C6"/>
                </a:solidFill>
                <a:latin typeface="Arial"/>
              </a:rPr>
              <a:t>на запрос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5413248"/>
            <a:ext cx="1600200" cy="9144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279392" y="5413248"/>
            <a:ext cx="45720" cy="914400"/>
          </a:xfrm>
          <a:prstGeom prst="rect">
            <a:avLst/>
          </a:prstGeom>
          <a:solidFill>
            <a:srgbClr val="A7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62272" y="5559552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A78BFF"/>
                </a:solidFill>
                <a:latin typeface="Arial"/>
              </a:rPr>
              <a:t>0.13 мс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815583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9" b="0" i="0">
                <a:solidFill>
                  <a:srgbClr val="93A8C6"/>
                </a:solidFill>
                <a:latin typeface="Arial"/>
              </a:rPr>
              <a:t>на 10⁵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ОПТИМИЗАЦИЯ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Сжатие и скорость: TorchScript и int8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Дополнительный этап кейса — измеримый эффект оптимизации на размер и скорость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19 / 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1783080"/>
          <a:ext cx="6537957" cy="15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7215"/>
                <a:gridCol w="1138870"/>
                <a:gridCol w="1181050"/>
                <a:gridCol w="1265411"/>
                <a:gridCol w="1265411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На запрос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Запросов/с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3A8C6"/>
                          </a:solidFill>
                          <a:latin typeface="Arial"/>
                        </a:rPr>
                        <a:t>Δ выхода (сред.)</a:t>
                      </a:r>
                    </a:p>
                  </a:txBody>
                  <a:tcPr marL="91440" marR="73152" marT="41148" marB="41148" anchor="ctr">
                    <a:solidFill>
                      <a:srgbClr val="1624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EAF2FF"/>
                          </a:solidFill>
                          <a:latin typeface="Arial"/>
                        </a:rPr>
                        <a:t>PyTorch fp32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0.100 МБ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1.00 мкс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1.00 млн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EAF2FF"/>
                          </a:solidFill>
                          <a:latin typeface="Arial"/>
                        </a:rPr>
                        <a:t>TorchScript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0.107 МБ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1.05 мкс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0.95 млн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73152" marT="41148" marB="41148" anchor="ctr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EAF2FF"/>
                          </a:solidFill>
                          <a:latin typeface="Arial"/>
                        </a:rPr>
                        <a:t>int8 dynamic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0.031 МБ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1.10 мкс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0.91 млн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EAF2FF"/>
                          </a:solidFill>
                          <a:latin typeface="Arial"/>
                        </a:rPr>
                        <a:t>0.011</a:t>
                      </a:r>
                    </a:p>
                  </a:txBody>
                  <a:tcPr marL="91440" marR="73152" marT="41148" marB="41148" anchor="ctr">
                    <a:solidFill>
                      <a:srgbClr val="111C3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3232" y="3931920"/>
            <a:ext cx="6400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 b="1">
                <a:solidFill>
                  <a:srgbClr val="EAF2FF"/>
                </a:solidFill>
                <a:latin typeface="Arial"/>
              </a:rPr>
              <a:t>int8 сжимает веса в 3.2 раза: 0.100 → 0.031 МБ</a:t>
            </a:r>
            <a:r>
              <a:rPr sz="960">
                <a:solidFill>
                  <a:srgbClr val="EAF2FF"/>
                </a:solidFill>
                <a:latin typeface="Arial"/>
              </a:rPr>
              <a:t> — в 320 раз меньше лимита 10 МБ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>
                <a:solidFill>
                  <a:srgbClr val="EAF2FF"/>
                </a:solidFill>
                <a:latin typeface="Arial"/>
              </a:rPr>
              <a:t>На одиночном запросе TorchScript ускоряет инференс в 1.6 раза: 46 → 28 мкс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>
                <a:solidFill>
                  <a:srgbClr val="EAF2FF"/>
                </a:solidFill>
                <a:latin typeface="Arial"/>
              </a:rPr>
              <a:t>int8 быстрее на батче (0.91 млн запросов/с), но на batch=1 медленнее из-за деквантования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3DDCFF"/>
                </a:solidFill>
                <a:latin typeface="Arial"/>
              </a:rPr>
              <a:t>—  </a:t>
            </a:r>
            <a:r>
              <a:rPr sz="960">
                <a:solidFill>
                  <a:srgbClr val="EAF2FF"/>
                </a:solidFill>
                <a:latin typeface="Arial"/>
              </a:rPr>
              <a:t>Цена квантования: p99 отклонения выхода 0.034 в нормированных единицах</a:t>
            </a:r>
          </a:p>
        </p:txBody>
      </p:sp>
      <p:pic>
        <p:nvPicPr>
          <p:cNvPr id="14" name="Picture 13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062" y="1737360"/>
            <a:ext cx="3850258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71231" y="50749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1">
                <a:solidFill>
                  <a:srgbClr val="5E7493"/>
                </a:solidFill>
                <a:latin typeface="Arial"/>
              </a:rPr>
              <a:t>Память и латентность: где нейросеть выигрывает у таблицы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7175" y="384048"/>
            <a:ext cx="960120" cy="18288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89364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20">
                <a:solidFill>
                  <a:srgbClr val="3DDCFF"/>
                </a:solidFill>
                <a:latin typeface="Arial"/>
              </a:rP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65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700" b="1" i="0">
                <a:solidFill>
                  <a:srgbClr val="EAF2FF"/>
                </a:solidFill>
                <a:latin typeface="Arial"/>
              </a:rPr>
              <a:t>Что сделано, где предел и что дальше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1234440" cy="4114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335024"/>
            <a:ext cx="10399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93A8C6"/>
                </a:solidFill>
                <a:latin typeface="Arial"/>
              </a:rPr>
              <a:t>Решение закрывает все пункты чек-листа; ниже — честные ограничения и план развития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382512"/>
            <a:ext cx="10765231" cy="10972"/>
          </a:xfrm>
          <a:prstGeom prst="rect">
            <a:avLst/>
          </a:prstGeom>
          <a:solidFill>
            <a:srgbClr val="243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4739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EOS алюминия · PINN · Кейс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73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5E7493"/>
                </a:solidFill>
                <a:latin typeface="Arial"/>
              </a:rPr>
              <a:t>20 /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83080"/>
            <a:ext cx="3454298" cy="36576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1783080"/>
            <a:ext cx="45720" cy="3657600"/>
          </a:xfrm>
          <a:prstGeom prst="rect">
            <a:avLst/>
          </a:prstGeom>
          <a:solidFill>
            <a:srgbClr val="5CE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1832" y="190195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CE1B9"/>
                </a:solidFill>
                <a:latin typeface="Arial"/>
              </a:rPr>
              <a:t>Сделано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286000"/>
            <a:ext cx="304281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5CE1B9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Пайплайн на 1 130 053 точках, EDA и baseline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5CE1B9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Vanilla MLP: R²(P) = 0.9991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5CE1B9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PINN: 0.43 % нарушений вместо 32 %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5CE1B9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EOSSurrogate + TorchScript/int8, 0.10 МБ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5CE1B9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Карты ошибок и нарушений, README и docstrings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1783080"/>
            <a:ext cx="3454298" cy="36576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68698" y="1783080"/>
            <a:ext cx="45720" cy="365760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97298" y="190195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B84D"/>
                </a:solidFill>
                <a:latin typeface="Arial"/>
              </a:rPr>
              <a:t>Ограничения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298" y="2286000"/>
            <a:ext cx="304281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FFB84D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Точность упирается в разрывы исходной таблицы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FFB84D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На стыках регионов ошибка выше средней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FFB84D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Физика проверяется по точечным производным, не по интегралам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FFB84D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Обучение на CPU: 4 минуты, но и качество соответствующее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4164" y="1783080"/>
            <a:ext cx="3454298" cy="3657600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24164" y="1783080"/>
            <a:ext cx="45720" cy="3657600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52764" y="190195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3DDCFF"/>
                </a:solidFill>
                <a:latin typeface="Arial"/>
              </a:rPr>
              <a:t>Дальше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2764" y="2286000"/>
            <a:ext cx="304281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Фурье-признаки и кусочно-гладкие активации для скачков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Обучение на сглаженной версии таблицы (сглаживание по регионам)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Суррогат для нескольких веществ одним ансамблем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3DDCFF"/>
                </a:solidFill>
                <a:latin typeface="Arial"/>
              </a:rPr>
              <a:t>—  </a:t>
            </a:r>
            <a:r>
              <a:rPr sz="980">
                <a:solidFill>
                  <a:srgbClr val="EAF2FF"/>
                </a:solidFill>
                <a:latin typeface="Arial"/>
              </a:rPr>
              <a:t>Экспорт в ONNX и замер в реальном гидрокоде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65231" cy="566928"/>
          </a:xfrm>
          <a:prstGeom prst="rect">
            <a:avLst/>
          </a:prstGeom>
          <a:solidFill>
            <a:srgbClr val="111C30"/>
          </a:solidFill>
          <a:ln w="9525">
            <a:solidFill>
              <a:srgbClr val="243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45720" cy="566928"/>
          </a:xfrm>
          <a:prstGeom prst="rect">
            <a:avLst/>
          </a:prstGeom>
          <a:solidFill>
            <a:srgbClr val="3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0976" y="5760720"/>
            <a:ext cx="10308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93A8C6"/>
                </a:solidFill>
                <a:latin typeface="Arial"/>
              </a:rPr>
              <a:t>Артефакты:  </a:t>
            </a:r>
            <a:r>
              <a:rPr sz="980" b="0" i="0">
                <a:solidFill>
                  <a:srgbClr val="EAF2FF"/>
                </a:solidFill>
                <a:latin typeface="Arial"/>
              </a:rPr>
              <a:t>Case_one.ipynb · eos_surrogate.py · normalization.json · pinn_best_physics.pt · comparison_table.csv · error_heatmap_scientific.png ·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