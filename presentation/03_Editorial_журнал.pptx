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Задача — заменить табличное уравнение состояния алюминия быстрым и физически корректным суррогатом. Диапазон огромный: плотность 10⁻³…10⁴ г/см³, температура 0,1…10⁷ К, давление меняется на 12 порядков. Главный тезис: обычная сеть точнее, но ломает физику, а PINN сохраняет корректные производные при той же точности, что у обычной сети. Вес модели — 0,1 МБ при лимите 10 МБ.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Кейс требует не регрессию, а термодинамически согласованный суррогат: нужны производные и скорость звука. Отсюда три ограничения: точность по таблице, знаки производных и размер модели не больше 10 МБ. Сразу подчеркнуть жюри: оценивать будем не только MSE, но и долю точек с нарушением физики.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Показываем, что закрыт каждый пункт. Самый дорогой критерий — PINN и физика, 25 баллов. Все артефакты лежат в репозитории, каждый шаг воспроизводим.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Данные пришли как 20 региональных сеток. Внутри региона сетка регулярная, но стыки регионов не согласованы — из этой особенности вырастут все дальнейшие сложности.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Давление и энергия покрывают 12 порядков, энергия меняет знак. Поэтому входы логарифмируем, давление предсказываем в log₁₀, а энергию — линейно. Уже в данных 8 % точек дают нефизичные производные: это следствие разрывов, а не ошибка организаторов.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normalization.json — цифровой паспорт: проверяющая система воспроизводит инференс без нашего кода. Это и требование кейса, и страховка от расхождений.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Baseline — билинейная интерполяция по 20 регионам. В узлах сетки она точна, поэтому по MSE победить её нельзя. Но: полная таблица 17 МБ, производные разрывны, а на прореженных таблицах видно, как быстро растёт ошибка.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Ключевой аргумент в пользу нейросети: на стыках регионов и фазовых переходов конечные разности таблицы дают нефизичные значения. Пример: ρ = 2,7, T ≈ 140 К, где энергия скачет с 0,128 до 0,093 кДж/г. Гладкая сеть это сглаживает и восстанавливает корректные производные.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Vanilla MLP: 25 282 параметра, обучение за пару минут на CPU, R² = 0,999. Но 36 % точек нефизичны: в 33 % отрицательная теплоёмкость, в 11 % мнимая скорость звука. Это и есть шум градиентов, о котором предупреждали организаторы.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PINN — та же архитектура, но в лосс добавлены производные. Данные дают точность, физика — корректность, вес γ управляет балансом.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Три ограничения из постановки. Проверяем и знак, и причинность (c_s &lt; c), и делаем это в СГС, чтобы единицы совпадали с гидрокодом.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Показываем код: autograd по входам, цепное правило до физических единиц, безразмерные ReLU-штрафы. Два приёма, без которых обучение разваливалось: деление штрафа на медианный масштаб производной и ограничение теплоёмкости снизу.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Двухэтапная схема — главный инженерный приём. Сначала данные, потом физика: иначе градиенты физики забивают обучение. Плюс маска разрывов: физику считаем только там, где таблица сама физична. Физический лосс падает на шесть порядков.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Главная таблица. Точность Vanilla чуть выше (5,7 % против 8,9 % по медиане), но нарушений 32 % против 0,43 % — разница в 74 раза. Размер одинаковый, скорость около микросекунды.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Ошибка концентрируется узкой полосой вдоль разрывов, там она в 1,7 раза выше. В гладких зонах — единицы процентов. Холодная ветвь тяжелее всего из-за смены знака энергии. Это честная граница гладкой регрессии.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У Vanilla — целые области нарушений, у PINN — тонкая полоса на стыке регионов, где сама таблица разрывна. Ни в одной точке нет c_s ≥ 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Сверяем с табличными конечными разностями: R² = 0,90, медианное отклонение 11,7 %. Расхождения там, где табличная c_s не определена.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predict — векторный инференс, sound_speed — autograd внутри, check_physics — маски нарушений. 10⁵ запросов за 0,13 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TorchScript ускоряет одиночный запрос в 1,6 раза, int8 сжимает веса в 3,2 раза ценой p99 отклонения 0,034 в нормированных единицах.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Закрыты все пункты чек-листа. Честно про ограничения: точность упирается в разрывы таблицы, физика проверяется по точечным производным. Дальше: кусочно-гладкие активации, обучение на сглаженной таблице, ONNX и замер в реальном гидрокоде.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" name="Connector 2"/>
          <p:cNvCxnSpPr/>
          <p:nvPr/>
        </p:nvCxnSpPr>
        <p:spPr>
          <a:xfrm>
            <a:off x="914400" y="658368"/>
            <a:ext cx="10362895" cy="0"/>
          </a:xfrm>
          <a:prstGeom prst="line">
            <a:avLst/>
          </a:prstGeom>
          <a:ln w="15240">
            <a:solidFill>
              <a:srgbClr val="1D1B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14400" y="786384"/>
            <a:ext cx="6766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 spc="180">
                <a:solidFill>
                  <a:srgbClr val="7B7263"/>
                </a:solidFill>
                <a:latin typeface="Georgia"/>
              </a:rPr>
              <a:t>ФИНАЛЬНОЕ ЗАДАНИЕ · РОСАТОМ · ТРЕК 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15568"/>
            <a:ext cx="7040880" cy="2331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600" b="0" i="0">
                <a:solidFill>
                  <a:srgbClr val="1D1B16"/>
                </a:solidFill>
                <a:latin typeface="Georgia"/>
              </a:rPr>
              <a:t>Физически согласованный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600" b="0" i="0">
                <a:solidFill>
                  <a:srgbClr val="1D1B16"/>
                </a:solidFill>
                <a:latin typeface="Georgia"/>
              </a:rPr>
              <a:t>суррогат уравнения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600" b="0" i="0">
                <a:solidFill>
                  <a:srgbClr val="1D1B16"/>
                </a:solidFill>
                <a:latin typeface="Georgia"/>
              </a:rPr>
              <a:t>состояния алюминия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29000"/>
            <a:ext cx="6583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300" b="0" i="1">
                <a:solidFill>
                  <a:srgbClr val="7B7263"/>
                </a:solidFill>
                <a:latin typeface="Georgia"/>
              </a:rPr>
              <a:t>PINN для P(ρ,T), e(ρ,T) и скорости звука: 12 порядков давления, 226 011 точек теста, 0,10 МБ весов.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4480560"/>
            <a:ext cx="3657600" cy="0"/>
          </a:xfrm>
          <a:prstGeom prst="line">
            <a:avLst/>
          </a:prstGeom>
          <a:ln w="12700">
            <a:solidFill>
              <a:srgbClr val="8A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14400" y="4617720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 spc="180">
                <a:solidFill>
                  <a:srgbClr val="8A5A2B"/>
                </a:solidFill>
                <a:latin typeface="Georgia"/>
              </a:rPr>
              <a:t>КЛЮЧЕВЫЕ ВЕЛИЧИНЫ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8920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1D1B16"/>
                </a:solidFill>
                <a:latin typeface="Georgia"/>
              </a:rPr>
              <a:t>0,43 %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4946903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7B7263"/>
                </a:solidFill>
                <a:latin typeface="Georgia"/>
              </a:rPr>
              <a:t>точек с нарушением физики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367527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1D1B16"/>
                </a:solidFill>
                <a:latin typeface="Georgia"/>
              </a:rPr>
              <a:t>×84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5422391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7B7263"/>
                </a:solidFill>
                <a:latin typeface="Georgia"/>
              </a:rPr>
              <a:t>реже, чем без физики в лоссе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843016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1D1B16"/>
                </a:solidFill>
                <a:latin typeface="Georgia"/>
              </a:rPr>
              <a:t>0,95 мкс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5897879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7B7263"/>
                </a:solidFill>
                <a:latin typeface="Georgia"/>
              </a:rPr>
              <a:t>на запрос, batch 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78240" y="1234440"/>
            <a:ext cx="3429000" cy="3794760"/>
          </a:xfrm>
          <a:prstGeom prst="rect">
            <a:avLst/>
          </a:prstGeom>
          <a:solidFill>
            <a:srgbClr val="FFFCF5"/>
          </a:solidFill>
          <a:ln w="9525">
            <a:solidFill>
              <a:srgbClr val="D6CC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photo_micro.jpg"/>
          <p:cNvPicPr>
            <a:picLocks noChangeAspect="1"/>
          </p:cNvPicPr>
          <p:nvPr/>
        </p:nvPicPr>
        <p:blipFill>
          <a:blip r:embed="rId2"/>
          <a:srcRect l="21425" r="21425"/>
          <a:stretch>
            <a:fillRect/>
          </a:stretch>
        </p:blipFill>
        <p:spPr>
          <a:xfrm>
            <a:off x="8887968" y="1344168"/>
            <a:ext cx="3209544" cy="30632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887968" y="448056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00" b="0" i="1">
                <a:solidFill>
                  <a:srgbClr val="7B7263"/>
                </a:solidFill>
                <a:latin typeface="Georgia"/>
              </a:rPr>
              <a:t>Микроструктура алюминиевого сплава — иллюстрация, не данные.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14400" y="6382512"/>
            <a:ext cx="10362895" cy="0"/>
          </a:xfrm>
          <a:prstGeom prst="line">
            <a:avLst/>
          </a:prstGeom>
          <a:ln w="6350">
            <a:solidFill>
              <a:srgbClr val="D6CC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14400" y="6455664"/>
            <a:ext cx="6400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 spc="140">
                <a:solidFill>
                  <a:srgbClr val="7B7263"/>
                </a:solidFill>
                <a:latin typeface="Georgia"/>
              </a:rPr>
              <a:t>АВТОР: &lt;ИМЯ&gt; · КОМАНДА: &lt;СОСТАВ&gt;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42062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 spc="160">
                <a:solidFill>
                  <a:srgbClr val="7B7263"/>
                </a:solidFill>
                <a:latin typeface="Georgia"/>
              </a:rPr>
              <a:t>ИТ КОР · ТРЕК ML · КЕЙС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695" y="420624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 spc="160">
                <a:solidFill>
                  <a:srgbClr val="8A5A2B"/>
                </a:solidFill>
                <a:latin typeface="Georgia"/>
              </a:rPr>
              <a:t>ПОСТАНОВКА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658368"/>
            <a:ext cx="10362895" cy="0"/>
          </a:xfrm>
          <a:prstGeom prst="line">
            <a:avLst/>
          </a:prstGeom>
          <a:ln w="12700">
            <a:solidFill>
              <a:srgbClr val="1D1B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14400" y="713232"/>
            <a:ext cx="10362895" cy="0"/>
          </a:xfrm>
          <a:prstGeom prst="line">
            <a:avLst/>
          </a:prstGeom>
          <a:ln w="6350">
            <a:solidFill>
              <a:srgbClr val="D6CC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14400" y="868680"/>
            <a:ext cx="98142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800" b="0" i="0">
                <a:solidFill>
                  <a:srgbClr val="1D1B16"/>
                </a:solidFill>
                <a:latin typeface="Georgia"/>
              </a:rPr>
              <a:t>Что требовалось в кейсе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572768"/>
            <a:ext cx="908273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 i="1">
                <a:solidFill>
                  <a:srgbClr val="7B7263"/>
                </a:solidFill>
                <a:latin typeface="Georgia"/>
              </a:rPr>
              <a:t>Организатор — Росатом, трек ML; кейс «нейросетевая аппроксимация широкодиапазонного УРС»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4600" b="0" i="0">
                <a:solidFill>
                  <a:srgbClr val="8A5A2B"/>
                </a:solidFill>
                <a:latin typeface="Georgia"/>
              </a:rPr>
              <a:t>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2194560"/>
            <a:ext cx="49377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150" b="0" i="0">
                <a:solidFill>
                  <a:srgbClr val="1D1B16"/>
                </a:solidFill>
                <a:latin typeface="Georgia"/>
              </a:rPr>
              <a:t>идрокоду нужен не «чёрный ящик», а согласованный с термодинамикой суррогат: запрашиваются не только P и e, но и производные — от них зависит устойчивость схемы.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53949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150" b="0" i="0">
                <a:solidFill>
                  <a:srgbClr val="1D1B16"/>
                </a:solidFill>
                <a:latin typeface="Georgia"/>
              </a:rPr>
              <a:t>Кейс требует воспроизвести таблицу на всей фазовой диаграмме, сохранить три инварианта и уложиться в 10 МБ. Поэтому оцениваем не только MSE, но и долю точек, где физика нарушена.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720840" y="2148840"/>
            <a:ext cx="0" cy="3931920"/>
          </a:xfrm>
          <a:prstGeom prst="line">
            <a:avLst/>
          </a:prstGeom>
          <a:ln w="9525">
            <a:solidFill>
              <a:srgbClr val="D6CC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223760" y="219456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8A5A2B"/>
                </a:solidFill>
                <a:latin typeface="Consolas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2139696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1D1B16"/>
                </a:solidFill>
                <a:latin typeface="Georgia"/>
              </a:rPr>
              <a:t>Точность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2542032"/>
            <a:ext cx="3566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 i="0">
                <a:solidFill>
                  <a:srgbClr val="7B7263"/>
                </a:solidFill>
                <a:latin typeface="Georgia"/>
              </a:rPr>
              <a:t>P и e по всей диаграмме, а не только в узлах сетки.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223760" y="3273552"/>
            <a:ext cx="4023360" cy="0"/>
          </a:xfrm>
          <a:prstGeom prst="line">
            <a:avLst/>
          </a:prstGeom>
          <a:ln w="6350">
            <a:solidFill>
              <a:srgbClr val="D6CC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223760" y="3520439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8A5A2B"/>
                </a:solidFill>
                <a:latin typeface="Consola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3465575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1D1B16"/>
                </a:solidFill>
                <a:latin typeface="Georgia"/>
              </a:rPr>
              <a:t>Физика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3867911"/>
            <a:ext cx="3566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 i="0">
                <a:solidFill>
                  <a:srgbClr val="7B7263"/>
                </a:solidFill>
                <a:latin typeface="Georgia"/>
              </a:rPr>
              <a:t>∂P/∂ρ &gt; 0, ∂e/∂T &gt; 0, 0 &lt; c_s &lt; c.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223760" y="4599431"/>
            <a:ext cx="4023360" cy="0"/>
          </a:xfrm>
          <a:prstGeom prst="line">
            <a:avLst/>
          </a:prstGeom>
          <a:ln w="6350">
            <a:solidFill>
              <a:srgbClr val="D6CC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223760" y="48463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8A5A2B"/>
                </a:solidFill>
                <a:latin typeface="Consola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4791456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1D1B16"/>
                </a:solidFill>
                <a:latin typeface="Georgia"/>
              </a:rPr>
              <a:t>Габарит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5193792"/>
            <a:ext cx="3566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 i="0">
                <a:solidFill>
                  <a:srgbClr val="7B7263"/>
                </a:solidFill>
                <a:latin typeface="Georgia"/>
              </a:rPr>
              <a:t>до 10 МБ, микросекунды на запрос, без GPU.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223760" y="5925312"/>
            <a:ext cx="4023360" cy="0"/>
          </a:xfrm>
          <a:prstGeom prst="line">
            <a:avLst/>
          </a:prstGeom>
          <a:ln w="6350">
            <a:solidFill>
              <a:srgbClr val="D6CC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14400" y="6382512"/>
            <a:ext cx="10362895" cy="0"/>
          </a:xfrm>
          <a:prstGeom prst="line">
            <a:avLst/>
          </a:prstGeom>
          <a:ln w="6350">
            <a:solidFill>
              <a:srgbClr val="D6CC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14400" y="6455664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i="0" spc="120">
                <a:solidFill>
                  <a:srgbClr val="7B7263"/>
                </a:solidFill>
                <a:latin typeface="Georgia"/>
              </a:rPr>
              <a:t>ФИЗИЧЕСКИ СОГЛАСОВАННЫЙ СУРРОГАТ УРС АЛЮМИНИЯ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80015" y="6419088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1D1B16"/>
                </a:solidFill>
                <a:latin typeface="Georgia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42062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 spc="160">
                <a:solidFill>
                  <a:srgbClr val="7B7263"/>
                </a:solidFill>
                <a:latin typeface="Georgia"/>
              </a:rPr>
              <a:t>ИТ КОР · ТРЕК ML · КЕЙС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695" y="420624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 spc="160">
                <a:solidFill>
                  <a:srgbClr val="8A5A2B"/>
                </a:solidFill>
                <a:latin typeface="Georgia"/>
              </a:rPr>
              <a:t>КРИТЕРИИ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658368"/>
            <a:ext cx="10362895" cy="0"/>
          </a:xfrm>
          <a:prstGeom prst="line">
            <a:avLst/>
          </a:prstGeom>
          <a:ln w="12700">
            <a:solidFill>
              <a:srgbClr val="1D1B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14400" y="713232"/>
            <a:ext cx="10362895" cy="0"/>
          </a:xfrm>
          <a:prstGeom prst="line">
            <a:avLst/>
          </a:prstGeom>
          <a:ln w="6350">
            <a:solidFill>
              <a:srgbClr val="D6CC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14400" y="868680"/>
            <a:ext cx="98142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800" b="0" i="0">
                <a:solidFill>
                  <a:srgbClr val="1D1B16"/>
                </a:solidFill>
                <a:latin typeface="Georgia"/>
              </a:rPr>
              <a:t>Как закрыт чек-лист на 100 баллов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572768"/>
            <a:ext cx="908273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 i="1">
                <a:solidFill>
                  <a:srgbClr val="7B7263"/>
                </a:solidFill>
                <a:latin typeface="Georgia"/>
              </a:rPr>
              <a:t>Девять критериев финального задания — и чем закрыт каждый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4754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i="0" spc="160">
                <a:solidFill>
                  <a:srgbClr val="7B7263"/>
                </a:solidFill>
                <a:latin typeface="Georgia"/>
              </a:rPr>
              <a:t>КРИТЕРИЙ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2103120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00" b="0" i="0" spc="160">
                <a:solidFill>
                  <a:srgbClr val="7B7263"/>
                </a:solidFill>
                <a:latin typeface="Georgia"/>
              </a:rPr>
              <a:t>БАЛЛ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03120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i="0" spc="160">
                <a:solidFill>
                  <a:srgbClr val="7B7263"/>
                </a:solidFill>
                <a:latin typeface="Georgia"/>
              </a:rPr>
              <a:t>ЧЕМ ЗАКРЫТ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14400" y="2340864"/>
            <a:ext cx="10362895" cy="0"/>
          </a:xfrm>
          <a:prstGeom prst="line">
            <a:avLst/>
          </a:prstGeom>
          <a:ln w="9525">
            <a:solidFill>
              <a:srgbClr val="1D1B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14400" y="2432304"/>
            <a:ext cx="4663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1D1B16"/>
                </a:solidFill>
                <a:latin typeface="Georgia"/>
              </a:rPr>
              <a:t>Погружение в предметную область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2432304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8A5A2B"/>
                </a:solidFill>
                <a:latin typeface="Georgia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432304"/>
            <a:ext cx="4846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7B7263"/>
                </a:solidFill>
                <a:latin typeface="Georgia"/>
              </a:rPr>
              <a:t>разбор УРС, фазовой диаграммы и роли c_s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14400" y="2779776"/>
            <a:ext cx="10362895" cy="0"/>
          </a:xfrm>
          <a:prstGeom prst="line">
            <a:avLst/>
          </a:prstGeom>
          <a:ln w="6350">
            <a:solidFill>
              <a:srgbClr val="D6CC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14400" y="2862072"/>
            <a:ext cx="4663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1D1B16"/>
                </a:solidFill>
                <a:latin typeface="Georgia"/>
              </a:rPr>
              <a:t>Обработка данных и EDA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2862072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8A5A2B"/>
                </a:solidFill>
                <a:latin typeface="Georgia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862072"/>
            <a:ext cx="4846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7B7263"/>
                </a:solidFill>
                <a:latin typeface="Georgia"/>
              </a:rPr>
              <a:t>1,13 млн точек, карты P и e, 20 регионов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14400" y="3209544"/>
            <a:ext cx="10362895" cy="0"/>
          </a:xfrm>
          <a:prstGeom prst="line">
            <a:avLst/>
          </a:prstGeom>
          <a:ln w="6350">
            <a:solidFill>
              <a:srgbClr val="D6CC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914400" y="3291840"/>
            <a:ext cx="4663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1D1B16"/>
                </a:solidFill>
                <a:latin typeface="Georgia"/>
              </a:rPr>
              <a:t>Baseline: билинейная интерполяция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3291840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8A5A2B"/>
                </a:solidFill>
                <a:latin typeface="Georgia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291840"/>
            <a:ext cx="4846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7B7263"/>
                </a:solidFill>
                <a:latin typeface="Georgia"/>
              </a:rPr>
              <a:t>20 RegularGridInterpolator + метрики и скорость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14400" y="3639312"/>
            <a:ext cx="10362895" cy="0"/>
          </a:xfrm>
          <a:prstGeom prst="line">
            <a:avLst/>
          </a:prstGeom>
          <a:ln w="6350">
            <a:solidFill>
              <a:srgbClr val="D6CC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14400" y="3721608"/>
            <a:ext cx="4663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1D1B16"/>
                </a:solidFill>
                <a:latin typeface="Georgia"/>
              </a:rPr>
              <a:t>Обучение моделей и оценка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0" y="3721608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8A5A2B"/>
                </a:solidFill>
                <a:latin typeface="Georgia"/>
              </a:rPr>
              <a:t>15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721608"/>
            <a:ext cx="4846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7B7263"/>
                </a:solidFill>
                <a:latin typeface="Georgia"/>
              </a:rPr>
              <a:t>Vanilla MLP: R² = 0,999, кривые обучения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14400" y="4069080"/>
            <a:ext cx="10362895" cy="0"/>
          </a:xfrm>
          <a:prstGeom prst="line">
            <a:avLst/>
          </a:prstGeom>
          <a:ln w="6350">
            <a:solidFill>
              <a:srgbClr val="D6CC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14400" y="4151376"/>
            <a:ext cx="4663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1D1B16"/>
                </a:solidFill>
                <a:latin typeface="Georgia"/>
              </a:rPr>
              <a:t>PINN и физические ограничения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60720" y="4151376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8A5A2B"/>
                </a:solidFill>
                <a:latin typeface="Georgia"/>
              </a:rPr>
              <a:t>25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4151376"/>
            <a:ext cx="4846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7B7263"/>
                </a:solidFill>
                <a:latin typeface="Georgia"/>
              </a:rPr>
              <a:t>physics-лосс на autograd, нарушений 0,43 %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14400" y="4498848"/>
            <a:ext cx="10362895" cy="0"/>
          </a:xfrm>
          <a:prstGeom prst="line">
            <a:avLst/>
          </a:prstGeom>
          <a:ln w="6350">
            <a:solidFill>
              <a:srgbClr val="D6CC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914400" y="4581144"/>
            <a:ext cx="4663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1D1B16"/>
                </a:solidFill>
                <a:latin typeface="Georgia"/>
              </a:rPr>
              <a:t>Инференс и упаковка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60720" y="4581144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8A5A2B"/>
                </a:solidFill>
                <a:latin typeface="Georgia"/>
              </a:rP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4581144"/>
            <a:ext cx="4846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7B7263"/>
                </a:solidFill>
                <a:latin typeface="Georgia"/>
              </a:rPr>
              <a:t>EOSSurrogate: predict / sound_speed / check_physics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14400" y="4928616"/>
            <a:ext cx="10362895" cy="0"/>
          </a:xfrm>
          <a:prstGeom prst="line">
            <a:avLst/>
          </a:prstGeom>
          <a:ln w="6350">
            <a:solidFill>
              <a:srgbClr val="D6CC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914400" y="5010912"/>
            <a:ext cx="4663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1D1B16"/>
                </a:solidFill>
                <a:latin typeface="Georgia"/>
              </a:rPr>
              <a:t>Сжатие и скорость работы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60720" y="5010912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8A5A2B"/>
                </a:solidFill>
                <a:latin typeface="Georgia"/>
              </a:rPr>
              <a:t>10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5010912"/>
            <a:ext cx="4846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7B7263"/>
                </a:solidFill>
                <a:latin typeface="Georgia"/>
              </a:rPr>
              <a:t>TorchScript и int8: −69 % размера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914400" y="5358384"/>
            <a:ext cx="10362895" cy="0"/>
          </a:xfrm>
          <a:prstGeom prst="line">
            <a:avLst/>
          </a:prstGeom>
          <a:ln w="6350">
            <a:solidFill>
              <a:srgbClr val="D6CC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914400" y="5440680"/>
            <a:ext cx="4663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1D1B16"/>
                </a:solidFill>
                <a:latin typeface="Georgia"/>
              </a:rPr>
              <a:t>Выступление и презентация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60720" y="5440680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8A5A2B"/>
                </a:solidFill>
                <a:latin typeface="Georgia"/>
              </a:rPr>
              <a:t>10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5440680"/>
            <a:ext cx="4846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7B7263"/>
                </a:solidFill>
                <a:latin typeface="Georgia"/>
              </a:rPr>
              <a:t>эта презентация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914400" y="5788152"/>
            <a:ext cx="10362895" cy="0"/>
          </a:xfrm>
          <a:prstGeom prst="line">
            <a:avLst/>
          </a:prstGeom>
          <a:ln w="6350">
            <a:solidFill>
              <a:srgbClr val="D6CC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914400" y="5870448"/>
            <a:ext cx="4663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1D1B16"/>
                </a:solidFill>
                <a:latin typeface="Georgia"/>
              </a:rPr>
              <a:t>Документация и оформление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760720" y="5870448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0" i="0">
                <a:solidFill>
                  <a:srgbClr val="8A5A2B"/>
                </a:solidFill>
                <a:latin typeface="Georgia"/>
              </a:rPr>
              <a:t>10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5870448"/>
            <a:ext cx="48463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0">
                <a:solidFill>
                  <a:srgbClr val="7B7263"/>
                </a:solidFill>
                <a:latin typeface="Georgia"/>
              </a:rPr>
              <a:t>README, docstrings Google-style, normalization.json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914400" y="6217920"/>
            <a:ext cx="10362895" cy="0"/>
          </a:xfrm>
          <a:prstGeom prst="line">
            <a:avLst/>
          </a:prstGeom>
          <a:ln w="6350">
            <a:solidFill>
              <a:srgbClr val="D6CC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914400" y="6099048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 spc="140">
                <a:solidFill>
                  <a:srgbClr val="7B7263"/>
                </a:solidFill>
                <a:latin typeface="Georgia"/>
              </a:rPr>
              <a:t>ИТОГО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760720" y="6099048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1" i="0">
                <a:solidFill>
                  <a:srgbClr val="1D1B16"/>
                </a:solidFill>
                <a:latin typeface="Georgia"/>
              </a:rPr>
              <a:t>100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914400" y="6382512"/>
            <a:ext cx="10362895" cy="0"/>
          </a:xfrm>
          <a:prstGeom prst="line">
            <a:avLst/>
          </a:prstGeom>
          <a:ln w="6350">
            <a:solidFill>
              <a:srgbClr val="D6CC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914400" y="6455664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i="0" spc="120">
                <a:solidFill>
                  <a:srgbClr val="7B7263"/>
                </a:solidFill>
                <a:latin typeface="Georgia"/>
              </a:rPr>
              <a:t>ФИЗИЧЕСКИ СОГЛАСОВАННЫЙ СУРРОГАТ УРС АЛЮМИНИЯ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180015" y="6419088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1D1B16"/>
                </a:solidFill>
                <a:latin typeface="Georgia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42062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 spc="160">
                <a:solidFill>
                  <a:srgbClr val="7B7263"/>
                </a:solidFill>
                <a:latin typeface="Georgia"/>
              </a:rPr>
              <a:t>ИТ КОР · ТРЕК ML · КЕЙС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695" y="420624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 spc="160">
                <a:solidFill>
                  <a:srgbClr val="8A5A2B"/>
                </a:solidFill>
                <a:latin typeface="Georgia"/>
              </a:rPr>
              <a:t>ДАННЫЕ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658368"/>
            <a:ext cx="10362895" cy="0"/>
          </a:xfrm>
          <a:prstGeom prst="line">
            <a:avLst/>
          </a:prstGeom>
          <a:ln w="12700">
            <a:solidFill>
              <a:srgbClr val="1D1B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14400" y="713232"/>
            <a:ext cx="10362895" cy="0"/>
          </a:xfrm>
          <a:prstGeom prst="line">
            <a:avLst/>
          </a:prstGeom>
          <a:ln w="6350">
            <a:solidFill>
              <a:srgbClr val="D6CC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14400" y="868680"/>
            <a:ext cx="98142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800" b="0" i="0">
                <a:solidFill>
                  <a:srgbClr val="1D1B16"/>
                </a:solidFill>
                <a:latin typeface="Georgia"/>
              </a:rPr>
              <a:t>Датасет: 20 региональных сеток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572768"/>
            <a:ext cx="908273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 i="1">
                <a:solidFill>
                  <a:srgbClr val="7B7263"/>
                </a:solidFill>
                <a:latin typeface="Georgia"/>
              </a:rPr>
              <a:t>1 130 053 строки, четыре диапазона плотности × пять диапазонов температуры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51206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150" b="0" i="0">
                <a:solidFill>
                  <a:srgbClr val="1D1B16"/>
                </a:solidFill>
                <a:latin typeface="Georgia"/>
              </a:rPr>
              <a:t>Регионы независимы: внутри каждого сетка регулярная 300 × 300, но на стыках значения P и e не согласованы. Именно эта особенность определяет сложность задачи.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03320"/>
            <a:ext cx="51206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150" b="0" i="0">
                <a:solidFill>
                  <a:srgbClr val="1D1B16"/>
                </a:solidFill>
                <a:latin typeface="Georgia"/>
              </a:rPr>
              <a:t>9,5 % узлов полной сетки формально нефизичны ещё до появления модели — следствие разрывов, а не ошибки организаторов.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492240" y="2148840"/>
            <a:ext cx="0" cy="3749039"/>
          </a:xfrm>
          <a:prstGeom prst="line">
            <a:avLst/>
          </a:prstGeom>
          <a:ln w="9525">
            <a:solidFill>
              <a:srgbClr val="D6CC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949440" y="2194560"/>
            <a:ext cx="3566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7B7263"/>
                </a:solidFill>
                <a:latin typeface="Georgia"/>
              </a:rPr>
              <a:t>Точек в датасете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2432304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 i="0">
                <a:solidFill>
                  <a:srgbClr val="1D1B16"/>
                </a:solidFill>
                <a:latin typeface="Georgia"/>
              </a:rPr>
              <a:t>1 130 053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949440" y="2798064"/>
            <a:ext cx="4206240" cy="0"/>
          </a:xfrm>
          <a:prstGeom prst="line">
            <a:avLst/>
          </a:prstGeom>
          <a:ln w="6350">
            <a:solidFill>
              <a:srgbClr val="D6CC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949440" y="2907791"/>
            <a:ext cx="3566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7B7263"/>
                </a:solidFill>
                <a:latin typeface="Georgia"/>
              </a:rPr>
              <a:t>Региональных сеток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3145535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 i="0">
                <a:solidFill>
                  <a:srgbClr val="1D1B16"/>
                </a:solidFill>
                <a:latin typeface="Georgia"/>
              </a:rPr>
              <a:t>20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949440" y="3511296"/>
            <a:ext cx="4206240" cy="0"/>
          </a:xfrm>
          <a:prstGeom prst="line">
            <a:avLst/>
          </a:prstGeom>
          <a:ln w="6350">
            <a:solidFill>
              <a:srgbClr val="D6CC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949440" y="3621024"/>
            <a:ext cx="3566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7B7263"/>
                </a:solidFill>
                <a:latin typeface="Georgia"/>
              </a:rPr>
              <a:t>Узлов в сетке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3858768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 i="0">
                <a:solidFill>
                  <a:srgbClr val="1D1B16"/>
                </a:solidFill>
                <a:latin typeface="Georgia"/>
              </a:rPr>
              <a:t>300 × 300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949440" y="4224528"/>
            <a:ext cx="4206240" cy="0"/>
          </a:xfrm>
          <a:prstGeom prst="line">
            <a:avLst/>
          </a:prstGeom>
          <a:ln w="6350">
            <a:solidFill>
              <a:srgbClr val="D6CC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949440" y="4334256"/>
            <a:ext cx="3566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7B7263"/>
                </a:solidFill>
                <a:latin typeface="Georgia"/>
              </a:rPr>
              <a:t>Тестовая выборка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457200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 i="0">
                <a:solidFill>
                  <a:srgbClr val="1D1B16"/>
                </a:solidFill>
                <a:latin typeface="Georgia"/>
              </a:rPr>
              <a:t>226 011 точек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949440" y="4937760"/>
            <a:ext cx="4206240" cy="0"/>
          </a:xfrm>
          <a:prstGeom prst="line">
            <a:avLst/>
          </a:prstGeom>
          <a:ln w="6350">
            <a:solidFill>
              <a:srgbClr val="D6CC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949440" y="5047488"/>
            <a:ext cx="3566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7B7263"/>
                </a:solidFill>
                <a:latin typeface="Georgia"/>
              </a:rPr>
              <a:t>Выхода модели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5285231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0" i="0">
                <a:solidFill>
                  <a:srgbClr val="1D1B16"/>
                </a:solidFill>
                <a:latin typeface="Georgia"/>
              </a:rPr>
              <a:t>P, e и производные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949440" y="5650992"/>
            <a:ext cx="4206240" cy="0"/>
          </a:xfrm>
          <a:prstGeom prst="line">
            <a:avLst/>
          </a:prstGeom>
          <a:ln w="6350">
            <a:solidFill>
              <a:srgbClr val="D6CC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14400" y="6382512"/>
            <a:ext cx="10362895" cy="0"/>
          </a:xfrm>
          <a:prstGeom prst="line">
            <a:avLst/>
          </a:prstGeom>
          <a:ln w="6350">
            <a:solidFill>
              <a:srgbClr val="D6CC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914400" y="6455664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i="0" spc="120">
                <a:solidFill>
                  <a:srgbClr val="7B7263"/>
                </a:solidFill>
                <a:latin typeface="Georgia"/>
              </a:rPr>
              <a:t>ФИЗИЧЕСКИ СОГЛАСОВАННЫЙ СУРРОГАТ УРС АЛЮМИНИЯ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80015" y="6419088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1D1B16"/>
                </a:solidFill>
                <a:latin typeface="Georgia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42062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 spc="160">
                <a:solidFill>
                  <a:srgbClr val="7B7263"/>
                </a:solidFill>
                <a:latin typeface="Georgia"/>
              </a:rPr>
              <a:t>ИТ КОР · ТРЕК ML · КЕЙС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695" y="420624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 spc="160">
                <a:solidFill>
                  <a:srgbClr val="8A5A2B"/>
                </a:solidFill>
                <a:latin typeface="Georgia"/>
              </a:rPr>
              <a:t>EDA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658368"/>
            <a:ext cx="10362895" cy="0"/>
          </a:xfrm>
          <a:prstGeom prst="line">
            <a:avLst/>
          </a:prstGeom>
          <a:ln w="12700">
            <a:solidFill>
              <a:srgbClr val="1D1B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14400" y="713232"/>
            <a:ext cx="10362895" cy="0"/>
          </a:xfrm>
          <a:prstGeom prst="line">
            <a:avLst/>
          </a:prstGeom>
          <a:ln w="6350">
            <a:solidFill>
              <a:srgbClr val="D6CC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14400" y="868680"/>
            <a:ext cx="98142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800" b="0" i="0">
                <a:solidFill>
                  <a:srgbClr val="1D1B16"/>
                </a:solidFill>
                <a:latin typeface="Georgia"/>
              </a:rPr>
              <a:t>Поля давления и энергии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3120"/>
            <a:ext cx="7680960" cy="3520440"/>
          </a:xfrm>
          <a:prstGeom prst="rect">
            <a:avLst/>
          </a:prstGeom>
          <a:solidFill>
            <a:srgbClr val="FFFCF5"/>
          </a:solidFill>
          <a:ln w="9525">
            <a:solidFill>
              <a:srgbClr val="D6CC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eda_ma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7014" y="2194560"/>
            <a:ext cx="7195730" cy="33375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4400" y="5696712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7B7263"/>
                </a:solidFill>
                <a:latin typeface="Georgia"/>
              </a:rPr>
              <a:t>Рис. 1. log₁₀ P и e на полной сетке. Давление охватывает 12 порядков, энергия меняет знак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15400" y="2148840"/>
            <a:ext cx="2286000" cy="356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000" b="0" i="0">
                <a:solidFill>
                  <a:srgbClr val="1D1B16"/>
                </a:solidFill>
                <a:latin typeface="Georgia"/>
              </a:rPr>
              <a:t>Давление логарифмируем и на входе, и на выходе.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000" b="0" i="0">
                <a:solidFill>
                  <a:srgbClr val="1D1B16"/>
                </a:solidFill>
                <a:latin typeface="Georgia"/>
              </a:rPr>
              <a:t>Энергию предсказываем линейно: она проходит через ноль.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000" b="0" i="0">
                <a:solidFill>
                  <a:srgbClr val="1D1B16"/>
                </a:solidFill>
                <a:latin typeface="Georgia"/>
              </a:rPr>
              <a:t>Скачки на картах — стыки регионов.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14400" y="6382512"/>
            <a:ext cx="10362895" cy="0"/>
          </a:xfrm>
          <a:prstGeom prst="line">
            <a:avLst/>
          </a:prstGeom>
          <a:ln w="6350">
            <a:solidFill>
              <a:srgbClr val="D6CC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14400" y="6455664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i="0" spc="120">
                <a:solidFill>
                  <a:srgbClr val="7B7263"/>
                </a:solidFill>
                <a:latin typeface="Georgia"/>
              </a:rPr>
              <a:t>ФИЗИЧЕСКИ СОГЛАСОВАННЫЙ СУРРОГАТ УРС АЛЮМИНИЯ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80015" y="6419088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1D1B16"/>
                </a:solidFill>
                <a:latin typeface="Georgia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42062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 spc="160">
                <a:solidFill>
                  <a:srgbClr val="7B7263"/>
                </a:solidFill>
                <a:latin typeface="Georgia"/>
              </a:rPr>
              <a:t>ИТ КОР · ТРЕК ML · КЕЙС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695" y="420624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 spc="160">
                <a:solidFill>
                  <a:srgbClr val="8A5A2B"/>
                </a:solidFill>
                <a:latin typeface="Georgia"/>
              </a:rPr>
              <a:t>ПОДГОТОВКА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658368"/>
            <a:ext cx="10362895" cy="0"/>
          </a:xfrm>
          <a:prstGeom prst="line">
            <a:avLst/>
          </a:prstGeom>
          <a:ln w="12700">
            <a:solidFill>
              <a:srgbClr val="1D1B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14400" y="713232"/>
            <a:ext cx="10362895" cy="0"/>
          </a:xfrm>
          <a:prstGeom prst="line">
            <a:avLst/>
          </a:prstGeom>
          <a:ln w="6350">
            <a:solidFill>
              <a:srgbClr val="D6CC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14400" y="868680"/>
            <a:ext cx="98142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800" b="0" i="0">
                <a:solidFill>
                  <a:srgbClr val="1D1B16"/>
                </a:solidFill>
                <a:latin typeface="Georgia"/>
              </a:rPr>
              <a:t>Нормализация и цифровой паспорт модели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572768"/>
            <a:ext cx="908273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 i="1">
                <a:solidFill>
                  <a:srgbClr val="7B7263"/>
                </a:solidFill>
                <a:latin typeface="Georgia"/>
              </a:rPr>
              <a:t>normalization.json фиксирует все преобразования: инференс воспроизводим без нашего кода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 spc="160">
                <a:solidFill>
                  <a:srgbClr val="8A5A2B"/>
                </a:solidFill>
                <a:latin typeface="Georgia"/>
              </a:rPr>
              <a:t>ВХОД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215798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D1B16"/>
                </a:solidFill>
                <a:latin typeface="Consolas"/>
              </a:rPr>
              <a:t>x = (log₁₀ρ − a) / (b − 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2523744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7B7263"/>
                </a:solidFill>
                <a:latin typeface="Georgia"/>
              </a:rPr>
              <a:t>log₁₀ρ ∈ [−3, 4]; log₁₀T ∈ [−1, 7]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14400" y="3063239"/>
            <a:ext cx="10362895" cy="0"/>
          </a:xfrm>
          <a:prstGeom prst="line">
            <a:avLst/>
          </a:prstGeom>
          <a:ln w="6350">
            <a:solidFill>
              <a:srgbClr val="D6CC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14400" y="3429000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 spc="160">
                <a:solidFill>
                  <a:srgbClr val="8A5A2B"/>
                </a:solidFill>
                <a:latin typeface="Georgia"/>
              </a:rPr>
              <a:t>ВЫХОД 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339242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D1B16"/>
                </a:solidFill>
                <a:latin typeface="Consolas"/>
              </a:rPr>
              <a:t>log₁₀P, затем 10^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3758184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7B7263"/>
                </a:solidFill>
                <a:latin typeface="Georgia"/>
              </a:rPr>
              <a:t>P ∈ [10⁻⁶, 10⁶] ГПа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14400" y="4297680"/>
            <a:ext cx="10362895" cy="0"/>
          </a:xfrm>
          <a:prstGeom prst="line">
            <a:avLst/>
          </a:prstGeom>
          <a:ln w="6350">
            <a:solidFill>
              <a:srgbClr val="D6CC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14400" y="4663440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 spc="160">
                <a:solidFill>
                  <a:srgbClr val="8A5A2B"/>
                </a:solidFill>
                <a:latin typeface="Georgia"/>
              </a:rPr>
              <a:t>ВЫХОД 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462686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D1B16"/>
                </a:solidFill>
                <a:latin typeface="Consolas"/>
              </a:rPr>
              <a:t>линейно, кДж/г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4992624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7B7263"/>
                </a:solidFill>
                <a:latin typeface="Georgia"/>
              </a:rPr>
              <a:t>e ∈ [−0,2, 10³], знак сохраняется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14400" y="5532120"/>
            <a:ext cx="10362895" cy="0"/>
          </a:xfrm>
          <a:prstGeom prst="line">
            <a:avLst/>
          </a:prstGeom>
          <a:ln w="6350">
            <a:solidFill>
              <a:srgbClr val="D6CC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914400" y="5806440"/>
            <a:ext cx="9692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50" b="0" i="0">
                <a:solidFill>
                  <a:srgbClr val="1D1B16"/>
                </a:solidFill>
                <a:latin typeface="Georgia"/>
              </a:rPr>
              <a:t>Проверяющая система читает только этот файл: константы, единицы и границы области определения описаны явно.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14400" y="6382512"/>
            <a:ext cx="10362895" cy="0"/>
          </a:xfrm>
          <a:prstGeom prst="line">
            <a:avLst/>
          </a:prstGeom>
          <a:ln w="6350">
            <a:solidFill>
              <a:srgbClr val="D6CC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914400" y="6455664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i="0" spc="120">
                <a:solidFill>
                  <a:srgbClr val="7B7263"/>
                </a:solidFill>
                <a:latin typeface="Georgia"/>
              </a:rPr>
              <a:t>ФИЗИЧЕСКИ СОГЛАСОВАННЫЙ СУРРОГАТ УРС АЛЮМИНИЯ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80015" y="6419088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1D1B16"/>
                </a:solidFill>
                <a:latin typeface="Georgia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42062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 spc="160">
                <a:solidFill>
                  <a:srgbClr val="7B7263"/>
                </a:solidFill>
                <a:latin typeface="Georgia"/>
              </a:rPr>
              <a:t>ИТ КОР · ТРЕК ML · КЕЙС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695" y="420624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 spc="160">
                <a:solidFill>
                  <a:srgbClr val="8A5A2B"/>
                </a:solidFill>
                <a:latin typeface="Georgia"/>
              </a:rPr>
              <a:t>BASELINE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658368"/>
            <a:ext cx="10362895" cy="0"/>
          </a:xfrm>
          <a:prstGeom prst="line">
            <a:avLst/>
          </a:prstGeom>
          <a:ln w="12700">
            <a:solidFill>
              <a:srgbClr val="1D1B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14400" y="713232"/>
            <a:ext cx="10362895" cy="0"/>
          </a:xfrm>
          <a:prstGeom prst="line">
            <a:avLst/>
          </a:prstGeom>
          <a:ln w="6350">
            <a:solidFill>
              <a:srgbClr val="D6CC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14400" y="868680"/>
            <a:ext cx="98142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800" b="0" i="0">
                <a:solidFill>
                  <a:srgbClr val="1D1B16"/>
                </a:solidFill>
                <a:latin typeface="Georgia"/>
              </a:rPr>
              <a:t>Билинейная интерполяция как эталон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572768"/>
            <a:ext cx="908273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 i="1">
                <a:solidFill>
                  <a:srgbClr val="7B7263"/>
                </a:solidFill>
                <a:latin typeface="Georgia"/>
              </a:rPr>
              <a:t>20 интерполяторов RegularGridInterpolator, проверка на той же тестовой выборке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914400" y="2148840"/>
          <a:ext cx="6949436" cy="21031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178182"/>
                <a:gridCol w="1140952"/>
                <a:gridCol w="1244675"/>
                <a:gridCol w="1140952"/>
                <a:gridCol w="1244675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B7263"/>
                          </a:solidFill>
                          <a:latin typeface="Georgia"/>
                        </a:rPr>
                        <a:t>Вариант таблицы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B7263"/>
                          </a:solidFill>
                          <a:latin typeface="Georgia"/>
                        </a:rPr>
                        <a:t>Размер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B7263"/>
                          </a:solidFill>
                          <a:latin typeface="Georgia"/>
                        </a:rPr>
                        <a:t>Медиана P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B7263"/>
                          </a:solidFill>
                          <a:latin typeface="Georgia"/>
                        </a:rPr>
                        <a:t>Покрытие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B7263"/>
                          </a:solidFill>
                          <a:latin typeface="Georgia"/>
                        </a:rPr>
                        <a:t>Нарушения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D1B16"/>
                          </a:solidFill>
                          <a:latin typeface="Georgia"/>
                        </a:rPr>
                        <a:t>Полная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D1B16"/>
                          </a:solidFill>
                          <a:latin typeface="Georgia"/>
                        </a:rPr>
                        <a:t>17,2 МБ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D1B16"/>
                          </a:solidFill>
                          <a:latin typeface="Georgia"/>
                        </a:rPr>
                        <a:t>0,000 %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D1B16"/>
                          </a:solidFill>
                          <a:latin typeface="Georgia"/>
                        </a:rPr>
                        <a:t>100 %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D1B16"/>
                          </a:solidFill>
                          <a:latin typeface="Georgia"/>
                        </a:rPr>
                        <a:t>2,86 %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D1B16"/>
                          </a:solidFill>
                          <a:latin typeface="Georgia"/>
                        </a:rPr>
                        <a:t>Прорежена ×2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D1B16"/>
                          </a:solidFill>
                          <a:latin typeface="Georgia"/>
                        </a:rPr>
                        <a:t>4,3 МБ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D1B16"/>
                          </a:solidFill>
                          <a:latin typeface="Georgia"/>
                        </a:rPr>
                        <a:t>0,0002 %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D1B16"/>
                          </a:solidFill>
                          <a:latin typeface="Georgia"/>
                        </a:rPr>
                        <a:t>99,4 %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D1B16"/>
                          </a:solidFill>
                          <a:latin typeface="Georgia"/>
                        </a:rPr>
                        <a:t>3,1 %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D1B16"/>
                          </a:solidFill>
                          <a:latin typeface="Georgia"/>
                        </a:rPr>
                        <a:t>Прорежена ×4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D1B16"/>
                          </a:solidFill>
                          <a:latin typeface="Georgia"/>
                        </a:rPr>
                        <a:t>1,1 МБ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D1B16"/>
                          </a:solidFill>
                          <a:latin typeface="Georgia"/>
                        </a:rPr>
                        <a:t>0,0016 %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D1B16"/>
                          </a:solidFill>
                          <a:latin typeface="Georgia"/>
                        </a:rPr>
                        <a:t>98,7 %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D1B16"/>
                          </a:solidFill>
                          <a:latin typeface="Georgia"/>
                        </a:rPr>
                        <a:t>4,4 %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D1B16"/>
                          </a:solidFill>
                          <a:latin typeface="Georgia"/>
                        </a:rPr>
                        <a:t>Прорежена ×8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D1B16"/>
                          </a:solidFill>
                          <a:latin typeface="Georgia"/>
                        </a:rPr>
                        <a:t>0,28 МБ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D1B16"/>
                          </a:solidFill>
                          <a:latin typeface="Georgia"/>
                        </a:rPr>
                        <a:t>0,0075 %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D1B16"/>
                          </a:solidFill>
                          <a:latin typeface="Georgia"/>
                        </a:rPr>
                        <a:t>96,7 %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D1B16"/>
                          </a:solidFill>
                          <a:latin typeface="Georgia"/>
                        </a:rPr>
                        <a:t>7,9 %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</a:tr>
            </a:tbl>
          </a:graphicData>
        </a:graphic>
      </p:graphicFrame>
      <p:cxnSp>
        <p:nvCxnSpPr>
          <p:cNvPr id="10" name="Connector 9"/>
          <p:cNvCxnSpPr/>
          <p:nvPr/>
        </p:nvCxnSpPr>
        <p:spPr>
          <a:xfrm>
            <a:off x="914400" y="2148840"/>
            <a:ext cx="6949440" cy="0"/>
          </a:xfrm>
          <a:prstGeom prst="line">
            <a:avLst/>
          </a:prstGeom>
          <a:ln w="9525">
            <a:solidFill>
              <a:srgbClr val="1D1B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14400" y="2606040"/>
            <a:ext cx="6949440" cy="0"/>
          </a:xfrm>
          <a:prstGeom prst="line">
            <a:avLst/>
          </a:prstGeom>
          <a:ln w="6350">
            <a:solidFill>
              <a:srgbClr val="D6CC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14400" y="3063240"/>
            <a:ext cx="6949440" cy="0"/>
          </a:xfrm>
          <a:prstGeom prst="line">
            <a:avLst/>
          </a:prstGeom>
          <a:ln w="6350">
            <a:solidFill>
              <a:srgbClr val="D6CC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14400" y="3520440"/>
            <a:ext cx="6949440" cy="0"/>
          </a:xfrm>
          <a:prstGeom prst="line">
            <a:avLst/>
          </a:prstGeom>
          <a:ln w="6350">
            <a:solidFill>
              <a:srgbClr val="D6CC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14400" y="3977639"/>
            <a:ext cx="6949440" cy="0"/>
          </a:xfrm>
          <a:prstGeom prst="line">
            <a:avLst/>
          </a:prstGeom>
          <a:ln w="6350">
            <a:solidFill>
              <a:srgbClr val="D6CC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14400" y="4663440"/>
            <a:ext cx="67665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150" b="0" i="0">
                <a:solidFill>
                  <a:srgbClr val="1D1B16"/>
                </a:solidFill>
                <a:latin typeface="Georgia"/>
              </a:rPr>
              <a:t>В узлах сетки интерполяция точна, поэтому по MSE её не обогнать. Цена — 17 МБ, разрывные производные и быстрый рост ошибки при прореживании.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092440" y="2148840"/>
            <a:ext cx="0" cy="3611880"/>
          </a:xfrm>
          <a:prstGeom prst="line">
            <a:avLst/>
          </a:prstGeom>
          <a:ln w="9525">
            <a:solidFill>
              <a:srgbClr val="D6CC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503920" y="2148840"/>
            <a:ext cx="356616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000" b="0" i="0">
                <a:solidFill>
                  <a:srgbClr val="7B7263"/>
                </a:solidFill>
                <a:latin typeface="Georgia"/>
              </a:rPr>
              <a:t>Baseline — обязательный пункт чек-листа на 5 баллов.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000" b="0" i="0">
                <a:solidFill>
                  <a:srgbClr val="7B7263"/>
                </a:solidFill>
                <a:latin typeface="Georgia"/>
              </a:rPr>
              <a:t>Две роли: эталон точности и ориентир по памяти.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000" b="0" i="0">
                <a:solidFill>
                  <a:srgbClr val="7B7263"/>
                </a:solidFill>
                <a:latin typeface="Georgia"/>
              </a:rPr>
              <a:t>Табличный звук: 2,86 % точек уже нефизичны.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14400" y="6382512"/>
            <a:ext cx="10362895" cy="0"/>
          </a:xfrm>
          <a:prstGeom prst="line">
            <a:avLst/>
          </a:prstGeom>
          <a:ln w="6350">
            <a:solidFill>
              <a:srgbClr val="D6CC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14400" y="6455664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i="0" spc="120">
                <a:solidFill>
                  <a:srgbClr val="7B7263"/>
                </a:solidFill>
                <a:latin typeface="Georgia"/>
              </a:rPr>
              <a:t>ФИЗИЧЕСКИ СОГЛАСОВАННЫЙ СУРРОГАТ УРС АЛЮМИНИЯ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80015" y="6419088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1D1B16"/>
                </a:solidFill>
                <a:latin typeface="Georgia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42062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 spc="160">
                <a:solidFill>
                  <a:srgbClr val="7B7263"/>
                </a:solidFill>
                <a:latin typeface="Georgia"/>
              </a:rPr>
              <a:t>ИТ КОР · ТРЕК ML · КЕЙС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695" y="420624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 spc="160">
                <a:solidFill>
                  <a:srgbClr val="8A5A2B"/>
                </a:solidFill>
                <a:latin typeface="Georgia"/>
              </a:rPr>
              <a:t>ПОЧЕМУ НЕ ТАБЛИЦА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658368"/>
            <a:ext cx="10362895" cy="0"/>
          </a:xfrm>
          <a:prstGeom prst="line">
            <a:avLst/>
          </a:prstGeom>
          <a:ln w="12700">
            <a:solidFill>
              <a:srgbClr val="1D1B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14400" y="713232"/>
            <a:ext cx="10362895" cy="0"/>
          </a:xfrm>
          <a:prstGeom prst="line">
            <a:avLst/>
          </a:prstGeom>
          <a:ln w="6350">
            <a:solidFill>
              <a:srgbClr val="D6CC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14400" y="868680"/>
            <a:ext cx="98142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800" b="0" i="0">
                <a:solidFill>
                  <a:srgbClr val="1D1B16"/>
                </a:solidFill>
                <a:latin typeface="Georgia"/>
              </a:rPr>
              <a:t>Почему таблицы недостаточно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3120"/>
            <a:ext cx="4206240" cy="3246120"/>
          </a:xfrm>
          <a:prstGeom prst="rect">
            <a:avLst/>
          </a:prstGeom>
          <a:solidFill>
            <a:srgbClr val="FFFCF5"/>
          </a:solidFill>
          <a:ln w="9525">
            <a:solidFill>
              <a:srgbClr val="D6CC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photo_shock.jpg"/>
          <p:cNvPicPr>
            <a:picLocks noChangeAspect="1"/>
          </p:cNvPicPr>
          <p:nvPr/>
        </p:nvPicPr>
        <p:blipFill>
          <a:blip r:embed="rId2"/>
          <a:srcRect l="14179" r="14179"/>
          <a:stretch>
            <a:fillRect/>
          </a:stretch>
        </p:blipFill>
        <p:spPr>
          <a:xfrm>
            <a:off x="1005840" y="2194560"/>
            <a:ext cx="4023360" cy="30632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4400" y="5440680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800" b="0" i="1">
                <a:solidFill>
                  <a:srgbClr val="7B7263"/>
                </a:solidFill>
                <a:latin typeface="Georgia"/>
              </a:rPr>
              <a:t>Ударная волна и интерференционные полосы. Иллюстрация, не данные.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2103120"/>
            <a:ext cx="5486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400" b="0" i="0">
                <a:solidFill>
                  <a:srgbClr val="8A5A2B"/>
                </a:solidFill>
                <a:latin typeface="Georgia"/>
              </a:rPr>
              <a:t>9,5 %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2880360"/>
            <a:ext cx="5394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200" b="0" i="0">
                <a:solidFill>
                  <a:srgbClr val="1D1B16"/>
                </a:solidFill>
                <a:latin typeface="Georgia"/>
              </a:rPr>
              <a:t>узлов полной таблицы дают нефизичные производные: c_s² ≤ 0, ∂P/∂ρ ≤ 0 или ∂e/∂T ≤ 0.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3931920"/>
            <a:ext cx="53949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150" b="0" i="0">
                <a:solidFill>
                  <a:srgbClr val="1D1B16"/>
                </a:solidFill>
                <a:latin typeface="Georgia"/>
              </a:rPr>
              <a:t>Пример: при ρ = 2,7 г/см³ и T ≈ 140 К энергия падает с 0,128 до 0,093 кДж/г за две ячейки. Конечная разность даёт c_s² &lt; 0 — мнимое значение в гидрокоде. Гладкая сеть сглаживает скачок и возвращает корректные производные.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14400" y="6382512"/>
            <a:ext cx="10362895" cy="0"/>
          </a:xfrm>
          <a:prstGeom prst="line">
            <a:avLst/>
          </a:prstGeom>
          <a:ln w="6350">
            <a:solidFill>
              <a:srgbClr val="D6CC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14400" y="6455664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i="0" spc="120">
                <a:solidFill>
                  <a:srgbClr val="7B7263"/>
                </a:solidFill>
                <a:latin typeface="Georgia"/>
              </a:rPr>
              <a:t>ФИЗИЧЕСКИ СОГЛАСОВАННЫЙ СУРРОГАТ УРС АЛЮМИНИЯ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80015" y="6419088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1D1B16"/>
                </a:solidFill>
                <a:latin typeface="Georgia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42062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 spc="160">
                <a:solidFill>
                  <a:srgbClr val="7B7263"/>
                </a:solidFill>
                <a:latin typeface="Georgia"/>
              </a:rPr>
              <a:t>ИТ КОР · ТРЕК ML · КЕЙС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695" y="420624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 spc="160">
                <a:solidFill>
                  <a:srgbClr val="8A5A2B"/>
                </a:solidFill>
                <a:latin typeface="Georgia"/>
              </a:rPr>
              <a:t>МОДЕЛЬ 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658368"/>
            <a:ext cx="10362895" cy="0"/>
          </a:xfrm>
          <a:prstGeom prst="line">
            <a:avLst/>
          </a:prstGeom>
          <a:ln w="12700">
            <a:solidFill>
              <a:srgbClr val="1D1B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14400" y="713232"/>
            <a:ext cx="10362895" cy="0"/>
          </a:xfrm>
          <a:prstGeom prst="line">
            <a:avLst/>
          </a:prstGeom>
          <a:ln w="6350">
            <a:solidFill>
              <a:srgbClr val="D6CC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14400" y="868680"/>
            <a:ext cx="98142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800" b="0" i="0">
                <a:solidFill>
                  <a:srgbClr val="1D1B16"/>
                </a:solidFill>
                <a:latin typeface="Georgia"/>
              </a:rPr>
              <a:t>Vanilla MLP: точность без физики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572768"/>
            <a:ext cx="908273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 i="1">
                <a:solidFill>
                  <a:srgbClr val="7B7263"/>
                </a:solidFill>
                <a:latin typeface="Georgia"/>
              </a:rPr>
              <a:t>2 → 128 → 128 → 64 → 2, tanh, 25 282 параметра, 150 эпох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103120"/>
            <a:ext cx="5852160" cy="3611880"/>
          </a:xfrm>
          <a:prstGeom prst="rect">
            <a:avLst/>
          </a:prstGeom>
          <a:solidFill>
            <a:srgbClr val="FFFCF5"/>
          </a:solidFill>
          <a:ln w="9525">
            <a:solidFill>
              <a:srgbClr val="D6CC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val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313" y="2194560"/>
            <a:ext cx="5664332" cy="3429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4400" y="5788152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7B7263"/>
                </a:solidFill>
                <a:latin typeface="Georgia"/>
              </a:rPr>
              <a:t>Рис. 2. Кривые обучения: train и test (20 % выборки)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040880" y="2103120"/>
            <a:ext cx="0" cy="3657600"/>
          </a:xfrm>
          <a:prstGeom prst="line">
            <a:avLst/>
          </a:prstGeom>
          <a:ln w="9525">
            <a:solidFill>
              <a:srgbClr val="D6CC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406640" y="2148840"/>
            <a:ext cx="2377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7B7263"/>
                </a:solidFill>
                <a:latin typeface="Georgia"/>
              </a:rPr>
              <a:t>R²(P)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2368296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1D1B16"/>
                </a:solidFill>
                <a:latin typeface="Georgia"/>
              </a:rPr>
              <a:t>0,99874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406640" y="2715768"/>
            <a:ext cx="2926080" cy="0"/>
          </a:xfrm>
          <a:prstGeom prst="line">
            <a:avLst/>
          </a:prstGeom>
          <a:ln w="6350">
            <a:solidFill>
              <a:srgbClr val="D6CC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406640" y="2807208"/>
            <a:ext cx="2377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7B7263"/>
                </a:solidFill>
                <a:latin typeface="Georgia"/>
              </a:rPr>
              <a:t>Медиана 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3026664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1D1B16"/>
                </a:solidFill>
                <a:latin typeface="Georgia"/>
              </a:rPr>
              <a:t>9,17 %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406640" y="3374136"/>
            <a:ext cx="2926080" cy="0"/>
          </a:xfrm>
          <a:prstGeom prst="line">
            <a:avLst/>
          </a:prstGeom>
          <a:ln w="6350">
            <a:solidFill>
              <a:srgbClr val="D6CC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406640" y="3465576"/>
            <a:ext cx="2377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7B7263"/>
                </a:solidFill>
                <a:latin typeface="Georgia"/>
              </a:rPr>
              <a:t>R²(e)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3685032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1D1B16"/>
                </a:solidFill>
                <a:latin typeface="Georgia"/>
              </a:rPr>
              <a:t>0,99926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406640" y="4032504"/>
            <a:ext cx="2926080" cy="0"/>
          </a:xfrm>
          <a:prstGeom prst="line">
            <a:avLst/>
          </a:prstGeom>
          <a:ln w="6350">
            <a:solidFill>
              <a:srgbClr val="D6CC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406640" y="4123944"/>
            <a:ext cx="2377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7B7263"/>
                </a:solidFill>
                <a:latin typeface="Georgia"/>
              </a:rPr>
              <a:t>Нарушений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4343400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1D1B16"/>
                </a:solidFill>
                <a:latin typeface="Georgia"/>
              </a:rPr>
              <a:t>36,17 %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406640" y="4690872"/>
            <a:ext cx="2926080" cy="0"/>
          </a:xfrm>
          <a:prstGeom prst="line">
            <a:avLst/>
          </a:prstGeom>
          <a:ln w="6350">
            <a:solidFill>
              <a:srgbClr val="D6CC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406640" y="4983480"/>
            <a:ext cx="29260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50" b="0" i="0">
                <a:solidFill>
                  <a:srgbClr val="1D1B16"/>
                </a:solidFill>
                <a:latin typeface="Georgia"/>
              </a:rPr>
              <a:t>Точность хорошая. Физика разрушена.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14400" y="6382512"/>
            <a:ext cx="10362895" cy="0"/>
          </a:xfrm>
          <a:prstGeom prst="line">
            <a:avLst/>
          </a:prstGeom>
          <a:ln w="6350">
            <a:solidFill>
              <a:srgbClr val="D6CC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14400" y="6455664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i="0" spc="120">
                <a:solidFill>
                  <a:srgbClr val="7B7263"/>
                </a:solidFill>
                <a:latin typeface="Georgia"/>
              </a:rPr>
              <a:t>ФИЗИЧЕСКИ СОГЛАСОВАННЫЙ СУРРОГАТ УРС АЛЮМИНИЯ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80015" y="6419088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1D1B16"/>
                </a:solidFill>
                <a:latin typeface="Georgia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42062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 spc="160">
                <a:solidFill>
                  <a:srgbClr val="7B7263"/>
                </a:solidFill>
                <a:latin typeface="Georgia"/>
              </a:rPr>
              <a:t>ИТ КОР · ТРЕК ML · КЕЙС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695" y="420624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 spc="160">
                <a:solidFill>
                  <a:srgbClr val="8A5A2B"/>
                </a:solidFill>
                <a:latin typeface="Georgia"/>
              </a:rPr>
              <a:t>МОДЕЛЬ 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658368"/>
            <a:ext cx="10362895" cy="0"/>
          </a:xfrm>
          <a:prstGeom prst="line">
            <a:avLst/>
          </a:prstGeom>
          <a:ln w="12700">
            <a:solidFill>
              <a:srgbClr val="1D1B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14400" y="713232"/>
            <a:ext cx="10362895" cy="0"/>
          </a:xfrm>
          <a:prstGeom prst="line">
            <a:avLst/>
          </a:prstGeom>
          <a:ln w="6350">
            <a:solidFill>
              <a:srgbClr val="D6CC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14400" y="868680"/>
            <a:ext cx="98142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800" b="0" i="0">
                <a:solidFill>
                  <a:srgbClr val="1D1B16"/>
                </a:solidFill>
                <a:latin typeface="Georgia"/>
              </a:rPr>
              <a:t>PINN: та же сеть плюс физика в лоссе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572768"/>
            <a:ext cx="908273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 i="1">
                <a:solidFill>
                  <a:srgbClr val="7B7263"/>
                </a:solidFill>
                <a:latin typeface="Georgia"/>
              </a:rPr>
              <a:t>Та же сеть; в функцию потерь добавлены производные, посчитанные автоградиентом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148840"/>
            <a:ext cx="2834640" cy="1234440"/>
          </a:xfrm>
          <a:prstGeom prst="rect">
            <a:avLst/>
          </a:prstGeom>
          <a:solidFill>
            <a:srgbClr val="FFFCF5"/>
          </a:solidFill>
          <a:ln w="9525">
            <a:solidFill>
              <a:srgbClr val="1D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143000" y="2286000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i="0" spc="160">
                <a:solidFill>
                  <a:srgbClr val="7B7263"/>
                </a:solidFill>
                <a:latin typeface="Georgia"/>
              </a:rPr>
              <a:t>ВХОД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560320"/>
            <a:ext cx="2468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 i="0">
                <a:solidFill>
                  <a:srgbClr val="1D1B16"/>
                </a:solidFill>
                <a:latin typeface="Georgia"/>
              </a:rPr>
              <a:t>log₁₀ ρ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 i="0">
                <a:solidFill>
                  <a:srgbClr val="1D1B16"/>
                </a:solidFill>
                <a:latin typeface="Georgia"/>
              </a:rPr>
              <a:t>log₁₀ 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56032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7B7263"/>
                </a:solidFill>
                <a:latin typeface="Georgia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2148840"/>
            <a:ext cx="2834640" cy="1234440"/>
          </a:xfrm>
          <a:prstGeom prst="rect">
            <a:avLst/>
          </a:prstGeom>
          <a:solidFill>
            <a:srgbClr val="FFFCF5"/>
          </a:solidFill>
          <a:ln w="9525">
            <a:solidFill>
              <a:srgbClr val="1D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572000" y="2286000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i="0" spc="160">
                <a:solidFill>
                  <a:srgbClr val="7B7263"/>
                </a:solidFill>
                <a:latin typeface="Georgia"/>
              </a:rPr>
              <a:t>MLP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560320"/>
            <a:ext cx="2468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 i="0">
                <a:solidFill>
                  <a:srgbClr val="1D1B16"/>
                </a:solidFill>
                <a:latin typeface="Georgia"/>
              </a:rPr>
              <a:t>2 → 128 → 128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 i="0">
                <a:solidFill>
                  <a:srgbClr val="1D1B16"/>
                </a:solidFill>
                <a:latin typeface="Georgia"/>
              </a:rPr>
              <a:t>→ 64 →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256032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7B7263"/>
                </a:solidFill>
                <a:latin typeface="Georgia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0" y="2148840"/>
            <a:ext cx="2834640" cy="1234440"/>
          </a:xfrm>
          <a:prstGeom prst="rect">
            <a:avLst/>
          </a:prstGeom>
          <a:solidFill>
            <a:srgbClr val="FFFCF5"/>
          </a:solidFill>
          <a:ln w="9525">
            <a:solidFill>
              <a:srgbClr val="1D1B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01000" y="2286000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i="0" spc="160">
                <a:solidFill>
                  <a:srgbClr val="7B7263"/>
                </a:solidFill>
                <a:latin typeface="Georgia"/>
              </a:rPr>
              <a:t>ВЫХОД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2560320"/>
            <a:ext cx="2468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 i="0">
                <a:solidFill>
                  <a:srgbClr val="1D1B16"/>
                </a:solidFill>
                <a:latin typeface="Georgia"/>
              </a:rPr>
              <a:t>log₁₀ P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 i="0">
                <a:solidFill>
                  <a:srgbClr val="1D1B16"/>
                </a:solidFill>
                <a:latin typeface="Georgia"/>
              </a:rPr>
              <a:t>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3749039"/>
            <a:ext cx="10332720" cy="1325880"/>
          </a:xfrm>
          <a:prstGeom prst="rect">
            <a:avLst/>
          </a:prstGeom>
          <a:noFill/>
          <a:ln w="9525">
            <a:solidFill>
              <a:srgbClr val="8A5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188720" y="3913632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i="0" spc="180">
                <a:solidFill>
                  <a:srgbClr val="8A5A2B"/>
                </a:solidFill>
                <a:latin typeface="Georgia"/>
              </a:rPr>
              <a:t>ФИЗИЧЕСКИЙ ЛОСС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160520"/>
            <a:ext cx="9692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150" b="0" i="0">
                <a:solidFill>
                  <a:srgbClr val="1D1B16"/>
                </a:solidFill>
                <a:latin typeface="Georgia"/>
              </a:rPr>
              <a:t>autograd.grad по входам → цепное правило до СГС → ReLU-штрафы на ∂P/∂ρ, ∂e/∂T и c_s². L = L_data + γ · L_phys, γ = 0,03.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349240"/>
            <a:ext cx="10332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050" b="0" i="0">
                <a:solidFill>
                  <a:srgbClr val="1D1B16"/>
                </a:solidFill>
                <a:latin typeface="Georgia"/>
              </a:rPr>
              <a:t>Данные отвечают за точность, физика — за корректность производных. Вес γ управляет балансом и подбирался по доле нарушений, а не по MSE.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14400" y="6382512"/>
            <a:ext cx="10362895" cy="0"/>
          </a:xfrm>
          <a:prstGeom prst="line">
            <a:avLst/>
          </a:prstGeom>
          <a:ln w="6350">
            <a:solidFill>
              <a:srgbClr val="D6CC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14400" y="6455664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i="0" spc="120">
                <a:solidFill>
                  <a:srgbClr val="7B7263"/>
                </a:solidFill>
                <a:latin typeface="Georgia"/>
              </a:rPr>
              <a:t>ФИЗИЧЕСКИ СОГЛАСОВАННЫЙ СУРРОГАТ УРС АЛЮМИНИЯ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80015" y="6419088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1D1B16"/>
                </a:solidFill>
                <a:latin typeface="Georgia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42062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 spc="160">
                <a:solidFill>
                  <a:srgbClr val="7B7263"/>
                </a:solidFill>
                <a:latin typeface="Georgia"/>
              </a:rPr>
              <a:t>ИТ КОР · ТРЕК ML · КЕЙС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695" y="420624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 spc="160">
                <a:solidFill>
                  <a:srgbClr val="8A5A2B"/>
                </a:solidFill>
                <a:latin typeface="Georgia"/>
              </a:rPr>
              <a:t>ФИЗИКА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658368"/>
            <a:ext cx="10362895" cy="0"/>
          </a:xfrm>
          <a:prstGeom prst="line">
            <a:avLst/>
          </a:prstGeom>
          <a:ln w="12700">
            <a:solidFill>
              <a:srgbClr val="1D1B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14400" y="713232"/>
            <a:ext cx="10362895" cy="0"/>
          </a:xfrm>
          <a:prstGeom prst="line">
            <a:avLst/>
          </a:prstGeom>
          <a:ln w="6350">
            <a:solidFill>
              <a:srgbClr val="D6CC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14400" y="868680"/>
            <a:ext cx="98142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800" b="0" i="0">
                <a:solidFill>
                  <a:srgbClr val="1D1B16"/>
                </a:solidFill>
                <a:latin typeface="Georgia"/>
              </a:rPr>
              <a:t>Три ограничения — и в лоссе, и в проверке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572768"/>
            <a:ext cx="908273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 i="1">
                <a:solidFill>
                  <a:srgbClr val="7B7263"/>
                </a:solidFill>
                <a:latin typeface="Georgia"/>
              </a:rPr>
              <a:t>Формулировки из постановки кейса; все проверки выполняются в системе СГС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305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8A5A2B"/>
                </a:solidFill>
                <a:latin typeface="Consola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075688"/>
            <a:ext cx="3840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1D1B16"/>
                </a:solidFill>
                <a:latin typeface="Georgia"/>
              </a:rPr>
              <a:t>Термодинамическая устойчивость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2112264"/>
            <a:ext cx="54864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1D1B16"/>
                </a:solidFill>
                <a:latin typeface="Consolas"/>
              </a:rPr>
              <a:t>∂P/∂ρ &gt; 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478024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50" b="0" i="0">
                <a:solidFill>
                  <a:srgbClr val="7B7263"/>
                </a:solidFill>
                <a:latin typeface="Georgia"/>
              </a:rPr>
              <a:t>Изотермическая сжимаемость положительна: вещество не схлопывается само по себе.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935224"/>
            <a:ext cx="9601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7B7263"/>
                </a:solidFill>
                <a:latin typeface="Consolas"/>
              </a:rPr>
              <a:t>штраф: mean(ReLU(−∂P/∂ρ)) / median|∂P/∂ρ|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14400" y="3319272"/>
            <a:ext cx="10362895" cy="0"/>
          </a:xfrm>
          <a:prstGeom prst="line">
            <a:avLst/>
          </a:prstGeom>
          <a:ln w="6350">
            <a:solidFill>
              <a:srgbClr val="D6CC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14400" y="35021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8A5A2B"/>
                </a:solidFill>
                <a:latin typeface="Consola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447288"/>
            <a:ext cx="3840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1D1B16"/>
                </a:solidFill>
                <a:latin typeface="Georgia"/>
              </a:rPr>
              <a:t>Положительная теплоёмкость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3483864"/>
            <a:ext cx="54864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1D1B16"/>
                </a:solidFill>
                <a:latin typeface="Consolas"/>
              </a:rPr>
              <a:t>∂e/∂T &gt; 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849624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50" b="0" i="0">
                <a:solidFill>
                  <a:srgbClr val="7B7263"/>
                </a:solidFill>
                <a:latin typeface="Georgia"/>
              </a:rPr>
              <a:t>Энергия растёт с температурой: c_v &gt; 0, иначе нарушается второе начало.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306824"/>
            <a:ext cx="9601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7B7263"/>
                </a:solidFill>
                <a:latin typeface="Consolas"/>
              </a:rPr>
              <a:t>штраф: mean(ReLU(−∂e/∂T)) / median|∂e/∂T|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14400" y="4690872"/>
            <a:ext cx="10362895" cy="0"/>
          </a:xfrm>
          <a:prstGeom prst="line">
            <a:avLst/>
          </a:prstGeom>
          <a:ln w="6350">
            <a:solidFill>
              <a:srgbClr val="D6CC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914400" y="48737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 i="0">
                <a:solidFill>
                  <a:srgbClr val="8A5A2B"/>
                </a:solidFill>
                <a:latin typeface="Consola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818888"/>
            <a:ext cx="3840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1D1B16"/>
                </a:solidFill>
                <a:latin typeface="Georgia"/>
              </a:rPr>
              <a:t>Скорость звука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4855464"/>
            <a:ext cx="54864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1D1B16"/>
                </a:solidFill>
                <a:latin typeface="Consolas"/>
              </a:rPr>
              <a:t>c_s² = (∂P/∂ρ)_T + T·(∂P/∂T)²_ρ / (ρ²·∂e/∂T)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5221224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50" b="0" i="0">
                <a:solidFill>
                  <a:srgbClr val="7B7263"/>
                </a:solidFill>
                <a:latin typeface="Georgia"/>
              </a:rPr>
              <a:t>Вещественная и дорелятивистская: 0 &lt; c_s &lt; c, где c — скорость света.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5678424"/>
            <a:ext cx="9601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7B7263"/>
                </a:solidFill>
                <a:latin typeface="Consolas"/>
              </a:rPr>
              <a:t>штраф: ReLU(−c_s²) + ReLU(c_s² − c²)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14400" y="6062472"/>
            <a:ext cx="10362895" cy="0"/>
          </a:xfrm>
          <a:prstGeom prst="line">
            <a:avLst/>
          </a:prstGeom>
          <a:ln w="6350">
            <a:solidFill>
              <a:srgbClr val="D6CC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14400" y="6382512"/>
            <a:ext cx="10362895" cy="0"/>
          </a:xfrm>
          <a:prstGeom prst="line">
            <a:avLst/>
          </a:prstGeom>
          <a:ln w="6350">
            <a:solidFill>
              <a:srgbClr val="D6CC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914400" y="6455664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i="0" spc="120">
                <a:solidFill>
                  <a:srgbClr val="7B7263"/>
                </a:solidFill>
                <a:latin typeface="Georgia"/>
              </a:rPr>
              <a:t>ФИЗИЧЕСКИ СОГЛАСОВАННЫЙ СУРРОГАТ УРС АЛЮМИНИЯ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80015" y="6419088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1D1B16"/>
                </a:solidFill>
                <a:latin typeface="Georgia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42062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 spc="160">
                <a:solidFill>
                  <a:srgbClr val="7B7263"/>
                </a:solidFill>
                <a:latin typeface="Georgia"/>
              </a:rPr>
              <a:t>ИТ КОР · ТРЕК ML · КЕЙС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695" y="420624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 spc="160">
                <a:solidFill>
                  <a:srgbClr val="8A5A2B"/>
                </a:solidFill>
                <a:latin typeface="Georgia"/>
              </a:rPr>
              <a:t>РЕАЛИЗАЦИЯ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658368"/>
            <a:ext cx="10362895" cy="0"/>
          </a:xfrm>
          <a:prstGeom prst="line">
            <a:avLst/>
          </a:prstGeom>
          <a:ln w="12700">
            <a:solidFill>
              <a:srgbClr val="1D1B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14400" y="713232"/>
            <a:ext cx="10362895" cy="0"/>
          </a:xfrm>
          <a:prstGeom prst="line">
            <a:avLst/>
          </a:prstGeom>
          <a:ln w="6350">
            <a:solidFill>
              <a:srgbClr val="D6CC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14400" y="868680"/>
            <a:ext cx="98142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800" b="0" i="0">
                <a:solidFill>
                  <a:srgbClr val="1D1B16"/>
                </a:solidFill>
                <a:latin typeface="Georgia"/>
              </a:rPr>
              <a:t>Как производные попадают в лосс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572768"/>
            <a:ext cx="908273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 i="1">
                <a:solidFill>
                  <a:srgbClr val="7B7263"/>
                </a:solidFill>
                <a:latin typeface="Georgia"/>
              </a:rPr>
              <a:t>torch.autograd.grad по входам сети, цепное правило до физических единиц, устойчивые штрафы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420624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150" b="0" i="0">
                <a:solidFill>
                  <a:srgbClr val="1D1B16"/>
                </a:solidFill>
                <a:latin typeface="Georgia"/>
              </a:rPr>
              <a:t>Производные считаются в том же графе вычислений: штраф не требует ни численного дифференцирования, ни второй сети.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977639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 spc="140">
                <a:solidFill>
                  <a:srgbClr val="8A5A2B"/>
                </a:solidFill>
                <a:latin typeface="Georgia"/>
              </a:rPr>
              <a:t>Γ = 0,03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3959352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 i="0">
                <a:solidFill>
                  <a:srgbClr val="7B7263"/>
                </a:solidFill>
                <a:latin typeface="Georgia"/>
              </a:rPr>
              <a:t>иначе физика ломает регрессию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636007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 spc="140">
                <a:solidFill>
                  <a:srgbClr val="8A5A2B"/>
                </a:solidFill>
                <a:latin typeface="Georgia"/>
              </a:rPr>
              <a:t>МАСШТАБ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461772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 i="0">
                <a:solidFill>
                  <a:srgbClr val="7B7263"/>
                </a:solidFill>
                <a:latin typeface="Georgia"/>
              </a:rPr>
              <a:t>штраф делим на медиану |∂P/∂ρ|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294375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 spc="140">
                <a:solidFill>
                  <a:srgbClr val="8A5A2B"/>
                </a:solidFill>
                <a:latin typeface="Georgia"/>
              </a:rPr>
              <a:t>МАСКА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5276088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 i="0">
                <a:solidFill>
                  <a:srgbClr val="7B7263"/>
                </a:solidFill>
                <a:latin typeface="Georgia"/>
              </a:rPr>
              <a:t>физика только там, где таблица физична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0" y="2148840"/>
            <a:ext cx="5760720" cy="384048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486400" y="2148840"/>
            <a:ext cx="50292" cy="3840480"/>
          </a:xfrm>
          <a:prstGeom prst="rect">
            <a:avLst/>
          </a:prstGeom>
          <a:solidFill>
            <a:srgbClr val="8A5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687568" y="2289657"/>
            <a:ext cx="5358383" cy="3639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950" b="0">
                <a:solidFill>
                  <a:srgbClr val="1D1B16"/>
                </a:solidFill>
                <a:latin typeface="Consolas"/>
              </a:rPr>
              <a:t>x.requires_grad_(True)</a:t>
            </a:r>
          </a:p>
          <a:p>
            <a:pPr>
              <a:lnSpc>
                <a:spcPct val="122000"/>
              </a:lnSpc>
            </a:pPr>
            <a:r>
              <a:rPr sz="950" b="0">
                <a:solidFill>
                  <a:srgbClr val="1D1B16"/>
                </a:solidFill>
                <a:latin typeface="Consolas"/>
              </a:rPr>
              <a:t>out = model(x)              # log10P, e</a:t>
            </a:r>
          </a:p>
          <a:p>
            <a:pPr>
              <a:lnSpc>
                <a:spcPct val="122000"/>
              </a:lnSpc>
            </a:pPr>
            <a:r>
              <a:rPr sz="950" b="0">
                <a:solidFill>
                  <a:srgbClr val="1D1B16"/>
                </a:solidFill>
                <a:latin typeface="Consolas"/>
              </a:rPr>
              <a:t>gP = autograd.grad(out[:, 0].sum(), x,</a:t>
            </a:r>
          </a:p>
          <a:p>
            <a:pPr>
              <a:lnSpc>
                <a:spcPct val="122000"/>
              </a:lnSpc>
            </a:pPr>
            <a:r>
              <a:rPr sz="950" b="0">
                <a:solidFill>
                  <a:srgbClr val="1D1B16"/>
                </a:solidFill>
                <a:latin typeface="Consolas"/>
              </a:rPr>
              <a:t>                   create_graph=True,</a:t>
            </a:r>
          </a:p>
          <a:p>
            <a:pPr>
              <a:lnSpc>
                <a:spcPct val="122000"/>
              </a:lnSpc>
            </a:pPr>
            <a:r>
              <a:rPr sz="950" b="0">
                <a:solidFill>
                  <a:srgbClr val="1D1B16"/>
                </a:solidFill>
                <a:latin typeface="Consolas"/>
              </a:rPr>
              <a:t>                   retain_graph=True)[0]</a:t>
            </a:r>
          </a:p>
          <a:p>
            <a:pPr>
              <a:lnSpc>
                <a:spcPct val="122000"/>
              </a:lnSpc>
            </a:pPr>
            <a:r>
              <a:rPr sz="950" b="0">
                <a:solidFill>
                  <a:srgbClr val="1D1B16"/>
                </a:solidFill>
                <a:latin typeface="Consolas"/>
              </a:rPr>
              <a:t> </a:t>
            </a:r>
          </a:p>
          <a:p>
            <a:pPr>
              <a:lnSpc>
                <a:spcPct val="122000"/>
              </a:lnSpc>
            </a:pPr>
            <a:r>
              <a:rPr sz="950" b="0">
                <a:solidFill>
                  <a:srgbClr val="7B7263"/>
                </a:solidFill>
                <a:latin typeface="Consolas"/>
              </a:rPr>
              <a:t># цепное правило: log10 -&gt; физические единицы</a:t>
            </a:r>
          </a:p>
          <a:p>
            <a:pPr>
              <a:lnSpc>
                <a:spcPct val="122000"/>
              </a:lnSpc>
            </a:pPr>
            <a:r>
              <a:rPr sz="950" b="0">
                <a:solidFill>
                  <a:srgbClr val="1D1B16"/>
                </a:solidFill>
                <a:latin typeface="Consolas"/>
              </a:rPr>
              <a:t>dP_drho = P * gP[:, 0] * span_lp / span_lr</a:t>
            </a:r>
          </a:p>
          <a:p>
            <a:pPr>
              <a:lnSpc>
                <a:spcPct val="122000"/>
              </a:lnSpc>
            </a:pPr>
            <a:r>
              <a:rPr sz="950" b="0">
                <a:solidFill>
                  <a:srgbClr val="1D1B16"/>
                </a:solidFill>
                <a:latin typeface="Consolas"/>
              </a:rPr>
              <a:t>                     / (rho * ln10)</a:t>
            </a:r>
          </a:p>
          <a:p>
            <a:pPr>
              <a:lnSpc>
                <a:spcPct val="122000"/>
              </a:lnSpc>
            </a:pPr>
            <a:r>
              <a:rPr sz="950" b="0">
                <a:solidFill>
                  <a:srgbClr val="1D1B16"/>
                </a:solidFill>
                <a:latin typeface="Consolas"/>
              </a:rPr>
              <a:t>de_dT   = ge[:, 1] * span_e / span_lt</a:t>
            </a:r>
          </a:p>
          <a:p>
            <a:pPr>
              <a:lnSpc>
                <a:spcPct val="122000"/>
              </a:lnSpc>
            </a:pPr>
            <a:r>
              <a:rPr sz="950" b="0">
                <a:solidFill>
                  <a:srgbClr val="1D1B16"/>
                </a:solidFill>
                <a:latin typeface="Consolas"/>
              </a:rPr>
              <a:t>                     / (T * ln10)</a:t>
            </a:r>
          </a:p>
          <a:p>
            <a:pPr>
              <a:lnSpc>
                <a:spcPct val="122000"/>
              </a:lnSpc>
            </a:pPr>
            <a:r>
              <a:rPr sz="950" b="0">
                <a:solidFill>
                  <a:srgbClr val="1D1B16"/>
                </a:solidFill>
                <a:latin typeface="Consolas"/>
              </a:rPr>
              <a:t> </a:t>
            </a:r>
          </a:p>
          <a:p>
            <a:pPr>
              <a:lnSpc>
                <a:spcPct val="122000"/>
              </a:lnSpc>
            </a:pPr>
            <a:r>
              <a:rPr sz="950" b="0">
                <a:solidFill>
                  <a:srgbClr val="7B7263"/>
                </a:solidFill>
                <a:latin typeface="Consolas"/>
              </a:rPr>
              <a:t># безразмерные штрафы по ReLU</a:t>
            </a:r>
          </a:p>
          <a:p>
            <a:pPr>
              <a:lnSpc>
                <a:spcPct val="122000"/>
              </a:lnSpc>
            </a:pPr>
            <a:r>
              <a:rPr sz="950" b="1">
                <a:solidFill>
                  <a:srgbClr val="1D1B16"/>
                </a:solidFill>
                <a:latin typeface="Consolas"/>
              </a:rPr>
              <a:t>loss_stab = relu(-dP_drho / s_p).mean()</a:t>
            </a:r>
          </a:p>
          <a:p>
            <a:pPr>
              <a:lnSpc>
                <a:spcPct val="122000"/>
              </a:lnSpc>
            </a:pPr>
            <a:r>
              <a:rPr sz="950" b="1">
                <a:solidFill>
                  <a:srgbClr val="1D1B16"/>
                </a:solidFill>
                <a:latin typeface="Consolas"/>
              </a:rPr>
              <a:t>loss_cap  = relu(-de_dT   / s_e).mean()</a:t>
            </a:r>
          </a:p>
          <a:p>
            <a:pPr>
              <a:lnSpc>
                <a:spcPct val="122000"/>
              </a:lnSpc>
            </a:pPr>
            <a:r>
              <a:rPr sz="950" b="1">
                <a:solidFill>
                  <a:srgbClr val="1D1B16"/>
                </a:solidFill>
                <a:latin typeface="Consolas"/>
              </a:rPr>
              <a:t>loss_cs   = relu(-cs2/c**2) + relu(cs2/c**2 - 1)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14400" y="6382512"/>
            <a:ext cx="10362895" cy="0"/>
          </a:xfrm>
          <a:prstGeom prst="line">
            <a:avLst/>
          </a:prstGeom>
          <a:ln w="6350">
            <a:solidFill>
              <a:srgbClr val="D6CC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914400" y="6455664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i="0" spc="120">
                <a:solidFill>
                  <a:srgbClr val="7B7263"/>
                </a:solidFill>
                <a:latin typeface="Georgia"/>
              </a:rPr>
              <a:t>ФИЗИЧЕСКИ СОГЛАСОВАННЫЙ СУРРОГАТ УРС АЛЮМИНИЯ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80015" y="6419088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1D1B16"/>
                </a:solidFill>
                <a:latin typeface="Georgia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42062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 spc="160">
                <a:solidFill>
                  <a:srgbClr val="7B7263"/>
                </a:solidFill>
                <a:latin typeface="Georgia"/>
              </a:rPr>
              <a:t>ИТ КОР · ТРЕК ML · КЕЙС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695" y="420624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 spc="160">
                <a:solidFill>
                  <a:srgbClr val="8A5A2B"/>
                </a:solidFill>
                <a:latin typeface="Georgia"/>
              </a:rPr>
              <a:t>ОБУЧЕНИЕ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658368"/>
            <a:ext cx="10362895" cy="0"/>
          </a:xfrm>
          <a:prstGeom prst="line">
            <a:avLst/>
          </a:prstGeom>
          <a:ln w="12700">
            <a:solidFill>
              <a:srgbClr val="1D1B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14400" y="713232"/>
            <a:ext cx="10362895" cy="0"/>
          </a:xfrm>
          <a:prstGeom prst="line">
            <a:avLst/>
          </a:prstGeom>
          <a:ln w="6350">
            <a:solidFill>
              <a:srgbClr val="D6CC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14400" y="868680"/>
            <a:ext cx="98142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800" b="0" i="0">
                <a:solidFill>
                  <a:srgbClr val="1D1B16"/>
                </a:solidFill>
                <a:latin typeface="Georgia"/>
              </a:rPr>
              <a:t>Два этапа: данные, затем физика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572768"/>
            <a:ext cx="908273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 i="1">
                <a:solidFill>
                  <a:srgbClr val="7B7263"/>
                </a:solidFill>
                <a:latin typeface="Georgia"/>
              </a:rPr>
              <a:t>Разделение этапов убирает главную проблему PINN — борьбу градиентов данных и физики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 spc="160">
                <a:solidFill>
                  <a:srgbClr val="8A5A2B"/>
                </a:solidFill>
                <a:latin typeface="Georgia"/>
              </a:rPr>
              <a:t>ЭТАП ПЕРВЫЙ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95728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0" i="0">
                <a:solidFill>
                  <a:srgbClr val="1D1B16"/>
                </a:solidFill>
                <a:latin typeface="Georgia"/>
              </a:rPr>
              <a:t>Данные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14400" y="2944368"/>
            <a:ext cx="4480560" cy="0"/>
          </a:xfrm>
          <a:prstGeom prst="line">
            <a:avLst/>
          </a:prstGeom>
          <a:ln w="9525">
            <a:solidFill>
              <a:srgbClr val="1D1B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14400" y="3063240"/>
            <a:ext cx="4297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 i="0">
                <a:solidFill>
                  <a:srgbClr val="7B7263"/>
                </a:solidFill>
                <a:latin typeface="Georgia"/>
              </a:rPr>
              <a:t>150 эпох, OneCycle, MSE в нормированных единицах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977639"/>
            <a:ext cx="4297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1D1B16"/>
                </a:solidFill>
                <a:latin typeface="Georgia"/>
              </a:rPr>
              <a:t>R²(P) ≈ 0,999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370832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1">
                <a:solidFill>
                  <a:srgbClr val="7B7263"/>
                </a:solidFill>
                <a:latin typeface="Georgia"/>
              </a:rPr>
              <a:t>быстро и устойчиво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148840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 spc="160">
                <a:solidFill>
                  <a:srgbClr val="8A5A2B"/>
                </a:solidFill>
                <a:latin typeface="Georgia"/>
              </a:rPr>
              <a:t>ЭТАП ВТОРОЙ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395728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0" i="0">
                <a:solidFill>
                  <a:srgbClr val="1D1B16"/>
                </a:solidFill>
                <a:latin typeface="Georgia"/>
              </a:rPr>
              <a:t>Физика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309360" y="2944368"/>
            <a:ext cx="4480560" cy="0"/>
          </a:xfrm>
          <a:prstGeom prst="line">
            <a:avLst/>
          </a:prstGeom>
          <a:ln w="9525">
            <a:solidFill>
              <a:srgbClr val="1D1B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309360" y="3063240"/>
            <a:ext cx="4297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 i="0">
                <a:solidFill>
                  <a:srgbClr val="7B7263"/>
                </a:solidFill>
                <a:latin typeface="Georgia"/>
              </a:rPr>
              <a:t>та же сеть, γ = 0,03, маска разрывов, lr в 10 раз меньше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3977639"/>
            <a:ext cx="4297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1D1B16"/>
                </a:solidFill>
                <a:latin typeface="Georgia"/>
              </a:rPr>
              <a:t>нарушения 36 % → 0,4 %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4370832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1">
                <a:solidFill>
                  <a:srgbClr val="7B7263"/>
                </a:solidFill>
                <a:latin typeface="Georgia"/>
              </a:rPr>
              <a:t>медленно, но чинит производные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06440" y="246888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0" i="0">
                <a:solidFill>
                  <a:srgbClr val="8A5A2B"/>
                </a:solidFill>
                <a:latin typeface="Georgia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120640"/>
            <a:ext cx="10058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150" b="0" i="0">
                <a:solidFill>
                  <a:srgbClr val="1D1B16"/>
                </a:solidFill>
                <a:latin typeface="Georgia"/>
              </a:rPr>
              <a:t>Совместное обучение по двум лоссам сразу разваливало точность: градиенты физики забивали сигнал данных. Разделение этапов — главный инженерный приём работы; повторная физическая стадия улучшения не давала.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14400" y="6382512"/>
            <a:ext cx="10362895" cy="0"/>
          </a:xfrm>
          <a:prstGeom prst="line">
            <a:avLst/>
          </a:prstGeom>
          <a:ln w="6350">
            <a:solidFill>
              <a:srgbClr val="D6CC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914400" y="6455664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i="0" spc="120">
                <a:solidFill>
                  <a:srgbClr val="7B7263"/>
                </a:solidFill>
                <a:latin typeface="Georgia"/>
              </a:rPr>
              <a:t>ФИЗИЧЕСКИ СОГЛАСОВАННЫЙ СУРРОГАТ УРС АЛЮМИНИЯ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80015" y="6419088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1D1B16"/>
                </a:solidFill>
                <a:latin typeface="Georgia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42062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 spc="160">
                <a:solidFill>
                  <a:srgbClr val="7B7263"/>
                </a:solidFill>
                <a:latin typeface="Georgia"/>
              </a:rPr>
              <a:t>ИТ КОР · ТРЕК ML · КЕЙС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695" y="420624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 spc="160">
                <a:solidFill>
                  <a:srgbClr val="8A5A2B"/>
                </a:solidFill>
                <a:latin typeface="Georgia"/>
              </a:rPr>
              <a:t>РЕЗУЛЬТАТЫ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658368"/>
            <a:ext cx="10362895" cy="0"/>
          </a:xfrm>
          <a:prstGeom prst="line">
            <a:avLst/>
          </a:prstGeom>
          <a:ln w="12700">
            <a:solidFill>
              <a:srgbClr val="1D1B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14400" y="713232"/>
            <a:ext cx="10362895" cy="0"/>
          </a:xfrm>
          <a:prstGeom prst="line">
            <a:avLst/>
          </a:prstGeom>
          <a:ln w="6350">
            <a:solidFill>
              <a:srgbClr val="D6CC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14400" y="868680"/>
            <a:ext cx="98142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800" b="0" i="0">
                <a:solidFill>
                  <a:srgbClr val="1D1B16"/>
                </a:solidFill>
                <a:latin typeface="Georgia"/>
              </a:rPr>
              <a:t>Итоговое сравнение трёх подходов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572768"/>
            <a:ext cx="908273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 i="1">
                <a:solidFill>
                  <a:srgbClr val="7B7263"/>
                </a:solidFill>
                <a:latin typeface="Georgia"/>
              </a:rPr>
              <a:t>Одна и та же тестовая выборка — 226 011 точек по всей фазовой диаграмме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914400" y="2148840"/>
          <a:ext cx="10362890" cy="20116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324387"/>
                <a:gridCol w="1162193"/>
                <a:gridCol w="1259043"/>
                <a:gridCol w="1065344"/>
                <a:gridCol w="1162193"/>
                <a:gridCol w="1355892"/>
                <a:gridCol w="1162193"/>
                <a:gridCol w="871645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B7263"/>
                          </a:solidFill>
                          <a:latin typeface="Georgia"/>
                        </a:rPr>
                        <a:t>Подход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B7263"/>
                          </a:solidFill>
                          <a:latin typeface="Georgia"/>
                        </a:rPr>
                        <a:t>R²(P)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B7263"/>
                          </a:solidFill>
                          <a:latin typeface="Georgia"/>
                        </a:rPr>
                        <a:t>Медиана P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B7263"/>
                          </a:solidFill>
                          <a:latin typeface="Georgia"/>
                        </a:rPr>
                        <a:t>p95 P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B7263"/>
                          </a:solidFill>
                          <a:latin typeface="Georgia"/>
                        </a:rPr>
                        <a:t>R²(e)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B7263"/>
                          </a:solidFill>
                          <a:latin typeface="Georgia"/>
                        </a:rPr>
                        <a:t>Нарушения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B7263"/>
                          </a:solidFill>
                          <a:latin typeface="Georgia"/>
                        </a:rPr>
                        <a:t>Размер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B7263"/>
                          </a:solidFill>
                          <a:latin typeface="Georgia"/>
                        </a:rPr>
                        <a:t>мкс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D1B16"/>
                          </a:solidFill>
                          <a:latin typeface="Georgia"/>
                        </a:rPr>
                        <a:t>Baseline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D1B16"/>
                          </a:solidFill>
                          <a:latin typeface="Georgia"/>
                        </a:rPr>
                        <a:t>1,00000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D1B16"/>
                          </a:solidFill>
                          <a:latin typeface="Georgia"/>
                        </a:rPr>
                        <a:t>0,000 %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D1B16"/>
                          </a:solidFill>
                          <a:latin typeface="Georgia"/>
                        </a:rPr>
                        <a:t>0,000 %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D1B16"/>
                          </a:solidFill>
                          <a:latin typeface="Georgia"/>
                        </a:rPr>
                        <a:t>1,00000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D1B16"/>
                          </a:solidFill>
                          <a:latin typeface="Georgia"/>
                        </a:rPr>
                        <a:t>2,86 %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D1B16"/>
                          </a:solidFill>
                          <a:latin typeface="Georgia"/>
                        </a:rPr>
                        <a:t>17,2 МБ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D1B16"/>
                          </a:solidFill>
                          <a:latin typeface="Georgia"/>
                        </a:rPr>
                        <a:t>0,54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D1B16"/>
                          </a:solidFill>
                          <a:latin typeface="Georgia"/>
                        </a:rPr>
                        <a:t>Vanilla MLP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D1B16"/>
                          </a:solidFill>
                          <a:latin typeface="Georgia"/>
                        </a:rPr>
                        <a:t>0,99874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D1B16"/>
                          </a:solidFill>
                          <a:latin typeface="Georgia"/>
                        </a:rPr>
                        <a:t>9,17 %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D1B16"/>
                          </a:solidFill>
                          <a:latin typeface="Georgia"/>
                        </a:rPr>
                        <a:t>28,67 %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D1B16"/>
                          </a:solidFill>
                          <a:latin typeface="Georgia"/>
                        </a:rPr>
                        <a:t>0,99926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D1B16"/>
                          </a:solidFill>
                          <a:latin typeface="Georgia"/>
                        </a:rPr>
                        <a:t>36,17 %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D1B16"/>
                          </a:solidFill>
                          <a:latin typeface="Georgia"/>
                        </a:rPr>
                        <a:t>0,10 МБ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D1B16"/>
                          </a:solidFill>
                          <a:latin typeface="Georgia"/>
                        </a:rPr>
                        <a:t>0,98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D1B16"/>
                          </a:solidFill>
                          <a:latin typeface="Georgia"/>
                        </a:rPr>
                        <a:t>PINN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D1B16"/>
                          </a:solidFill>
                          <a:latin typeface="Georgia"/>
                        </a:rPr>
                        <a:t>0,99865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D1B16"/>
                          </a:solidFill>
                          <a:latin typeface="Georgia"/>
                        </a:rPr>
                        <a:t>8,94 %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D1B16"/>
                          </a:solidFill>
                          <a:latin typeface="Georgia"/>
                        </a:rPr>
                        <a:t>28,25 %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D1B16"/>
                          </a:solidFill>
                          <a:latin typeface="Georgia"/>
                        </a:rPr>
                        <a:t>0,99953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D1B16"/>
                          </a:solidFill>
                          <a:latin typeface="Georgia"/>
                        </a:rPr>
                        <a:t>0,43 %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D1B16"/>
                          </a:solidFill>
                          <a:latin typeface="Georgia"/>
                        </a:rPr>
                        <a:t>0,10 МБ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1D1B16"/>
                          </a:solidFill>
                          <a:latin typeface="Georgia"/>
                        </a:rPr>
                        <a:t>0,96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</a:tr>
            </a:tbl>
          </a:graphicData>
        </a:graphic>
      </p:graphicFrame>
      <p:cxnSp>
        <p:nvCxnSpPr>
          <p:cNvPr id="10" name="Connector 9"/>
          <p:cNvCxnSpPr/>
          <p:nvPr/>
        </p:nvCxnSpPr>
        <p:spPr>
          <a:xfrm>
            <a:off x="914400" y="2148840"/>
            <a:ext cx="10362895" cy="0"/>
          </a:xfrm>
          <a:prstGeom prst="line">
            <a:avLst/>
          </a:prstGeom>
          <a:ln w="9525">
            <a:solidFill>
              <a:srgbClr val="1D1B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14400" y="2606040"/>
            <a:ext cx="10362895" cy="0"/>
          </a:xfrm>
          <a:prstGeom prst="line">
            <a:avLst/>
          </a:prstGeom>
          <a:ln w="6350">
            <a:solidFill>
              <a:srgbClr val="D6CC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14400" y="3063240"/>
            <a:ext cx="10362895" cy="0"/>
          </a:xfrm>
          <a:prstGeom prst="line">
            <a:avLst/>
          </a:prstGeom>
          <a:ln w="6350">
            <a:solidFill>
              <a:srgbClr val="D6CC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14400" y="3520440"/>
            <a:ext cx="10362895" cy="0"/>
          </a:xfrm>
          <a:prstGeom prst="line">
            <a:avLst/>
          </a:prstGeom>
          <a:ln w="6350">
            <a:solidFill>
              <a:srgbClr val="D6CC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14400" y="3977639"/>
            <a:ext cx="10362895" cy="0"/>
          </a:xfrm>
          <a:prstGeom prst="line">
            <a:avLst/>
          </a:prstGeom>
          <a:ln w="6350">
            <a:solidFill>
              <a:srgbClr val="D6CC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14400" y="4663440"/>
            <a:ext cx="60350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Aft>
                <a:spcPts val="0"/>
              </a:spcAft>
            </a:pPr>
            <a:r>
              <a:rPr sz="1150" b="0" i="0">
                <a:solidFill>
                  <a:srgbClr val="1D1B16"/>
                </a:solidFill>
                <a:latin typeface="Georgia"/>
              </a:rPr>
              <a:t>Точность практически равна (9,17 % против 8,94 % по медиане), но нарушений в 84 раза больше.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4617720"/>
            <a:ext cx="38404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900" b="0" i="0">
                <a:solidFill>
                  <a:srgbClr val="7B7263"/>
                </a:solidFill>
                <a:latin typeface="Georgia"/>
              </a:rPr>
              <a:t>Размер — файл весов, мкс — batch 1 на CPU.</a:t>
            </a:r>
          </a:p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900" b="0" i="0">
                <a:solidFill>
                  <a:srgbClr val="7B7263"/>
                </a:solidFill>
                <a:latin typeface="Georgia"/>
              </a:rPr>
              <a:t>Все числа получены одним скриптом и лежат в сравнении.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14400" y="6382512"/>
            <a:ext cx="10362895" cy="0"/>
          </a:xfrm>
          <a:prstGeom prst="line">
            <a:avLst/>
          </a:prstGeom>
          <a:ln w="6350">
            <a:solidFill>
              <a:srgbClr val="D6CC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914400" y="6455664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i="0" spc="120">
                <a:solidFill>
                  <a:srgbClr val="7B7263"/>
                </a:solidFill>
                <a:latin typeface="Georgia"/>
              </a:rPr>
              <a:t>ФИЗИЧЕСКИ СОГЛАСОВАННЫЙ СУРРОГАТ УРС АЛЮМИНИЯ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80015" y="6419088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1D1B16"/>
                </a:solidFill>
                <a:latin typeface="Georgia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42062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 spc="160">
                <a:solidFill>
                  <a:srgbClr val="7B7263"/>
                </a:solidFill>
                <a:latin typeface="Georgia"/>
              </a:rPr>
              <a:t>ИТ КОР · ТРЕК ML · КЕЙС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695" y="420624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 spc="160">
                <a:solidFill>
                  <a:srgbClr val="8A5A2B"/>
                </a:solidFill>
                <a:latin typeface="Georgia"/>
              </a:rPr>
              <a:t>ДИАГНОСТИКА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658368"/>
            <a:ext cx="10362895" cy="0"/>
          </a:xfrm>
          <a:prstGeom prst="line">
            <a:avLst/>
          </a:prstGeom>
          <a:ln w="12700">
            <a:solidFill>
              <a:srgbClr val="1D1B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14400" y="713232"/>
            <a:ext cx="10362895" cy="0"/>
          </a:xfrm>
          <a:prstGeom prst="line">
            <a:avLst/>
          </a:prstGeom>
          <a:ln w="6350">
            <a:solidFill>
              <a:srgbClr val="D6CC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14400" y="868680"/>
            <a:ext cx="98142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800" b="0" i="0">
                <a:solidFill>
                  <a:srgbClr val="1D1B16"/>
                </a:solidFill>
                <a:latin typeface="Georgia"/>
              </a:rPr>
              <a:t>Где модель ошибается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572768"/>
            <a:ext cx="908273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 i="1">
                <a:solidFill>
                  <a:srgbClr val="7B7263"/>
                </a:solidFill>
                <a:latin typeface="Georgia"/>
              </a:rPr>
              <a:t>Относительная ошибка P на сетке 240 × 320 точек по всей диаграмме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103120"/>
            <a:ext cx="7406640" cy="3474720"/>
          </a:xfrm>
          <a:prstGeom prst="rect">
            <a:avLst/>
          </a:prstGeom>
          <a:solidFill>
            <a:srgbClr val="FFFCF5"/>
          </a:solidFill>
          <a:ln w="9525">
            <a:solidFill>
              <a:srgbClr val="D6CC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error_ma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7471" y="2194560"/>
            <a:ext cx="6020497" cy="329183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4400" y="5650992"/>
            <a:ext cx="7406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7B7263"/>
                </a:solidFill>
                <a:latin typeface="Georgia"/>
              </a:rPr>
              <a:t>Рис. 3. Слева Vanilla, справа PINN. Шкала общая, обрезка на 99-м проценте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641080" y="2103120"/>
            <a:ext cx="0" cy="3657600"/>
          </a:xfrm>
          <a:prstGeom prst="line">
            <a:avLst/>
          </a:prstGeom>
          <a:ln w="9525">
            <a:solidFill>
              <a:srgbClr val="D6CC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006840" y="2148840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7B7263"/>
                </a:solidFill>
                <a:latin typeface="Georgia"/>
              </a:rPr>
              <a:t>Разрывы (16,3 %)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211226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1D1B16"/>
                </a:solidFill>
                <a:latin typeface="Georgia"/>
              </a:rPr>
              <a:t>13,4 %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006840" y="2606040"/>
            <a:ext cx="2788919" cy="0"/>
          </a:xfrm>
          <a:prstGeom prst="line">
            <a:avLst/>
          </a:prstGeom>
          <a:ln w="6350">
            <a:solidFill>
              <a:srgbClr val="D6CC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006840" y="2788920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7B7263"/>
                </a:solidFill>
                <a:latin typeface="Georgia"/>
              </a:rPr>
              <a:t>Гладкие зоны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275234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1D1B16"/>
                </a:solidFill>
                <a:latin typeface="Georgia"/>
              </a:rPr>
              <a:t>8,1 %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006840" y="3246120"/>
            <a:ext cx="2788919" cy="0"/>
          </a:xfrm>
          <a:prstGeom prst="line">
            <a:avLst/>
          </a:prstGeom>
          <a:ln w="6350">
            <a:solidFill>
              <a:srgbClr val="D6CC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006840" y="3429000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7B7263"/>
                </a:solidFill>
                <a:latin typeface="Georgia"/>
              </a:rPr>
              <a:t>Медиана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339242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1D1B16"/>
                </a:solidFill>
                <a:latin typeface="Georgia"/>
              </a:rPr>
              <a:t>8,94 %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006840" y="3886200"/>
            <a:ext cx="2788919" cy="0"/>
          </a:xfrm>
          <a:prstGeom prst="line">
            <a:avLst/>
          </a:prstGeom>
          <a:ln w="6350">
            <a:solidFill>
              <a:srgbClr val="D6CC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006840" y="4206240"/>
            <a:ext cx="283464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 i="0">
                <a:solidFill>
                  <a:srgbClr val="1D1B16"/>
                </a:solidFill>
                <a:latin typeface="Georgia"/>
              </a:rPr>
              <a:t>Ошибка концентрируется узкой полосой вдоль разрывов: там она в 1,7 раза выше, чем в гладких зонах.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14400" y="6382512"/>
            <a:ext cx="10362895" cy="0"/>
          </a:xfrm>
          <a:prstGeom prst="line">
            <a:avLst/>
          </a:prstGeom>
          <a:ln w="6350">
            <a:solidFill>
              <a:srgbClr val="D6CC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914400" y="6455664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i="0" spc="120">
                <a:solidFill>
                  <a:srgbClr val="7B7263"/>
                </a:solidFill>
                <a:latin typeface="Georgia"/>
              </a:rPr>
              <a:t>ФИЗИЧЕСКИ СОГЛАСОВАННЫЙ СУРРОГАТ УРС АЛЮМИНИЯ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80015" y="6419088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1D1B16"/>
                </a:solidFill>
                <a:latin typeface="Georgia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42062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 spc="160">
                <a:solidFill>
                  <a:srgbClr val="7B7263"/>
                </a:solidFill>
                <a:latin typeface="Georgia"/>
              </a:rPr>
              <a:t>ИТ КОР · ТРЕК ML · КЕЙС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695" y="420624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 spc="160">
                <a:solidFill>
                  <a:srgbClr val="8A5A2B"/>
                </a:solidFill>
                <a:latin typeface="Georgia"/>
              </a:rPr>
              <a:t>ДИАГНОСТИКА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658368"/>
            <a:ext cx="10362895" cy="0"/>
          </a:xfrm>
          <a:prstGeom prst="line">
            <a:avLst/>
          </a:prstGeom>
          <a:ln w="12700">
            <a:solidFill>
              <a:srgbClr val="1D1B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14400" y="713232"/>
            <a:ext cx="10362895" cy="0"/>
          </a:xfrm>
          <a:prstGeom prst="line">
            <a:avLst/>
          </a:prstGeom>
          <a:ln w="6350">
            <a:solidFill>
              <a:srgbClr val="D6CC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14400" y="868680"/>
            <a:ext cx="98142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800" b="0" i="0">
                <a:solidFill>
                  <a:srgbClr val="1D1B16"/>
                </a:solidFill>
                <a:latin typeface="Georgia"/>
              </a:rPr>
              <a:t>Карта нарушений: физика под контролем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572768"/>
            <a:ext cx="908273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 i="1">
                <a:solidFill>
                  <a:srgbClr val="7B7263"/>
                </a:solidFill>
                <a:latin typeface="Georgia"/>
              </a:rPr>
              <a:t>Флаги нарушений в каждой точке — это и есть метод check_physics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103120"/>
            <a:ext cx="6035040" cy="3520440"/>
          </a:xfrm>
          <a:prstGeom prst="rect">
            <a:avLst/>
          </a:prstGeom>
          <a:solidFill>
            <a:srgbClr val="FFFCF5"/>
          </a:solidFill>
          <a:ln w="9525">
            <a:solidFill>
              <a:srgbClr val="D6CC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violation_ma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503794"/>
            <a:ext cx="5852159" cy="271909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4400" y="5696712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7B7263"/>
                </a:solidFill>
                <a:latin typeface="Georgia"/>
              </a:rPr>
              <a:t>Рис. 4. Площадь нарушений: Vanilla слева, PINN справа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269480" y="2103120"/>
            <a:ext cx="0" cy="3566159"/>
          </a:xfrm>
          <a:prstGeom prst="line">
            <a:avLst/>
          </a:prstGeom>
          <a:ln w="9525">
            <a:solidFill>
              <a:srgbClr val="D6CC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635240" y="2148840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7B7263"/>
                </a:solidFill>
                <a:latin typeface="Georgia"/>
              </a:rPr>
              <a:t>Vanilla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2368296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D1B16"/>
                </a:solidFill>
                <a:latin typeface="Georgia"/>
              </a:rPr>
              <a:t>36,17 % точек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35240" y="2697480"/>
            <a:ext cx="2377440" cy="0"/>
          </a:xfrm>
          <a:prstGeom prst="line">
            <a:avLst/>
          </a:prstGeom>
          <a:ln w="6350">
            <a:solidFill>
              <a:srgbClr val="D6CC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635240" y="2770632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7B7263"/>
                </a:solidFill>
                <a:latin typeface="Georgia"/>
              </a:rPr>
              <a:t>PINN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40" y="29900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D1B16"/>
                </a:solidFill>
                <a:latin typeface="Georgia"/>
              </a:rPr>
              <a:t>0,43 % точек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35240" y="3319272"/>
            <a:ext cx="2377440" cy="0"/>
          </a:xfrm>
          <a:prstGeom prst="line">
            <a:avLst/>
          </a:prstGeom>
          <a:ln w="6350">
            <a:solidFill>
              <a:srgbClr val="D6CC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635240" y="3392424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7B7263"/>
                </a:solidFill>
                <a:latin typeface="Georgia"/>
              </a:rPr>
              <a:t>Площадь, Vanilla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361188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D1B16"/>
                </a:solidFill>
                <a:latin typeface="Georgia"/>
              </a:rPr>
              <a:t>40 %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35240" y="3941063"/>
            <a:ext cx="2377440" cy="0"/>
          </a:xfrm>
          <a:prstGeom prst="line">
            <a:avLst/>
          </a:prstGeom>
          <a:ln w="6350">
            <a:solidFill>
              <a:srgbClr val="D6CC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635240" y="4014216"/>
            <a:ext cx="20116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7B7263"/>
                </a:solidFill>
                <a:latin typeface="Georgia"/>
              </a:rPr>
              <a:t>Площадь, PINN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35240" y="4233672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>
                <a:solidFill>
                  <a:srgbClr val="1D1B16"/>
                </a:solidFill>
                <a:latin typeface="Georgia"/>
              </a:rPr>
              <a:t>0,7 %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635240" y="4562856"/>
            <a:ext cx="2377440" cy="0"/>
          </a:xfrm>
          <a:prstGeom prst="line">
            <a:avLst/>
          </a:prstGeom>
          <a:ln w="6350">
            <a:solidFill>
              <a:srgbClr val="D6CC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635240" y="4709160"/>
            <a:ext cx="24688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00" b="0" i="0">
                <a:solidFill>
                  <a:srgbClr val="1D1B16"/>
                </a:solidFill>
                <a:latin typeface="Georgia"/>
              </a:rPr>
              <a:t>У PINN остаётся тонкая полоса на стыке регионов, где разрывна сама таблица.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14400" y="6382512"/>
            <a:ext cx="10362895" cy="0"/>
          </a:xfrm>
          <a:prstGeom prst="line">
            <a:avLst/>
          </a:prstGeom>
          <a:ln w="6350">
            <a:solidFill>
              <a:srgbClr val="D6CC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14400" y="6455664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i="0" spc="120">
                <a:solidFill>
                  <a:srgbClr val="7B7263"/>
                </a:solidFill>
                <a:latin typeface="Georgia"/>
              </a:rPr>
              <a:t>ФИЗИЧЕСКИ СОГЛАСОВАННЫЙ СУРРОГАТ УРС АЛЮМИНИЯ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80015" y="6419088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1D1B16"/>
                </a:solidFill>
                <a:latin typeface="Georgia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42062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 spc="160">
                <a:solidFill>
                  <a:srgbClr val="7B7263"/>
                </a:solidFill>
                <a:latin typeface="Georgia"/>
              </a:rPr>
              <a:t>ИТ КОР · ТРЕК ML · КЕЙС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695" y="420624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 spc="160">
                <a:solidFill>
                  <a:srgbClr val="8A5A2B"/>
                </a:solidFill>
                <a:latin typeface="Georgia"/>
              </a:rPr>
              <a:t>ФИЗИКА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658368"/>
            <a:ext cx="10362895" cy="0"/>
          </a:xfrm>
          <a:prstGeom prst="line">
            <a:avLst/>
          </a:prstGeom>
          <a:ln w="12700">
            <a:solidFill>
              <a:srgbClr val="1D1B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14400" y="713232"/>
            <a:ext cx="10362895" cy="0"/>
          </a:xfrm>
          <a:prstGeom prst="line">
            <a:avLst/>
          </a:prstGeom>
          <a:ln w="6350">
            <a:solidFill>
              <a:srgbClr val="D6CC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14400" y="868680"/>
            <a:ext cx="98142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800" b="0" i="0">
                <a:solidFill>
                  <a:srgbClr val="1D1B16"/>
                </a:solidFill>
                <a:latin typeface="Georgia"/>
              </a:rPr>
              <a:t>Скорость звука: сверка с таблицей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572768"/>
            <a:ext cx="908273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 i="1">
                <a:solidFill>
                  <a:srgbClr val="7B7263"/>
                </a:solidFill>
                <a:latin typeface="Georgia"/>
              </a:rPr>
              <a:t>Самая чувствительная к производным величина: сверка с табличными конечными разностями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103120"/>
            <a:ext cx="5120640" cy="3657600"/>
          </a:xfrm>
          <a:prstGeom prst="rect">
            <a:avLst/>
          </a:prstGeom>
          <a:solidFill>
            <a:srgbClr val="FFFCF5"/>
          </a:solidFill>
          <a:ln w="9525">
            <a:solidFill>
              <a:srgbClr val="D6CC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cs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919" y="2194560"/>
            <a:ext cx="4245601" cy="34747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4400" y="5833872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7B7263"/>
                </a:solidFill>
                <a:latin typeface="Georgia"/>
              </a:rPr>
              <a:t>Рис. 5. c_s по PINN против табличной c_s, км/с; линия — идеальное совпадение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355080" y="2103120"/>
            <a:ext cx="0" cy="3749039"/>
          </a:xfrm>
          <a:prstGeom prst="line">
            <a:avLst/>
          </a:prstGeom>
          <a:ln w="9525">
            <a:solidFill>
              <a:srgbClr val="D6CC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720840" y="2148840"/>
            <a:ext cx="2377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7B7263"/>
                </a:solidFill>
                <a:latin typeface="Georgia"/>
              </a:rPr>
              <a:t>R² в лог-шкале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2368296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1D1B16"/>
                </a:solidFill>
                <a:latin typeface="Georgia"/>
              </a:rPr>
              <a:t>0,94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720840" y="2715768"/>
            <a:ext cx="3017519" cy="0"/>
          </a:xfrm>
          <a:prstGeom prst="line">
            <a:avLst/>
          </a:prstGeom>
          <a:ln w="6350">
            <a:solidFill>
              <a:srgbClr val="D6CC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720840" y="2807208"/>
            <a:ext cx="2377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7B7263"/>
                </a:solidFill>
                <a:latin typeface="Georgia"/>
              </a:rPr>
              <a:t>Медианное отклонение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3026664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1D1B16"/>
                </a:solidFill>
                <a:latin typeface="Georgia"/>
              </a:rPr>
              <a:t>13,0 %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720840" y="3374136"/>
            <a:ext cx="3017519" cy="0"/>
          </a:xfrm>
          <a:prstGeom prst="line">
            <a:avLst/>
          </a:prstGeom>
          <a:ln w="6350">
            <a:solidFill>
              <a:srgbClr val="D6CC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720840" y="3465576"/>
            <a:ext cx="2377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7B7263"/>
                </a:solidFill>
                <a:latin typeface="Georgia"/>
              </a:rPr>
              <a:t>p95 отклонения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3685032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1D1B16"/>
                </a:solidFill>
                <a:latin typeface="Georgia"/>
              </a:rPr>
              <a:t>65 %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720840" y="4032504"/>
            <a:ext cx="3017519" cy="0"/>
          </a:xfrm>
          <a:prstGeom prst="line">
            <a:avLst/>
          </a:prstGeom>
          <a:ln w="6350">
            <a:solidFill>
              <a:srgbClr val="D6CC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720840" y="4123944"/>
            <a:ext cx="2377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7B7263"/>
                </a:solidFill>
                <a:latin typeface="Georgia"/>
              </a:rPr>
              <a:t>Точек с c_s ≥ 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4343400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1D1B16"/>
                </a:solidFill>
                <a:latin typeface="Georgia"/>
              </a:rPr>
              <a:t>0 %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720840" y="4690872"/>
            <a:ext cx="3017519" cy="0"/>
          </a:xfrm>
          <a:prstGeom prst="line">
            <a:avLst/>
          </a:prstGeom>
          <a:ln w="6350">
            <a:solidFill>
              <a:srgbClr val="D6CC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720840" y="5029200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00" b="0" i="0">
                <a:solidFill>
                  <a:srgbClr val="1D1B16"/>
                </a:solidFill>
                <a:latin typeface="Georgia"/>
              </a:rPr>
              <a:t>Расхождения — там, где табличная c_s не определена.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14400" y="6382512"/>
            <a:ext cx="10362895" cy="0"/>
          </a:xfrm>
          <a:prstGeom prst="line">
            <a:avLst/>
          </a:prstGeom>
          <a:ln w="6350">
            <a:solidFill>
              <a:srgbClr val="D6CC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14400" y="6455664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i="0" spc="120">
                <a:solidFill>
                  <a:srgbClr val="7B7263"/>
                </a:solidFill>
                <a:latin typeface="Georgia"/>
              </a:rPr>
              <a:t>ФИЗИЧЕСКИ СОГЛАСОВАННЫЙ СУРРОГАТ УРС АЛЮМИНИЯ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80015" y="6419088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1D1B16"/>
                </a:solidFill>
                <a:latin typeface="Georgia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42062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 spc="160">
                <a:solidFill>
                  <a:srgbClr val="7B7263"/>
                </a:solidFill>
                <a:latin typeface="Georgia"/>
              </a:rPr>
              <a:t>ИТ КОР · ТРЕК ML · КЕЙС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695" y="420624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 spc="160">
                <a:solidFill>
                  <a:srgbClr val="8A5A2B"/>
                </a:solidFill>
                <a:latin typeface="Georgia"/>
              </a:rPr>
              <a:t>УПАКОВКА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658368"/>
            <a:ext cx="10362895" cy="0"/>
          </a:xfrm>
          <a:prstGeom prst="line">
            <a:avLst/>
          </a:prstGeom>
          <a:ln w="12700">
            <a:solidFill>
              <a:srgbClr val="1D1B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14400" y="713232"/>
            <a:ext cx="10362895" cy="0"/>
          </a:xfrm>
          <a:prstGeom prst="line">
            <a:avLst/>
          </a:prstGeom>
          <a:ln w="6350">
            <a:solidFill>
              <a:srgbClr val="D6CC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14400" y="868680"/>
            <a:ext cx="98142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800" b="0" i="0">
                <a:solidFill>
                  <a:srgbClr val="1D1B16"/>
                </a:solidFill>
                <a:latin typeface="Georgia"/>
              </a:rPr>
              <a:t>EOSSurrogate: три метода и файл на 0,1 МБ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572768"/>
            <a:ext cx="908273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 i="1">
                <a:solidFill>
                  <a:srgbClr val="7B7263"/>
                </a:solidFill>
                <a:latin typeface="Georgia"/>
              </a:rPr>
              <a:t>Класс-обёртка на 90 строк: docstrings Google-style, проверка области определения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148840"/>
            <a:ext cx="5852160" cy="379476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914400" y="2148840"/>
            <a:ext cx="50292" cy="3794760"/>
          </a:xfrm>
          <a:prstGeom prst="rect">
            <a:avLst/>
          </a:prstGeom>
          <a:solidFill>
            <a:srgbClr val="8A5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115568" y="2289657"/>
            <a:ext cx="5449824" cy="3593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950" b="0">
                <a:solidFill>
                  <a:srgbClr val="1D1B16"/>
                </a:solidFill>
                <a:latin typeface="Consolas"/>
              </a:rPr>
              <a:t>from eos_surrogate import EOSSurrogate</a:t>
            </a:r>
          </a:p>
          <a:p>
            <a:pPr>
              <a:lnSpc>
                <a:spcPct val="122000"/>
              </a:lnSpc>
            </a:pPr>
            <a:r>
              <a:rPr sz="950" b="0">
                <a:solidFill>
                  <a:srgbClr val="1D1B16"/>
                </a:solidFill>
                <a:latin typeface="Consolas"/>
              </a:rPr>
              <a:t> </a:t>
            </a:r>
          </a:p>
          <a:p>
            <a:pPr>
              <a:lnSpc>
                <a:spcPct val="122000"/>
              </a:lnSpc>
            </a:pPr>
            <a:r>
              <a:rPr sz="950" b="0">
                <a:solidFill>
                  <a:srgbClr val="1D1B16"/>
                </a:solidFill>
                <a:latin typeface="Consolas"/>
              </a:rPr>
              <a:t>eos = EOSSurrogate("pinn_best_physics.pt",</a:t>
            </a:r>
          </a:p>
          <a:p>
            <a:pPr>
              <a:lnSpc>
                <a:spcPct val="122000"/>
              </a:lnSpc>
            </a:pPr>
            <a:r>
              <a:rPr sz="950" b="0">
                <a:solidFill>
                  <a:srgbClr val="1D1B16"/>
                </a:solidFill>
                <a:latin typeface="Consolas"/>
              </a:rPr>
              <a:t>                   "normalization.json")</a:t>
            </a:r>
          </a:p>
          <a:p>
            <a:pPr>
              <a:lnSpc>
                <a:spcPct val="122000"/>
              </a:lnSpc>
            </a:pPr>
            <a:r>
              <a:rPr sz="950" b="0">
                <a:solidFill>
                  <a:srgbClr val="1D1B16"/>
                </a:solidFill>
                <a:latin typeface="Consolas"/>
              </a:rPr>
              <a:t> </a:t>
            </a:r>
          </a:p>
          <a:p>
            <a:pPr>
              <a:lnSpc>
                <a:spcPct val="122000"/>
              </a:lnSpc>
            </a:pPr>
            <a:r>
              <a:rPr sz="950" b="0">
                <a:solidFill>
                  <a:srgbClr val="1D1B16"/>
                </a:solidFill>
                <a:latin typeface="Consolas"/>
              </a:rPr>
              <a:t>P, e = eos.predict(rho, T)       # ГПа, кДж/г</a:t>
            </a:r>
          </a:p>
          <a:p>
            <a:pPr>
              <a:lnSpc>
                <a:spcPct val="122000"/>
              </a:lnSpc>
            </a:pPr>
            <a:r>
              <a:rPr sz="950" b="0">
                <a:solidFill>
                  <a:srgbClr val="1D1B16"/>
                </a:solidFill>
                <a:latin typeface="Consolas"/>
              </a:rPr>
              <a:t>cs   = eos.sound_speed(rho, T)   # см/с</a:t>
            </a:r>
          </a:p>
          <a:p>
            <a:pPr>
              <a:lnSpc>
                <a:spcPct val="122000"/>
              </a:lnSpc>
            </a:pPr>
            <a:r>
              <a:rPr sz="950" b="0">
                <a:solidFill>
                  <a:srgbClr val="1D1B16"/>
                </a:solidFill>
                <a:latin typeface="Consolas"/>
              </a:rPr>
              <a:t>flags = eos.check_physics(rho, T)</a:t>
            </a:r>
          </a:p>
          <a:p>
            <a:pPr>
              <a:lnSpc>
                <a:spcPct val="122000"/>
              </a:lnSpc>
            </a:pPr>
            <a:r>
              <a:rPr sz="950" b="0">
                <a:solidFill>
                  <a:srgbClr val="7B7263"/>
                </a:solidFill>
                <a:latin typeface="Consolas"/>
              </a:rPr>
              <a:t>#   stable, positive_heat_capacity,</a:t>
            </a:r>
          </a:p>
          <a:p>
            <a:pPr>
              <a:lnSpc>
                <a:spcPct val="122000"/>
              </a:lnSpc>
            </a:pPr>
            <a:r>
              <a:rPr sz="950" b="0">
                <a:solidFill>
                  <a:srgbClr val="7B7263"/>
                </a:solidFill>
                <a:latin typeface="Consolas"/>
              </a:rPr>
              <a:t>#   causal_sound_speed, in_domain, ok</a:t>
            </a:r>
          </a:p>
          <a:p>
            <a:pPr>
              <a:lnSpc>
                <a:spcPct val="122000"/>
              </a:lnSpc>
            </a:pPr>
            <a:r>
              <a:rPr sz="950" b="0">
                <a:solidFill>
                  <a:srgbClr val="1D1B16"/>
                </a:solidFill>
                <a:latin typeface="Consolas"/>
              </a:rPr>
              <a:t> </a:t>
            </a:r>
          </a:p>
          <a:p>
            <a:pPr>
              <a:lnSpc>
                <a:spcPct val="122000"/>
              </a:lnSpc>
            </a:pPr>
            <a:r>
              <a:rPr sz="950" b="0">
                <a:solidFill>
                  <a:srgbClr val="1D1B16"/>
                </a:solidFill>
                <a:latin typeface="Consolas"/>
              </a:rPr>
              <a:t>&gt;&gt;&gt; P, e = eos.predict(2.7, 1e4)</a:t>
            </a:r>
          </a:p>
          <a:p>
            <a:pPr>
              <a:lnSpc>
                <a:spcPct val="122000"/>
              </a:lnSpc>
            </a:pPr>
            <a:r>
              <a:rPr sz="950" b="0">
                <a:solidFill>
                  <a:srgbClr val="1D1B16"/>
                </a:solidFill>
                <a:latin typeface="Consolas"/>
              </a:rPr>
              <a:t>&gt;&gt;&gt; flags["ok"]</a:t>
            </a:r>
          </a:p>
          <a:p>
            <a:pPr>
              <a:lnSpc>
                <a:spcPct val="122000"/>
              </a:lnSpc>
            </a:pPr>
            <a:r>
              <a:rPr sz="950" b="0">
                <a:solidFill>
                  <a:srgbClr val="1D1B16"/>
                </a:solidFill>
                <a:latin typeface="Consolas"/>
              </a:rPr>
              <a:t>array([ True])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086600" y="2148840"/>
            <a:ext cx="0" cy="3657600"/>
          </a:xfrm>
          <a:prstGeom prst="line">
            <a:avLst/>
          </a:prstGeom>
          <a:ln w="9525">
            <a:solidFill>
              <a:srgbClr val="D6CC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452360" y="2194560"/>
            <a:ext cx="3566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1D1B16"/>
                </a:solidFill>
                <a:latin typeface="Consolas"/>
              </a:rPr>
              <a:t>predict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2360" y="2414015"/>
            <a:ext cx="3566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7B7263"/>
                </a:solidFill>
                <a:latin typeface="Georgia"/>
              </a:rPr>
              <a:t>векторный инференс P и 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452360" y="2743200"/>
            <a:ext cx="3566160" cy="0"/>
          </a:xfrm>
          <a:prstGeom prst="line">
            <a:avLst/>
          </a:prstGeom>
          <a:ln w="6350">
            <a:solidFill>
              <a:srgbClr val="D6CC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452360" y="2971800"/>
            <a:ext cx="3566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1D1B16"/>
                </a:solidFill>
                <a:latin typeface="Consolas"/>
              </a:rPr>
              <a:t>sound_speed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2360" y="3191256"/>
            <a:ext cx="3566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7B7263"/>
                </a:solidFill>
                <a:latin typeface="Georgia"/>
              </a:rPr>
              <a:t>autograd внутри, СГС на выходе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452360" y="3520440"/>
            <a:ext cx="3566160" cy="0"/>
          </a:xfrm>
          <a:prstGeom prst="line">
            <a:avLst/>
          </a:prstGeom>
          <a:ln w="6350">
            <a:solidFill>
              <a:srgbClr val="D6CC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452360" y="3749039"/>
            <a:ext cx="3566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1D1B16"/>
                </a:solidFill>
                <a:latin typeface="Consolas"/>
              </a:rPr>
              <a:t>check_physics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60" y="3968496"/>
            <a:ext cx="3566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7B7263"/>
                </a:solidFill>
                <a:latin typeface="Georgia"/>
              </a:rPr>
              <a:t>маски нарушений и флаг ok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452360" y="4297679"/>
            <a:ext cx="3566160" cy="0"/>
          </a:xfrm>
          <a:prstGeom prst="line">
            <a:avLst/>
          </a:prstGeom>
          <a:ln w="6350">
            <a:solidFill>
              <a:srgbClr val="D6CC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452360" y="4526279"/>
            <a:ext cx="3566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1D1B16"/>
                </a:solidFill>
                <a:latin typeface="Consolas"/>
              </a:rPr>
              <a:t>in_domain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2360" y="4745736"/>
            <a:ext cx="3566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7B7263"/>
                </a:solidFill>
                <a:latin typeface="Georgia"/>
              </a:rPr>
              <a:t>границы области определения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452360" y="5074919"/>
            <a:ext cx="3566160" cy="0"/>
          </a:xfrm>
          <a:prstGeom prst="line">
            <a:avLst/>
          </a:prstGeom>
          <a:ln w="6350">
            <a:solidFill>
              <a:srgbClr val="D6CC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452360" y="544068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 i="1">
                <a:solidFill>
                  <a:srgbClr val="8A5A2B"/>
                </a:solidFill>
                <a:latin typeface="Georgia"/>
              </a:rPr>
              <a:t>10⁵ запросов — 0,13 с на CPU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14400" y="6382512"/>
            <a:ext cx="10362895" cy="0"/>
          </a:xfrm>
          <a:prstGeom prst="line">
            <a:avLst/>
          </a:prstGeom>
          <a:ln w="6350">
            <a:solidFill>
              <a:srgbClr val="D6CC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14400" y="6455664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i="0" spc="120">
                <a:solidFill>
                  <a:srgbClr val="7B7263"/>
                </a:solidFill>
                <a:latin typeface="Georgia"/>
              </a:rPr>
              <a:t>ФИЗИЧЕСКИ СОГЛАСОВАННЫЙ СУРРОГАТ УРС АЛЮМИНИЯ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80015" y="6419088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1D1B16"/>
                </a:solidFill>
                <a:latin typeface="Georgia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42062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 spc="160">
                <a:solidFill>
                  <a:srgbClr val="7B7263"/>
                </a:solidFill>
                <a:latin typeface="Georgia"/>
              </a:rPr>
              <a:t>ИТ КОР · ТРЕК ML · КЕЙС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695" y="420624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 spc="160">
                <a:solidFill>
                  <a:srgbClr val="8A5A2B"/>
                </a:solidFill>
                <a:latin typeface="Georgia"/>
              </a:rPr>
              <a:t>ОПТИМИЗАЦИЯ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658368"/>
            <a:ext cx="10362895" cy="0"/>
          </a:xfrm>
          <a:prstGeom prst="line">
            <a:avLst/>
          </a:prstGeom>
          <a:ln w="12700">
            <a:solidFill>
              <a:srgbClr val="1D1B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14400" y="713232"/>
            <a:ext cx="10362895" cy="0"/>
          </a:xfrm>
          <a:prstGeom prst="line">
            <a:avLst/>
          </a:prstGeom>
          <a:ln w="6350">
            <a:solidFill>
              <a:srgbClr val="D6CC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14400" y="868680"/>
            <a:ext cx="98142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800" b="0" i="0">
                <a:solidFill>
                  <a:srgbClr val="1D1B16"/>
                </a:solidFill>
                <a:latin typeface="Georgia"/>
              </a:rPr>
              <a:t>Сжатие и скорость: TorchScript и int8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572768"/>
            <a:ext cx="908273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 i="1">
                <a:solidFill>
                  <a:srgbClr val="7B7263"/>
                </a:solidFill>
                <a:latin typeface="Georgia"/>
              </a:rPr>
              <a:t>Дополнительный этап кейса: измеримый эффект оптимизации модели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103120"/>
            <a:ext cx="5943600" cy="3566160"/>
          </a:xfrm>
          <a:prstGeom prst="rect">
            <a:avLst/>
          </a:prstGeom>
          <a:solidFill>
            <a:srgbClr val="FFFCF5"/>
          </a:solidFill>
          <a:ln w="9525">
            <a:solidFill>
              <a:srgbClr val="D6CC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size_spe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694908"/>
            <a:ext cx="5760720" cy="238258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4400" y="5742431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50" b="0" i="1">
                <a:solidFill>
                  <a:srgbClr val="7B7263"/>
                </a:solidFill>
                <a:latin typeface="Georgia"/>
              </a:rPr>
              <a:t>Рис. 6. Размер весов и время одиночного запроса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223760" y="2148840"/>
          <a:ext cx="3566159" cy="16459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528354"/>
                <a:gridCol w="1222683"/>
                <a:gridCol w="815122"/>
              </a:tblGrid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7B7263"/>
                          </a:solidFill>
                          <a:latin typeface="Georgia"/>
                        </a:rPr>
                        <a:t>Вариант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B7263"/>
                          </a:solidFill>
                          <a:latin typeface="Georgia"/>
                        </a:rPr>
                        <a:t>Размер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>
                          <a:solidFill>
                            <a:srgbClr val="7B7263"/>
                          </a:solidFill>
                          <a:latin typeface="Georgia"/>
                        </a:rPr>
                        <a:t>мкс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D1B16"/>
                          </a:solidFill>
                          <a:latin typeface="Georgia"/>
                        </a:rPr>
                        <a:t>fp32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D1B16"/>
                          </a:solidFill>
                          <a:latin typeface="Georgia"/>
                        </a:rPr>
                        <a:t>0,099 МБ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D1B16"/>
                          </a:solidFill>
                          <a:latin typeface="Georgia"/>
                        </a:rPr>
                        <a:t>47,7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D1B16"/>
                          </a:solidFill>
                          <a:latin typeface="Georgia"/>
                        </a:rPr>
                        <a:t>TorchScript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D1B16"/>
                          </a:solidFill>
                          <a:latin typeface="Georgia"/>
                        </a:rPr>
                        <a:t>0,107 МБ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D1B16"/>
                          </a:solidFill>
                          <a:latin typeface="Georgia"/>
                        </a:rPr>
                        <a:t>29,7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1D1B16"/>
                          </a:solidFill>
                          <a:latin typeface="Georgia"/>
                        </a:rPr>
                        <a:t>int8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D1B16"/>
                          </a:solidFill>
                          <a:latin typeface="Georgia"/>
                        </a:rPr>
                        <a:t>0,031 МБ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>
                          <a:solidFill>
                            <a:srgbClr val="1D1B16"/>
                          </a:solidFill>
                          <a:latin typeface="Georgia"/>
                        </a:rPr>
                        <a:t>130,9</a:t>
                      </a:r>
                    </a:p>
                  </a:txBody>
                  <a:tcPr marL="91440" marR="73152" marT="36576" marB="36576" anchor="ctr">
                    <a:noFill/>
                  </a:tcPr>
                </a:tc>
              </a:tr>
            </a:tbl>
          </a:graphicData>
        </a:graphic>
      </p:graphicFrame>
      <p:cxnSp>
        <p:nvCxnSpPr>
          <p:cNvPr id="13" name="Connector 12"/>
          <p:cNvCxnSpPr/>
          <p:nvPr/>
        </p:nvCxnSpPr>
        <p:spPr>
          <a:xfrm>
            <a:off x="7223760" y="2148840"/>
            <a:ext cx="3931920" cy="0"/>
          </a:xfrm>
          <a:prstGeom prst="line">
            <a:avLst/>
          </a:prstGeom>
          <a:ln w="9525">
            <a:solidFill>
              <a:srgbClr val="1D1B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223760" y="2560320"/>
            <a:ext cx="3931920" cy="0"/>
          </a:xfrm>
          <a:prstGeom prst="line">
            <a:avLst/>
          </a:prstGeom>
          <a:ln w="6350">
            <a:solidFill>
              <a:srgbClr val="D6CC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223760" y="2971800"/>
            <a:ext cx="3931920" cy="0"/>
          </a:xfrm>
          <a:prstGeom prst="line">
            <a:avLst/>
          </a:prstGeom>
          <a:ln w="6350">
            <a:solidFill>
              <a:srgbClr val="D6CC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223760" y="3383280"/>
            <a:ext cx="3931920" cy="0"/>
          </a:xfrm>
          <a:prstGeom prst="line">
            <a:avLst/>
          </a:prstGeom>
          <a:ln w="6350">
            <a:solidFill>
              <a:srgbClr val="D6CC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995160" y="2103120"/>
            <a:ext cx="0" cy="3657600"/>
          </a:xfrm>
          <a:prstGeom prst="line">
            <a:avLst/>
          </a:prstGeom>
          <a:ln w="9525">
            <a:solidFill>
              <a:srgbClr val="D6CC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223760" y="4069080"/>
            <a:ext cx="393192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 i="0">
                <a:solidFill>
                  <a:srgbClr val="1D1B16"/>
                </a:solidFill>
                <a:latin typeface="Georgia"/>
              </a:rPr>
              <a:t>TorchScript ускоряет batch-1 в 1,6 раза без потери точности. int8 сжимает веса в 3,2 раза при p99 отклонения 0,031 в нормированных единицах. Для гидрокода выбираем TorchScript.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14400" y="6382512"/>
            <a:ext cx="10362895" cy="0"/>
          </a:xfrm>
          <a:prstGeom prst="line">
            <a:avLst/>
          </a:prstGeom>
          <a:ln w="6350">
            <a:solidFill>
              <a:srgbClr val="D6CC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914400" y="6455664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i="0" spc="120">
                <a:solidFill>
                  <a:srgbClr val="7B7263"/>
                </a:solidFill>
                <a:latin typeface="Georgia"/>
              </a:rPr>
              <a:t>ФИЗИЧЕСКИ СОГЛАСОВАННЫЙ СУРРОГАТ УРС АЛЮМИНИЯ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80015" y="6419088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1D1B16"/>
                </a:solidFill>
                <a:latin typeface="Georgia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42062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 spc="160">
                <a:solidFill>
                  <a:srgbClr val="7B7263"/>
                </a:solidFill>
                <a:latin typeface="Georgia"/>
              </a:rPr>
              <a:t>ИТ КОР · ТРЕК ML · КЕЙС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695" y="420624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 spc="160">
                <a:solidFill>
                  <a:srgbClr val="8A5A2B"/>
                </a:solidFill>
                <a:latin typeface="Georgia"/>
              </a:rPr>
              <a:t>ИТОГИ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658368"/>
            <a:ext cx="10362895" cy="0"/>
          </a:xfrm>
          <a:prstGeom prst="line">
            <a:avLst/>
          </a:prstGeom>
          <a:ln w="12700">
            <a:solidFill>
              <a:srgbClr val="1D1B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14400" y="713232"/>
            <a:ext cx="10362895" cy="0"/>
          </a:xfrm>
          <a:prstGeom prst="line">
            <a:avLst/>
          </a:prstGeom>
          <a:ln w="6350">
            <a:solidFill>
              <a:srgbClr val="D6CC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14400" y="868680"/>
            <a:ext cx="98142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800" b="0" i="0">
                <a:solidFill>
                  <a:srgbClr val="1D1B16"/>
                </a:solidFill>
                <a:latin typeface="Georgia"/>
              </a:rPr>
              <a:t>Что сделано, где предел и что дальше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572768"/>
            <a:ext cx="908273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 i="1">
                <a:solidFill>
                  <a:srgbClr val="7B7263"/>
                </a:solidFill>
                <a:latin typeface="Georgia"/>
              </a:rPr>
              <a:t>Решение закрывает чек-лист; ниже — ограничения и план развития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21408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 spc="160">
                <a:solidFill>
                  <a:srgbClr val="8A5A2B"/>
                </a:solidFill>
                <a:latin typeface="Georgia"/>
              </a:rPr>
              <a:t>СДЕЛАНО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14400" y="2359152"/>
            <a:ext cx="3200400" cy="0"/>
          </a:xfrm>
          <a:prstGeom prst="line">
            <a:avLst/>
          </a:prstGeom>
          <a:ln w="9525">
            <a:solidFill>
              <a:srgbClr val="1D1B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14400" y="2468880"/>
            <a:ext cx="320040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950" b="1">
                <a:solidFill>
                  <a:srgbClr val="8A5A2B"/>
                </a:solidFill>
                <a:latin typeface="Georgia"/>
              </a:rPr>
              <a:t>—  </a:t>
            </a:r>
            <a:r>
              <a:rPr sz="950" b="0" i="0">
                <a:solidFill>
                  <a:srgbClr val="1D1B16"/>
                </a:solidFill>
                <a:latin typeface="Georgia"/>
              </a:rPr>
              <a:t>Пайплайн на 1 130 053 точках, EDA и baseline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950" b="1">
                <a:solidFill>
                  <a:srgbClr val="8A5A2B"/>
                </a:solidFill>
                <a:latin typeface="Georgia"/>
              </a:rPr>
              <a:t>—  </a:t>
            </a:r>
            <a:r>
              <a:rPr sz="950" b="0" i="0">
                <a:solidFill>
                  <a:srgbClr val="1D1B16"/>
                </a:solidFill>
                <a:latin typeface="Georgia"/>
              </a:rPr>
              <a:t>Vanilla MLP: R²(P) = 0,99874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950" b="1">
                <a:solidFill>
                  <a:srgbClr val="8A5A2B"/>
                </a:solidFill>
                <a:latin typeface="Georgia"/>
              </a:rPr>
              <a:t>—  </a:t>
            </a:r>
            <a:r>
              <a:rPr sz="950" b="0" i="0">
                <a:solidFill>
                  <a:srgbClr val="1D1B16"/>
                </a:solidFill>
                <a:latin typeface="Georgia"/>
              </a:rPr>
              <a:t>PINN: 0,43 % нарушений вместо 36 %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950" b="1">
                <a:solidFill>
                  <a:srgbClr val="8A5A2B"/>
                </a:solidFill>
                <a:latin typeface="Georgia"/>
              </a:rPr>
              <a:t>—  </a:t>
            </a:r>
            <a:r>
              <a:rPr sz="950" b="0" i="0">
                <a:solidFill>
                  <a:srgbClr val="1D1B16"/>
                </a:solidFill>
                <a:latin typeface="Georgia"/>
              </a:rPr>
              <a:t>EOSSurrogate + TorchScript/int8, 0,10 МБ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950" b="1">
                <a:solidFill>
                  <a:srgbClr val="8A5A2B"/>
                </a:solidFill>
                <a:latin typeface="Georgia"/>
              </a:rPr>
              <a:t>—  </a:t>
            </a:r>
            <a:r>
              <a:rPr sz="950" b="0" i="0">
                <a:solidFill>
                  <a:srgbClr val="1D1B16"/>
                </a:solidFill>
                <a:latin typeface="Georgia"/>
              </a:rPr>
              <a:t>Карты ошибок и нарушений, README и docstrings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121408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 spc="160">
                <a:solidFill>
                  <a:srgbClr val="7B7263"/>
                </a:solidFill>
                <a:latin typeface="Georgia"/>
              </a:rPr>
              <a:t>ОГРАНИЧЕНИЯ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434840" y="2359152"/>
            <a:ext cx="3200400" cy="0"/>
          </a:xfrm>
          <a:prstGeom prst="line">
            <a:avLst/>
          </a:prstGeom>
          <a:ln w="9525">
            <a:solidFill>
              <a:srgbClr val="D6CC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434840" y="2468880"/>
            <a:ext cx="320040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950" b="1">
                <a:solidFill>
                  <a:srgbClr val="8A5A2B"/>
                </a:solidFill>
                <a:latin typeface="Georgia"/>
              </a:rPr>
              <a:t>—  </a:t>
            </a:r>
            <a:r>
              <a:rPr sz="950" b="0" i="0">
                <a:solidFill>
                  <a:srgbClr val="1D1B16"/>
                </a:solidFill>
                <a:latin typeface="Georgia"/>
              </a:rPr>
              <a:t>Точность упирается в разрывы исходной таблицы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950" b="1">
                <a:solidFill>
                  <a:srgbClr val="8A5A2B"/>
                </a:solidFill>
                <a:latin typeface="Georgia"/>
              </a:rPr>
              <a:t>—  </a:t>
            </a:r>
            <a:r>
              <a:rPr sz="950" b="0" i="0">
                <a:solidFill>
                  <a:srgbClr val="1D1B16"/>
                </a:solidFill>
                <a:latin typeface="Georgia"/>
              </a:rPr>
              <a:t>На стыках регионов ошибка выше средней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950" b="1">
                <a:solidFill>
                  <a:srgbClr val="8A5A2B"/>
                </a:solidFill>
                <a:latin typeface="Georgia"/>
              </a:rPr>
              <a:t>—  </a:t>
            </a:r>
            <a:r>
              <a:rPr sz="950" b="0" i="0">
                <a:solidFill>
                  <a:srgbClr val="1D1B16"/>
                </a:solidFill>
                <a:latin typeface="Georgia"/>
              </a:rPr>
              <a:t>Физика проверяется по точечным производным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950" b="1">
                <a:solidFill>
                  <a:srgbClr val="8A5A2B"/>
                </a:solidFill>
                <a:latin typeface="Georgia"/>
              </a:rPr>
              <a:t>—  </a:t>
            </a:r>
            <a:r>
              <a:rPr sz="950" b="0" i="0">
                <a:solidFill>
                  <a:srgbClr val="1D1B16"/>
                </a:solidFill>
                <a:latin typeface="Georgia"/>
              </a:rPr>
              <a:t>Обучение на CPU: 4 минуты, качество соответствующее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2121408"/>
            <a:ext cx="3200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 spc="160">
                <a:solidFill>
                  <a:srgbClr val="7B7263"/>
                </a:solidFill>
                <a:latin typeface="Georgia"/>
              </a:rPr>
              <a:t>ДАЛЬШЕ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955279" y="2359152"/>
            <a:ext cx="3200401" cy="0"/>
          </a:xfrm>
          <a:prstGeom prst="line">
            <a:avLst/>
          </a:prstGeom>
          <a:ln w="9525">
            <a:solidFill>
              <a:srgbClr val="D6CC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955279" y="2468880"/>
            <a:ext cx="320040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950" b="1">
                <a:solidFill>
                  <a:srgbClr val="8A5A2B"/>
                </a:solidFill>
                <a:latin typeface="Georgia"/>
              </a:rPr>
              <a:t>—  </a:t>
            </a:r>
            <a:r>
              <a:rPr sz="950" b="0" i="0">
                <a:solidFill>
                  <a:srgbClr val="1D1B16"/>
                </a:solidFill>
                <a:latin typeface="Georgia"/>
              </a:rPr>
              <a:t>Фурье-признаки и кусочно-гладкие активации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950" b="1">
                <a:solidFill>
                  <a:srgbClr val="8A5A2B"/>
                </a:solidFill>
                <a:latin typeface="Georgia"/>
              </a:rPr>
              <a:t>—  </a:t>
            </a:r>
            <a:r>
              <a:rPr sz="950" b="0" i="0">
                <a:solidFill>
                  <a:srgbClr val="1D1B16"/>
                </a:solidFill>
                <a:latin typeface="Georgia"/>
              </a:rPr>
              <a:t>Обучение на сглаженной по регионам таблице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950" b="1">
                <a:solidFill>
                  <a:srgbClr val="8A5A2B"/>
                </a:solidFill>
                <a:latin typeface="Georgia"/>
              </a:rPr>
              <a:t>—  </a:t>
            </a:r>
            <a:r>
              <a:rPr sz="950" b="0" i="0">
                <a:solidFill>
                  <a:srgbClr val="1D1B16"/>
                </a:solidFill>
                <a:latin typeface="Georgia"/>
              </a:rPr>
              <a:t>Один ансамбль на несколько веществ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950" b="1">
                <a:solidFill>
                  <a:srgbClr val="8A5A2B"/>
                </a:solidFill>
                <a:latin typeface="Georgia"/>
              </a:rPr>
              <a:t>—  </a:t>
            </a:r>
            <a:r>
              <a:rPr sz="950" b="0" i="0">
                <a:solidFill>
                  <a:srgbClr val="1D1B16"/>
                </a:solidFill>
                <a:latin typeface="Georgia"/>
              </a:rPr>
              <a:t>Экспорт в ONNX и замер в гидрокоде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14400" y="5440680"/>
            <a:ext cx="10362895" cy="0"/>
          </a:xfrm>
          <a:prstGeom prst="line">
            <a:avLst/>
          </a:prstGeom>
          <a:ln w="9525">
            <a:solidFill>
              <a:srgbClr val="1D1B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14400" y="5559552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 spc="160">
                <a:solidFill>
                  <a:srgbClr val="7B7263"/>
                </a:solidFill>
                <a:latin typeface="Georgia"/>
              </a:rPr>
              <a:t>АРТЕФАКТЫ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779008"/>
            <a:ext cx="103628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900" b="0" i="0">
                <a:solidFill>
                  <a:srgbClr val="1D1B16"/>
                </a:solidFill>
                <a:latin typeface="Consolas"/>
              </a:rPr>
              <a:t>Case_one.ipynb · eos_surrogate.py · normalization.json · pinn_best_physics.pt · comparison_table.csv · error_heatmap_scientific.png · README.md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14400" y="6382512"/>
            <a:ext cx="10362895" cy="0"/>
          </a:xfrm>
          <a:prstGeom prst="line">
            <a:avLst/>
          </a:prstGeom>
          <a:ln w="6350">
            <a:solidFill>
              <a:srgbClr val="D6CC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14400" y="6455664"/>
            <a:ext cx="5486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 i="0" spc="120">
                <a:solidFill>
                  <a:srgbClr val="7B7263"/>
                </a:solidFill>
                <a:latin typeface="Georgia"/>
              </a:rPr>
              <a:t>ФИЗИЧЕСКИ СОГЛАСОВАННЫЙ СУРРОГАТ УРС АЛЮМИНИЯ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80015" y="6419088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1D1B16"/>
                </a:solidFill>
                <a:latin typeface="Georgia"/>
              </a:rP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